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40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73"/>
  </p:normalViewPr>
  <p:slideViewPr>
    <p:cSldViewPr snapToGrid="0" snapToObjects="1">
      <p:cViewPr varScale="1">
        <p:scale>
          <a:sx n="63" d="100"/>
          <a:sy n="63" d="100"/>
        </p:scale>
        <p:origin x="64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A57E9-3B88-AB4A-B275-047BE45DFBF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92878-8E4A-1E40-9041-1216BDB74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69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832D9-8A35-43DF-B5EF-1E1DCD38D6D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C384-71C3-4DC1-A13E-6CF18B23FED6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96FF-0F2C-451B-B73A-0EC2CB8544D8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FDFF-8F37-4059-B79E-A0279F95836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C961-B947-4410-BD5B-7530FBEBD5D7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204E-6BAC-45A9-8D27-866771EECB09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7211-D428-4CC4-9731-D598CE2855C3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86B4-6F4F-48F0-A0C2-939A8AFB0AD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509AE-2985-4F5F-8758-C31690759059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A0EE-4C1A-4413-8EDB-39E12F50FA9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317DA39-4CBD-4BC4-9155-A96ED1EA2A81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jpg"/><Relationship Id="rId9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11" Type="http://schemas.openxmlformats.org/officeDocument/2006/relationships/image" Target="../media/image33.png"/><Relationship Id="rId5" Type="http://schemas.openxmlformats.org/officeDocument/2006/relationships/image" Target="../media/image27.jp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6.png"/><Relationship Id="rId3" Type="http://schemas.openxmlformats.org/officeDocument/2006/relationships/image" Target="../media/image45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51.png"/><Relationship Id="rId2" Type="http://schemas.openxmlformats.org/officeDocument/2006/relationships/image" Target="../media/image54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49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58.png"/><Relationship Id="rId18" Type="http://schemas.openxmlformats.org/officeDocument/2006/relationships/image" Target="../media/image81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45.png"/><Relationship Id="rId17" Type="http://schemas.openxmlformats.org/officeDocument/2006/relationships/image" Target="../media/image80.png"/><Relationship Id="rId2" Type="http://schemas.openxmlformats.org/officeDocument/2006/relationships/image" Target="../media/image67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78.png"/><Relationship Id="rId10" Type="http://schemas.openxmlformats.org/officeDocument/2006/relationships/image" Target="../media/image75.png"/><Relationship Id="rId19" Type="http://schemas.openxmlformats.org/officeDocument/2006/relationships/image" Target="../media/image82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jp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8.jp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hyperlink" Target="http://www.youtube.com/watch?v=4cgWya-wjgY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VCdxqn0fcnE" TargetMode="External"/><Relationship Id="rId2" Type="http://schemas.openxmlformats.org/officeDocument/2006/relationships/hyperlink" Target="http://heli.stanford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F5BE-8D73-9F44-80F0-349BF0CED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200746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CSE145: Introduction to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9EAC9-BDDB-FB43-885E-85EE60C68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471" y="3559629"/>
            <a:ext cx="8098971" cy="194310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it-IT" sz="2800" b="1" dirty="0"/>
              <a:t>Machine Learning: Concepts &amp; Examples</a:t>
            </a:r>
          </a:p>
          <a:p>
            <a:pPr algn="ctr"/>
            <a:r>
              <a:rPr lang="en-US" sz="1800" dirty="0">
                <a:latin typeface="Garamond" panose="02020404030301010803" pitchFamily="18" charset="0"/>
              </a:rPr>
              <a:t>Adapted from slides by Prof. Eric Eaton </a:t>
            </a:r>
            <a:r>
              <a:rPr lang="en-US" sz="1800">
                <a:latin typeface="Garamond" panose="02020404030301010803" pitchFamily="18" charset="0"/>
              </a:rPr>
              <a:t>(University </a:t>
            </a:r>
            <a:r>
              <a:rPr lang="en-US" sz="1800" dirty="0">
                <a:latin typeface="Garamond" panose="02020404030301010803" pitchFamily="18" charset="0"/>
              </a:rPr>
              <a:t>of Pennsylvania)</a:t>
            </a:r>
            <a:endParaRPr lang="en-US" sz="1800" b="1" dirty="0"/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Shah Mostafa Khaled, Ph.D. </a:t>
            </a:r>
          </a:p>
          <a:p>
            <a:pPr algn="ctr"/>
            <a:r>
              <a:rPr lang="en-US" sz="2800" b="1" dirty="0"/>
              <a:t>Associate Professor , IIT, DU</a:t>
            </a:r>
          </a:p>
        </p:txBody>
      </p:sp>
    </p:spTree>
    <p:extLst>
      <p:ext uri="{BB962C8B-B14F-4D97-AF65-F5344CB8AC3E}">
        <p14:creationId xmlns:p14="http://schemas.microsoft.com/office/powerpoint/2010/main" val="261001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BECA-5B34-CB40-A2DC-E27F5CDF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What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Machine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Learning?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BA762-C04D-EF97-B5AC-59A283F9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9CB3-17BE-42DA-808E-FAC973AA9263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5474F-BD28-CC91-3B84-9FCDADF87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CSE145: Introduction to Artificial Intelligence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15D40-461A-E07B-4475-842DEB99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37AA04-D7B0-EC17-DA11-0D9754C17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4888" y="1182239"/>
            <a:ext cx="8238795" cy="4393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0975" marR="5080" indent="-168275">
              <a:lnSpc>
                <a:spcPts val="3300"/>
              </a:lnSpc>
              <a:spcBef>
                <a:spcPts val="459"/>
              </a:spcBef>
            </a:pPr>
            <a:r>
              <a:rPr lang="en-US" sz="2400" dirty="0">
                <a:latin typeface="Calibri"/>
                <a:cs typeface="Calibri"/>
              </a:rPr>
              <a:t>“Learning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any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process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by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which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system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improves </a:t>
            </a:r>
            <a:r>
              <a:rPr lang="en-US" sz="2400" dirty="0">
                <a:latin typeface="Calibri"/>
                <a:cs typeface="Calibri"/>
              </a:rPr>
              <a:t>performance</a:t>
            </a:r>
            <a:r>
              <a:rPr lang="en-US" sz="2400" spc="-1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1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experience.”</a:t>
            </a:r>
            <a:endParaRPr lang="en-US" sz="2400" dirty="0">
              <a:latin typeface="Calibri"/>
              <a:cs typeface="Calibri"/>
            </a:endParaRPr>
          </a:p>
          <a:p>
            <a:pPr marL="2755265">
              <a:lnSpc>
                <a:spcPct val="100000"/>
              </a:lnSpc>
              <a:spcBef>
                <a:spcPts val="240"/>
              </a:spcBef>
            </a:pPr>
            <a:r>
              <a:rPr lang="en-US" sz="2400" dirty="0">
                <a:latin typeface="Calibri"/>
                <a:cs typeface="Calibri"/>
              </a:rPr>
              <a:t>-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Herbert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Simon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lang="en-US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latin typeface="Calibri"/>
                <a:cs typeface="Calibri"/>
              </a:rPr>
              <a:t>Definition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by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spc="-80" dirty="0">
                <a:latin typeface="Calibri"/>
                <a:cs typeface="Calibri"/>
              </a:rPr>
              <a:t>Tom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Mitchell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(1998):</a:t>
            </a:r>
            <a:endParaRPr lang="en-US"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lang="en-US" sz="2400" dirty="0">
                <a:latin typeface="Calibri"/>
                <a:cs typeface="Calibri"/>
              </a:rPr>
              <a:t>Machine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Learning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study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algorithms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that</a:t>
            </a:r>
            <a:endParaRPr lang="en-US" sz="2400" dirty="0">
              <a:latin typeface="Calibri"/>
              <a:cs typeface="Calibri"/>
            </a:endParaRPr>
          </a:p>
          <a:p>
            <a:pPr marL="840740" indent="-37274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840740" algn="l"/>
              </a:tabLst>
            </a:pPr>
            <a:r>
              <a:rPr lang="en-US" sz="2400" spc="-10" dirty="0">
                <a:latin typeface="Calibri"/>
                <a:cs typeface="Calibri"/>
              </a:rPr>
              <a:t>improve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their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performance</a:t>
            </a:r>
            <a:r>
              <a:rPr lang="en-US" sz="2400" spc="-75" dirty="0">
                <a:latin typeface="Calibri"/>
                <a:cs typeface="Calibri"/>
              </a:rPr>
              <a:t> </a:t>
            </a:r>
            <a:r>
              <a:rPr lang="en-US" sz="2400" i="1" spc="40" dirty="0">
                <a:latin typeface="Georgia"/>
                <a:cs typeface="Georgia"/>
              </a:rPr>
              <a:t>P</a:t>
            </a:r>
            <a:endParaRPr lang="en-US" sz="2400" dirty="0">
              <a:latin typeface="Georgia"/>
              <a:cs typeface="Georgia"/>
            </a:endParaRPr>
          </a:p>
          <a:p>
            <a:pPr marL="840740" indent="-37274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840740" algn="l"/>
              </a:tabLst>
            </a:pPr>
            <a:r>
              <a:rPr lang="en-US" sz="2400" dirty="0">
                <a:latin typeface="Calibri"/>
                <a:cs typeface="Calibri"/>
              </a:rPr>
              <a:t>at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some</a:t>
            </a:r>
            <a:r>
              <a:rPr lang="en-US" sz="2400" spc="-6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task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i="1" spc="-50" dirty="0">
                <a:latin typeface="Georgia"/>
                <a:cs typeface="Georgia"/>
              </a:rPr>
              <a:t>T</a:t>
            </a:r>
            <a:endParaRPr lang="en-US" sz="2400" dirty="0">
              <a:latin typeface="Georgia"/>
              <a:cs typeface="Georgia"/>
            </a:endParaRPr>
          </a:p>
          <a:p>
            <a:pPr marL="840740" indent="-37274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840740" algn="l"/>
              </a:tabLst>
            </a:pP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experience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i="1" spc="85" dirty="0">
                <a:latin typeface="Georgia"/>
                <a:cs typeface="Georgia"/>
              </a:rPr>
              <a:t>E</a:t>
            </a:r>
            <a:r>
              <a:rPr lang="en-US" sz="2400" spc="85" dirty="0">
                <a:latin typeface="Calibri"/>
                <a:cs typeface="Calibri"/>
              </a:rPr>
              <a:t>.</a:t>
            </a:r>
            <a:endParaRPr lang="en-US" sz="2400" dirty="0">
              <a:latin typeface="Calibri"/>
              <a:cs typeface="Calibri"/>
            </a:endParaRPr>
          </a:p>
          <a:p>
            <a:pPr marL="467995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well-</a:t>
            </a:r>
            <a:r>
              <a:rPr lang="en-US" sz="2400" dirty="0">
                <a:latin typeface="Calibri"/>
                <a:cs typeface="Calibri"/>
              </a:rPr>
              <a:t>defined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learning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task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given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by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&lt;</a:t>
            </a:r>
            <a:r>
              <a:rPr lang="en-US" sz="2400" i="1" dirty="0">
                <a:latin typeface="Georgia"/>
                <a:cs typeface="Georgia"/>
              </a:rPr>
              <a:t>P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i="1" dirty="0">
                <a:latin typeface="Georgia"/>
                <a:cs typeface="Georgia"/>
              </a:rPr>
              <a:t>T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i="1" spc="40" dirty="0">
                <a:latin typeface="Georgia"/>
                <a:cs typeface="Georgia"/>
              </a:rPr>
              <a:t>E</a:t>
            </a:r>
            <a:r>
              <a:rPr lang="en-US" sz="2400" spc="40" dirty="0">
                <a:latin typeface="Calibri"/>
                <a:cs typeface="Calibri"/>
              </a:rPr>
              <a:t>&gt;.</a:t>
            </a:r>
            <a:endParaRPr lang="en-US" sz="10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518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C59D-3CB9-19A1-62E6-6D78AE06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Computing vs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E0B5D-05B6-890E-F8D1-180CD7C0E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528982" cy="51630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EFA95-9DE7-561A-DC95-5B4BF6BB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BB3C-238C-2B2B-40F4-59D129B9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CSE145: Introduction to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D44BA-31A1-1E57-C635-DE370D5A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9DC2CAB-A3ED-9F82-DAC8-268AF1A2A602}"/>
              </a:ext>
            </a:extLst>
          </p:cNvPr>
          <p:cNvSpPr txBox="1">
            <a:spLocks/>
          </p:cNvSpPr>
          <p:nvPr/>
        </p:nvSpPr>
        <p:spPr>
          <a:xfrm>
            <a:off x="3869268" y="954070"/>
            <a:ext cx="4203065" cy="51308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20" dirty="0">
                <a:solidFill>
                  <a:srgbClr val="C0504D"/>
                </a:solidFill>
              </a:rPr>
              <a:t>Traditional</a:t>
            </a:r>
            <a:r>
              <a:rPr lang="en-US" sz="3200" spc="-110" dirty="0">
                <a:solidFill>
                  <a:srgbClr val="C0504D"/>
                </a:solidFill>
              </a:rPr>
              <a:t> </a:t>
            </a:r>
            <a:r>
              <a:rPr lang="en-US" sz="3200" spc="-10" dirty="0">
                <a:solidFill>
                  <a:srgbClr val="C0504D"/>
                </a:solidFill>
              </a:rPr>
              <a:t>Programming</a:t>
            </a:r>
            <a:endParaRPr lang="en-US" sz="3200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5A55011-34B5-BB25-38BD-FAE94732585F}"/>
              </a:ext>
            </a:extLst>
          </p:cNvPr>
          <p:cNvSpPr txBox="1"/>
          <p:nvPr/>
        </p:nvSpPr>
        <p:spPr>
          <a:xfrm>
            <a:off x="3873816" y="3926218"/>
            <a:ext cx="303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0504D"/>
                </a:solidFill>
                <a:latin typeface="Calibri"/>
                <a:cs typeface="Calibri"/>
              </a:rPr>
              <a:t>Machine</a:t>
            </a:r>
            <a:r>
              <a:rPr sz="3200" spc="-7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C0504D"/>
                </a:solidFill>
                <a:latin typeface="Calibri"/>
                <a:cs typeface="Calibri"/>
              </a:rPr>
              <a:t>Learning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4B6328E9-DE22-0667-70A7-8FC5AE41664C}"/>
              </a:ext>
            </a:extLst>
          </p:cNvPr>
          <p:cNvSpPr txBox="1"/>
          <p:nvPr/>
        </p:nvSpPr>
        <p:spPr>
          <a:xfrm>
            <a:off x="6384925" y="1649083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0896A857-0A32-2CF4-0475-3CDA09C28F55}"/>
              </a:ext>
            </a:extLst>
          </p:cNvPr>
          <p:cNvSpPr/>
          <p:nvPr/>
        </p:nvSpPr>
        <p:spPr>
          <a:xfrm>
            <a:off x="5470525" y="2042784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CFE5C16-89FD-A48D-BF98-6C2F1A84C44E}"/>
              </a:ext>
            </a:extLst>
          </p:cNvPr>
          <p:cNvSpPr/>
          <p:nvPr/>
        </p:nvSpPr>
        <p:spPr>
          <a:xfrm>
            <a:off x="5470525" y="2728584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BBAAF171-4FEF-1BCB-430F-95D18FA3CB42}"/>
              </a:ext>
            </a:extLst>
          </p:cNvPr>
          <p:cNvSpPr/>
          <p:nvPr/>
        </p:nvSpPr>
        <p:spPr>
          <a:xfrm>
            <a:off x="9051925" y="2271384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72EEDD98-56FD-E708-E88E-FEA321B8B6A9}"/>
              </a:ext>
            </a:extLst>
          </p:cNvPr>
          <p:cNvSpPr txBox="1"/>
          <p:nvPr/>
        </p:nvSpPr>
        <p:spPr>
          <a:xfrm>
            <a:off x="3796665" y="1566533"/>
            <a:ext cx="1464310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69925">
              <a:lnSpc>
                <a:spcPct val="137400"/>
              </a:lnSpc>
              <a:spcBef>
                <a:spcPts val="95"/>
              </a:spcBef>
            </a:pPr>
            <a:r>
              <a:rPr sz="3200" spc="-3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A7DBEE65-7BA8-2A38-AE4F-16A801E8F06C}"/>
              </a:ext>
            </a:extLst>
          </p:cNvPr>
          <p:cNvSpPr txBox="1"/>
          <p:nvPr/>
        </p:nvSpPr>
        <p:spPr>
          <a:xfrm>
            <a:off x="9892665" y="2037703"/>
            <a:ext cx="1212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071D9E5D-3252-B090-8B73-DF6E1DEAA3B2}"/>
              </a:ext>
            </a:extLst>
          </p:cNvPr>
          <p:cNvSpPr txBox="1"/>
          <p:nvPr/>
        </p:nvSpPr>
        <p:spPr>
          <a:xfrm>
            <a:off x="6461125" y="4468483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E7702145-CB24-1C1E-4E88-BFDE3A6FA8F8}"/>
              </a:ext>
            </a:extLst>
          </p:cNvPr>
          <p:cNvSpPr/>
          <p:nvPr/>
        </p:nvSpPr>
        <p:spPr>
          <a:xfrm>
            <a:off x="5546725" y="4862184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1CFE2561-895B-4F13-8108-1326C78C4F4B}"/>
              </a:ext>
            </a:extLst>
          </p:cNvPr>
          <p:cNvSpPr/>
          <p:nvPr/>
        </p:nvSpPr>
        <p:spPr>
          <a:xfrm>
            <a:off x="5546725" y="5547984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6999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D4CD03F5-BFA8-CBF0-738E-C8B336B0F906}"/>
              </a:ext>
            </a:extLst>
          </p:cNvPr>
          <p:cNvSpPr/>
          <p:nvPr/>
        </p:nvSpPr>
        <p:spPr>
          <a:xfrm>
            <a:off x="9128125" y="5090784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888AF877-60EC-BB12-B2BE-73923C70B5F0}"/>
              </a:ext>
            </a:extLst>
          </p:cNvPr>
          <p:cNvSpPr txBox="1"/>
          <p:nvPr/>
        </p:nvSpPr>
        <p:spPr>
          <a:xfrm>
            <a:off x="4177664" y="4309733"/>
            <a:ext cx="1212215" cy="151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125">
              <a:lnSpc>
                <a:spcPct val="153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D6F43FFF-0487-2427-0526-776380E7E1EB}"/>
              </a:ext>
            </a:extLst>
          </p:cNvPr>
          <p:cNvSpPr txBox="1"/>
          <p:nvPr/>
        </p:nvSpPr>
        <p:spPr>
          <a:xfrm>
            <a:off x="9968865" y="4857103"/>
            <a:ext cx="14293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Program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F5859410-4171-2350-A1F3-3D292C92A16E}"/>
              </a:ext>
            </a:extLst>
          </p:cNvPr>
          <p:cNvSpPr txBox="1"/>
          <p:nvPr/>
        </p:nvSpPr>
        <p:spPr>
          <a:xfrm>
            <a:off x="10558992" y="6353052"/>
            <a:ext cx="137054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Slide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credit: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Pedro</a:t>
            </a:r>
            <a:r>
              <a:rPr sz="900" spc="-5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Domingos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187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5">
            <a:extLst>
              <a:ext uri="{FF2B5EF4-FFF2-40B4-BE49-F238E27FC236}">
                <a16:creationId xmlns:a16="http://schemas.microsoft.com/office/drawing/2014/main" id="{6C8D47C2-FE4D-1DCC-0FBE-6F928EFEE4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2867" y="832031"/>
            <a:ext cx="2082477" cy="1667640"/>
          </a:xfrm>
          <a:prstGeom prst="rect">
            <a:avLst/>
          </a:prstGeom>
        </p:spPr>
      </p:pic>
      <p:pic>
        <p:nvPicPr>
          <p:cNvPr id="17" name="object 6">
            <a:extLst>
              <a:ext uri="{FF2B5EF4-FFF2-40B4-BE49-F238E27FC236}">
                <a16:creationId xmlns:a16="http://schemas.microsoft.com/office/drawing/2014/main" id="{7460E0AA-289C-0A82-11FF-52F9A00EA5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7867" y="832031"/>
            <a:ext cx="2001169" cy="1667640"/>
          </a:xfrm>
          <a:prstGeom prst="rect">
            <a:avLst/>
          </a:prstGeom>
        </p:spPr>
      </p:pic>
      <p:pic>
        <p:nvPicPr>
          <p:cNvPr id="18" name="object 7">
            <a:extLst>
              <a:ext uri="{FF2B5EF4-FFF2-40B4-BE49-F238E27FC236}">
                <a16:creationId xmlns:a16="http://schemas.microsoft.com/office/drawing/2014/main" id="{7BBF2106-08CD-9DEE-7606-AC453A850DC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1559" y="828329"/>
            <a:ext cx="1973474" cy="1671341"/>
          </a:xfrm>
          <a:prstGeom prst="rect">
            <a:avLst/>
          </a:prstGeom>
        </p:spPr>
      </p:pic>
      <p:pic>
        <p:nvPicPr>
          <p:cNvPr id="19" name="object 8">
            <a:extLst>
              <a:ext uri="{FF2B5EF4-FFF2-40B4-BE49-F238E27FC236}">
                <a16:creationId xmlns:a16="http://schemas.microsoft.com/office/drawing/2014/main" id="{B6829146-BD80-BD3B-702E-D57D871F81C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07556" y="832031"/>
            <a:ext cx="1830026" cy="1667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0FB15F-AF66-2ABA-0235-8C04B298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When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We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Machine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69B36-8BC2-AFC6-C1EF-6D0E6B33B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endParaRPr lang="en-US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endParaRPr lang="en-US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endParaRPr lang="en-US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n-US" sz="2400" dirty="0">
                <a:latin typeface="Calibri"/>
                <a:cs typeface="Calibri"/>
              </a:rPr>
              <a:t>ML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used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when:</a:t>
            </a:r>
            <a:endParaRPr lang="en-US" sz="2400" dirty="0">
              <a:latin typeface="Calibri"/>
              <a:cs typeface="Calibri"/>
            </a:endParaRPr>
          </a:p>
          <a:p>
            <a:pPr marL="857885" lvl="1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Human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expertise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does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not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exist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(navigating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Mars)</a:t>
            </a:r>
            <a:endParaRPr lang="en-US" dirty="0">
              <a:latin typeface="Calibri"/>
              <a:cs typeface="Calibri"/>
            </a:endParaRPr>
          </a:p>
          <a:p>
            <a:pPr marL="857885" lvl="1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Humans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can’t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explain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their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expertise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(speech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recognition)</a:t>
            </a:r>
            <a:endParaRPr lang="en-US" dirty="0">
              <a:latin typeface="Calibri"/>
              <a:cs typeface="Calibri"/>
            </a:endParaRPr>
          </a:p>
          <a:p>
            <a:pPr marL="857885" lvl="1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Models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must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customized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(personalized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medicine)</a:t>
            </a:r>
            <a:endParaRPr lang="en-US" dirty="0">
              <a:latin typeface="Calibri"/>
              <a:cs typeface="Calibri"/>
            </a:endParaRPr>
          </a:p>
          <a:p>
            <a:pPr marL="857885" lvl="1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Models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based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huge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amounts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(genomics)</a:t>
            </a:r>
            <a:endParaRPr lang="en-US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lang="en-US" sz="2400" dirty="0">
                <a:latin typeface="Calibri"/>
                <a:cs typeface="Calibri"/>
              </a:rPr>
              <a:t>Learning</a:t>
            </a:r>
            <a:r>
              <a:rPr lang="en-US" sz="2400" spc="-9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isn’t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always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useful:</a:t>
            </a:r>
            <a:endParaRPr lang="en-US" sz="2400" dirty="0">
              <a:latin typeface="Calibri"/>
              <a:cs typeface="Calibri"/>
            </a:endParaRPr>
          </a:p>
          <a:p>
            <a:pPr marL="8121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812165" algn="l"/>
              </a:tabLst>
            </a:pPr>
            <a:r>
              <a:rPr lang="en-US" dirty="0">
                <a:latin typeface="Calibri"/>
                <a:cs typeface="Calibri"/>
              </a:rPr>
              <a:t>There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no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need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“learn”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calculate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payroll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7C7FE-AECF-F1A9-A4D0-1210FFC8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47F8-F67C-C676-22CF-75D06820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82E8-3B38-AF70-DC8F-D0F6B824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9C87F2-442E-0693-30BB-04E4A0F265C6}"/>
              </a:ext>
            </a:extLst>
          </p:cNvPr>
          <p:cNvSpPr txBox="1"/>
          <p:nvPr/>
        </p:nvSpPr>
        <p:spPr>
          <a:xfrm>
            <a:off x="10556407" y="6356350"/>
            <a:ext cx="1517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alibri"/>
                <a:cs typeface="Calibri"/>
              </a:rPr>
              <a:t>Based</a:t>
            </a:r>
            <a:r>
              <a:rPr lang="en-US" sz="900" spc="-25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on</a:t>
            </a:r>
            <a:r>
              <a:rPr lang="en-US" sz="900" spc="-25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slide</a:t>
            </a:r>
            <a:r>
              <a:rPr lang="en-US" sz="900" spc="-3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by</a:t>
            </a:r>
            <a:r>
              <a:rPr lang="en-US" sz="900" spc="-2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E.</a:t>
            </a:r>
            <a:r>
              <a:rPr lang="en-US" sz="900" spc="-30" dirty="0">
                <a:latin typeface="Calibri"/>
                <a:cs typeface="Calibri"/>
              </a:rPr>
              <a:t> </a:t>
            </a:r>
            <a:r>
              <a:rPr lang="en-US" sz="900" spc="-10" dirty="0" err="1">
                <a:latin typeface="Calibri"/>
                <a:cs typeface="Calibri"/>
              </a:rPr>
              <a:t>Alpaydin</a:t>
            </a:r>
            <a:endParaRPr lang="en-US"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14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7616-5AA9-B39E-A515-0C3AC621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/>
                <a:cs typeface="Calibri"/>
              </a:rPr>
              <a:t>A classic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example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task that requires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machine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learning: </a:t>
            </a:r>
            <a:r>
              <a:rPr lang="en-US" sz="2400" dirty="0">
                <a:latin typeface="Calibri"/>
                <a:cs typeface="Calibri"/>
              </a:rPr>
              <a:t>It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very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hard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say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what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makes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50" dirty="0">
                <a:latin typeface="Calibri"/>
                <a:cs typeface="Calibri"/>
              </a:rPr>
              <a:t>2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AD57B-7A8D-F81C-DC01-454FE425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46DE8-7F98-B331-CF39-4FF3D022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86968-FDE0-AC1C-6DC5-54EDD7F5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B4D2B960-5D6A-1E84-AC6B-0FE27A0AB043}"/>
              </a:ext>
            </a:extLst>
          </p:cNvPr>
          <p:cNvGrpSpPr/>
          <p:nvPr/>
        </p:nvGrpSpPr>
        <p:grpSpPr>
          <a:xfrm>
            <a:off x="4071698" y="864108"/>
            <a:ext cx="7327900" cy="4999355"/>
            <a:chOff x="782637" y="1561048"/>
            <a:chExt cx="7327900" cy="4999355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CA27C1B-DD7E-1B74-FDF0-E3CA47C817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784" y="1561048"/>
              <a:ext cx="7104366" cy="4999197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7B7CBDD0-B9F0-CBDD-31D6-2276DD4A010A}"/>
                </a:ext>
              </a:extLst>
            </p:cNvPr>
            <p:cNvSpPr/>
            <p:nvPr/>
          </p:nvSpPr>
          <p:spPr>
            <a:xfrm>
              <a:off x="792162" y="2565400"/>
              <a:ext cx="5219700" cy="827405"/>
            </a:xfrm>
            <a:custGeom>
              <a:avLst/>
              <a:gdLst/>
              <a:ahLst/>
              <a:cxnLst/>
              <a:rect l="l" t="t" r="r" b="b"/>
              <a:pathLst>
                <a:path w="5219700" h="827404">
                  <a:moveTo>
                    <a:pt x="0" y="0"/>
                  </a:moveTo>
                  <a:lnTo>
                    <a:pt x="5219700" y="0"/>
                  </a:lnTo>
                  <a:lnTo>
                    <a:pt x="5219700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C6AD47D6-AD4A-AF4E-7AFF-7B3932703065}"/>
                </a:ext>
              </a:extLst>
            </p:cNvPr>
            <p:cNvSpPr/>
            <p:nvPr/>
          </p:nvSpPr>
          <p:spPr>
            <a:xfrm>
              <a:off x="6731000" y="2565400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6999CE4C-F11E-5493-A51D-9E619A3409A8}"/>
                </a:ext>
              </a:extLst>
            </p:cNvPr>
            <p:cNvSpPr/>
            <p:nvPr/>
          </p:nvSpPr>
          <p:spPr>
            <a:xfrm>
              <a:off x="2339975" y="4762500"/>
              <a:ext cx="1368425" cy="827405"/>
            </a:xfrm>
            <a:custGeom>
              <a:avLst/>
              <a:gdLst/>
              <a:ahLst/>
              <a:cxnLst/>
              <a:rect l="l" t="t" r="r" b="b"/>
              <a:pathLst>
                <a:path w="1368425" h="827404">
                  <a:moveTo>
                    <a:pt x="0" y="0"/>
                  </a:moveTo>
                  <a:lnTo>
                    <a:pt x="1368425" y="0"/>
                  </a:lnTo>
                  <a:lnTo>
                    <a:pt x="13684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6D8DF19E-6752-2F4A-73F5-19611DB1F47C}"/>
                </a:ext>
              </a:extLst>
            </p:cNvPr>
            <p:cNvSpPr/>
            <p:nvPr/>
          </p:nvSpPr>
          <p:spPr>
            <a:xfrm>
              <a:off x="827087" y="3681412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7"/>
                  </a:lnTo>
                  <a:lnTo>
                    <a:pt x="0" y="82708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0">
            <a:extLst>
              <a:ext uri="{FF2B5EF4-FFF2-40B4-BE49-F238E27FC236}">
                <a16:creationId xmlns:a16="http://schemas.microsoft.com/office/drawing/2014/main" id="{5F4E08D3-0049-D0E2-CD2E-BC727F5EF93C}"/>
              </a:ext>
            </a:extLst>
          </p:cNvPr>
          <p:cNvSpPr txBox="1"/>
          <p:nvPr/>
        </p:nvSpPr>
        <p:spPr>
          <a:xfrm>
            <a:off x="10644388" y="6387901"/>
            <a:ext cx="1373173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latin typeface="Calibri"/>
                <a:cs typeface="Calibri"/>
              </a:rPr>
              <a:t>Slide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credit: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Geoffrey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Hinton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484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9231-C4CA-5A6D-1DD5-6E29D17C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Some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more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examples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tasks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best </a:t>
            </a:r>
            <a:r>
              <a:rPr lang="en-US" dirty="0">
                <a:latin typeface="Calibri"/>
                <a:cs typeface="Calibri"/>
              </a:rPr>
              <a:t>solved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using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27ACD-6A48-D267-D413-4877D595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dirty="0">
                <a:latin typeface="Calibri"/>
                <a:cs typeface="Calibri"/>
              </a:rPr>
              <a:t>Recognizing</a:t>
            </a:r>
            <a:r>
              <a:rPr lang="en-US" sz="2800" spc="-1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patterns: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lang="en-US"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identities</a:t>
            </a:r>
            <a:r>
              <a:rPr lang="en-US"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lang="en-US"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lang="en-US"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expressions</a:t>
            </a:r>
            <a:endParaRPr lang="en-US"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Handwritten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lang="en-US" sz="2400" spc="-6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spoken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words</a:t>
            </a:r>
            <a:endParaRPr lang="en-US"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Medical</a:t>
            </a:r>
            <a:r>
              <a:rPr lang="en-US" sz="2400" spc="-10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endParaRPr lang="en-US"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dirty="0">
                <a:latin typeface="Calibri"/>
                <a:cs typeface="Calibri"/>
              </a:rPr>
              <a:t>Generating</a:t>
            </a:r>
            <a:r>
              <a:rPr lang="en-US" sz="2800" spc="-15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patterns: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Generating</a:t>
            </a:r>
            <a:r>
              <a:rPr lang="en-US"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r>
              <a:rPr lang="en-US"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lang="en-US" sz="2400" spc="-4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motion</a:t>
            </a:r>
            <a:r>
              <a:rPr lang="en-US" sz="2400" spc="-4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sequences</a:t>
            </a:r>
            <a:endParaRPr lang="en-US"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dirty="0">
                <a:latin typeface="Calibri"/>
                <a:cs typeface="Calibri"/>
              </a:rPr>
              <a:t>Recognizing</a:t>
            </a:r>
            <a:r>
              <a:rPr lang="en-US" sz="2800" spc="-1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anomalies: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credit</a:t>
            </a:r>
            <a:r>
              <a:rPr lang="en-US"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card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transactions</a:t>
            </a:r>
            <a:endParaRPr lang="en-US" sz="24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lang="en-US"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patterns</a:t>
            </a:r>
            <a:r>
              <a:rPr lang="en-US"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of</a:t>
            </a:r>
            <a:r>
              <a:rPr lang="en-US"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sensor</a:t>
            </a:r>
            <a:r>
              <a:rPr lang="en-US"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readings</a:t>
            </a:r>
            <a:r>
              <a:rPr lang="en-US"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in</a:t>
            </a:r>
            <a:r>
              <a:rPr lang="en-US"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a</a:t>
            </a:r>
            <a:r>
              <a:rPr lang="en-US"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nuclear</a:t>
            </a:r>
            <a:r>
              <a:rPr lang="en-US"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power</a:t>
            </a:r>
            <a:r>
              <a:rPr lang="en-US"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plant</a:t>
            </a:r>
            <a:endParaRPr lang="en-US"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spc="-10" dirty="0">
                <a:latin typeface="Calibri"/>
                <a:cs typeface="Calibri"/>
              </a:rPr>
              <a:t>Prediction: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Future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stock</a:t>
            </a:r>
            <a:r>
              <a:rPr lang="en-US"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prices</a:t>
            </a:r>
            <a:r>
              <a:rPr lang="en-US"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lang="en-US"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4F81BD"/>
                </a:solidFill>
                <a:latin typeface="Calibri"/>
                <a:cs typeface="Calibri"/>
              </a:rPr>
              <a:t>currency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exchange</a:t>
            </a:r>
            <a:r>
              <a:rPr lang="en-US"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4F81BD"/>
                </a:solidFill>
                <a:latin typeface="Calibri"/>
                <a:cs typeface="Calibri"/>
              </a:rPr>
              <a:t>rates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5F81-9B83-908B-5A55-5D06A4C8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03EEC-122D-91D7-B8A1-F4CB70AD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0E2FF-5E28-F0F9-99B4-F62F6010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8A8F291-1427-7C24-F8A8-DF945A9EEDE2}"/>
              </a:ext>
            </a:extLst>
          </p:cNvPr>
          <p:cNvSpPr txBox="1"/>
          <p:nvPr/>
        </p:nvSpPr>
        <p:spPr>
          <a:xfrm>
            <a:off x="10634135" y="6361909"/>
            <a:ext cx="1336011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latin typeface="Calibri"/>
                <a:cs typeface="Calibri"/>
              </a:rPr>
              <a:t>Slide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credit: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Geoffrey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Hinton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009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41CB-F4E3-2B79-C9B7-5FFAEB0C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</a:t>
            </a:r>
            <a:r>
              <a:rPr lang="en-US" spc="-50" dirty="0"/>
              <a:t> </a:t>
            </a:r>
            <a:r>
              <a:rPr lang="en-US" spc="-10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3AFE-60F8-32F6-3A97-B1AB4B37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Web</a:t>
            </a:r>
            <a:r>
              <a:rPr lang="en-US" spc="-1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search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Computational</a:t>
            </a:r>
            <a:r>
              <a:rPr lang="en-US" spc="-1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biology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Finance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30" dirty="0">
                <a:latin typeface="Calibri"/>
                <a:cs typeface="Calibri"/>
              </a:rPr>
              <a:t>E-</a:t>
            </a:r>
            <a:r>
              <a:rPr lang="en-US" spc="-10" dirty="0">
                <a:latin typeface="Calibri"/>
                <a:cs typeface="Calibri"/>
              </a:rPr>
              <a:t>commerce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Space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exploration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Robotics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Information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extraction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Social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networks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Debugging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software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25" dirty="0">
                <a:latin typeface="Calibri"/>
                <a:cs typeface="Calibri"/>
              </a:rPr>
              <a:t>[Your</a:t>
            </a:r>
            <a:r>
              <a:rPr lang="en-US" spc="-1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favorite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area]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CB8E-9301-B5D8-74F7-B62927C2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F6552-A193-924C-69B2-152D6709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7761-844D-343B-D46F-C3DF934C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53FBCB6-665C-1568-2886-FEFB756808DE}"/>
              </a:ext>
            </a:extLst>
          </p:cNvPr>
          <p:cNvSpPr txBox="1"/>
          <p:nvPr/>
        </p:nvSpPr>
        <p:spPr>
          <a:xfrm>
            <a:off x="10634135" y="6389322"/>
            <a:ext cx="1418528" cy="142347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latin typeface="Calibri"/>
                <a:cs typeface="Calibri"/>
              </a:rPr>
              <a:t>Slide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credit: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Pedro</a:t>
            </a:r>
            <a:r>
              <a:rPr sz="900" spc="-5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Domingos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438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A9731-7DDC-1587-946A-40907C19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>
                <a:latin typeface="Calibri"/>
                <a:cs typeface="Calibri"/>
              </a:rPr>
              <a:t>Samuel’s</a:t>
            </a:r>
            <a:r>
              <a:rPr lang="en-US" spc="-145" dirty="0">
                <a:latin typeface="Calibri"/>
                <a:cs typeface="Calibri"/>
              </a:rPr>
              <a:t> </a:t>
            </a:r>
            <a:r>
              <a:rPr lang="en-US" spc="-45" dirty="0">
                <a:latin typeface="Calibri"/>
                <a:cs typeface="Calibri"/>
              </a:rPr>
              <a:t>Checkers-</a:t>
            </a:r>
            <a:r>
              <a:rPr lang="en-US" spc="-10" dirty="0">
                <a:latin typeface="Calibri"/>
                <a:cs typeface="Calibri"/>
              </a:rPr>
              <a:t>Player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7E24F-67B0-B8CD-2F66-5FD3DCF0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396492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“Machine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Learning: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Field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study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gives computers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ability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without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being </a:t>
            </a:r>
            <a:r>
              <a:rPr lang="en-US" dirty="0">
                <a:latin typeface="Calibri"/>
                <a:cs typeface="Calibri"/>
              </a:rPr>
              <a:t>explicitly</a:t>
            </a:r>
            <a:r>
              <a:rPr lang="en-US" spc="-1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programmed.”</a:t>
            </a:r>
            <a:r>
              <a:rPr lang="en-US" dirty="0">
                <a:latin typeface="Calibri"/>
                <a:cs typeface="Calibri"/>
              </a:rPr>
              <a:t>	</a:t>
            </a:r>
            <a:r>
              <a:rPr lang="en-US" spc="-10" dirty="0">
                <a:latin typeface="Calibri"/>
                <a:cs typeface="Calibri"/>
              </a:rPr>
              <a:t>-</a:t>
            </a:r>
            <a:r>
              <a:rPr lang="en-US" dirty="0">
                <a:latin typeface="Calibri"/>
                <a:cs typeface="Calibri"/>
              </a:rPr>
              <a:t>Arthur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Samuel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(1959)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C043E-3E9B-6F03-307D-DB52D47E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639C2-34CD-3FD5-F53A-21D2F63C7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9FCDC-6863-3FD9-56B3-0FEABF28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BF534D21-8001-1451-1BFB-3D72B38551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0111" y="1981200"/>
            <a:ext cx="5899377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B4E9-A371-CB42-1B0E-3C1E0DF0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Defining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Task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C52F7-7357-6BB1-A3E0-EC708AEED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840132" cy="5120640"/>
          </a:xfrm>
        </p:spPr>
        <p:txBody>
          <a:bodyPr>
            <a:normAutofit/>
          </a:bodyPr>
          <a:lstStyle/>
          <a:p>
            <a:pPr marL="154940" marR="5080" indent="0" algn="ctr">
              <a:lnSpc>
                <a:spcPct val="1131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Improve</a:t>
            </a:r>
            <a:r>
              <a:rPr lang="en-US" spc="-1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lang="en-US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task</a:t>
            </a:r>
            <a:r>
              <a:rPr lang="en-US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spc="-145" dirty="0">
                <a:solidFill>
                  <a:srgbClr val="FF3300"/>
                </a:solidFill>
                <a:latin typeface="Calibri"/>
                <a:cs typeface="Calibri"/>
              </a:rPr>
              <a:t>T,</a:t>
            </a:r>
            <a:r>
              <a:rPr lang="en-US" spc="-1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</a:p>
          <a:p>
            <a:pPr marL="154940" marR="5080" indent="0" algn="ctr">
              <a:lnSpc>
                <a:spcPct val="1131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with</a:t>
            </a:r>
            <a:r>
              <a:rPr lang="en-US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respect</a:t>
            </a:r>
            <a:r>
              <a:rPr lang="en-US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spc="-25" dirty="0">
                <a:solidFill>
                  <a:srgbClr val="FF3300"/>
                </a:solidFill>
                <a:latin typeface="Calibri"/>
                <a:cs typeface="Calibri"/>
              </a:rPr>
              <a:t>to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performance</a:t>
            </a:r>
            <a:r>
              <a:rPr lang="en-US" spc="-13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metric</a:t>
            </a:r>
            <a:r>
              <a:rPr lang="en-US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spc="-195" dirty="0">
                <a:solidFill>
                  <a:srgbClr val="FF3300"/>
                </a:solidFill>
                <a:latin typeface="Calibri"/>
                <a:cs typeface="Calibri"/>
              </a:rPr>
              <a:t>P,</a:t>
            </a:r>
          </a:p>
          <a:p>
            <a:pPr marL="154940" marR="5080" indent="0" algn="ctr">
              <a:lnSpc>
                <a:spcPct val="113100"/>
              </a:lnSpc>
              <a:spcBef>
                <a:spcPts val="100"/>
              </a:spcBef>
              <a:buNone/>
            </a:pPr>
            <a:r>
              <a:rPr lang="en-US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based</a:t>
            </a:r>
            <a:r>
              <a:rPr lang="en-US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lang="en-US" spc="-6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3300"/>
                </a:solidFill>
                <a:latin typeface="Calibri"/>
                <a:cs typeface="Calibri"/>
              </a:rPr>
              <a:t>experience</a:t>
            </a:r>
            <a:r>
              <a:rPr lang="en-US" spc="-6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lang="en-US" spc="-50" dirty="0">
                <a:solidFill>
                  <a:srgbClr val="FF3300"/>
                </a:solidFill>
                <a:latin typeface="Calibri"/>
                <a:cs typeface="Calibri"/>
              </a:rPr>
              <a:t>E</a:t>
            </a:r>
          </a:p>
          <a:p>
            <a:pPr marL="154940" marR="5080" indent="0" algn="ctr">
              <a:lnSpc>
                <a:spcPct val="113100"/>
              </a:lnSpc>
              <a:spcBef>
                <a:spcPts val="100"/>
              </a:spcBef>
              <a:buNone/>
            </a:pPr>
            <a:endParaRPr lang="en-US" dirty="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0"/>
              </a:spcBef>
            </a:pPr>
            <a:r>
              <a:rPr lang="en-US" sz="1400" spc="-20" dirty="0">
                <a:latin typeface="Calibri"/>
                <a:cs typeface="Calibri"/>
              </a:rPr>
              <a:t>T:</a:t>
            </a:r>
            <a:r>
              <a:rPr lang="en-US" sz="1400" spc="-8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Playing</a:t>
            </a:r>
            <a:r>
              <a:rPr lang="en-US" sz="1400" spc="-8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checkers</a:t>
            </a:r>
          </a:p>
          <a:p>
            <a:pPr marL="12700">
              <a:lnSpc>
                <a:spcPts val="2080"/>
              </a:lnSpc>
              <a:spcBef>
                <a:spcPts val="0"/>
              </a:spcBef>
            </a:pPr>
            <a:r>
              <a:rPr lang="en-US" sz="1400" dirty="0">
                <a:latin typeface="Calibri"/>
                <a:cs typeface="Calibri"/>
              </a:rPr>
              <a:t>P: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Percentage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games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won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against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an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arbitrary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opponent </a:t>
            </a:r>
            <a:r>
              <a:rPr lang="en-US" sz="1400" dirty="0">
                <a:latin typeface="Calibri"/>
                <a:cs typeface="Calibri"/>
              </a:rPr>
              <a:t>E:</a:t>
            </a:r>
            <a:r>
              <a:rPr lang="en-US" sz="1400" spc="-6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Playing</a:t>
            </a:r>
            <a:r>
              <a:rPr lang="en-US" sz="1400" spc="-6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practice</a:t>
            </a:r>
            <a:r>
              <a:rPr lang="en-US" sz="1400" spc="-6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games against </a:t>
            </a:r>
            <a:r>
              <a:rPr lang="en-US" sz="1400" spc="-10" dirty="0">
                <a:latin typeface="Calibri"/>
                <a:cs typeface="Calibri"/>
              </a:rPr>
              <a:t>itself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0"/>
              </a:spcBef>
            </a:pPr>
            <a:r>
              <a:rPr lang="en-US" sz="1400" spc="-20" dirty="0">
                <a:latin typeface="Calibri"/>
                <a:cs typeface="Calibri"/>
              </a:rPr>
              <a:t>T:</a:t>
            </a:r>
            <a:r>
              <a:rPr lang="en-US" sz="1400" spc="-5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Recognizing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hand-</a:t>
            </a:r>
            <a:r>
              <a:rPr lang="en-US" sz="1400" dirty="0">
                <a:latin typeface="Calibri"/>
                <a:cs typeface="Calibri"/>
              </a:rPr>
              <a:t>written</a:t>
            </a:r>
            <a:r>
              <a:rPr lang="en-US" sz="1400" spc="-55" dirty="0">
                <a:latin typeface="Calibri"/>
                <a:cs typeface="Calibri"/>
              </a:rPr>
              <a:t> </a:t>
            </a:r>
            <a:r>
              <a:rPr lang="en-US" sz="1400" spc="-20" dirty="0">
                <a:latin typeface="Calibri"/>
                <a:cs typeface="Calibri"/>
              </a:rPr>
              <a:t>words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  <a:spcBef>
                <a:spcPts val="0"/>
              </a:spcBef>
            </a:pPr>
            <a:r>
              <a:rPr lang="en-US" sz="1400" dirty="0">
                <a:latin typeface="Calibri"/>
                <a:cs typeface="Calibri"/>
              </a:rPr>
              <a:t>P: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Percentage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words</a:t>
            </a:r>
            <a:r>
              <a:rPr lang="en-US" sz="1400" spc="-6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correctly</a:t>
            </a:r>
            <a:r>
              <a:rPr lang="en-US" sz="1400" spc="-5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classified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  <a:spcBef>
                <a:spcPts val="0"/>
              </a:spcBef>
            </a:pPr>
            <a:r>
              <a:rPr lang="en-US" sz="1400" dirty="0">
                <a:latin typeface="Calibri"/>
                <a:cs typeface="Calibri"/>
              </a:rPr>
              <a:t>E: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Database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human-</a:t>
            </a:r>
            <a:r>
              <a:rPr lang="en-US" sz="1400" dirty="0">
                <a:latin typeface="Calibri"/>
                <a:cs typeface="Calibri"/>
              </a:rPr>
              <a:t>labeled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images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handwritten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words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  <a:spcBef>
                <a:spcPts val="0"/>
              </a:spcBef>
            </a:pPr>
            <a:r>
              <a:rPr lang="en-US" sz="1400" spc="-20" dirty="0">
                <a:latin typeface="Calibri"/>
                <a:cs typeface="Calibri"/>
              </a:rPr>
              <a:t>T: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Driving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on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spc="-30" dirty="0">
                <a:latin typeface="Calibri"/>
                <a:cs typeface="Calibri"/>
              </a:rPr>
              <a:t>four-</a:t>
            </a:r>
            <a:r>
              <a:rPr lang="en-US" sz="1400" dirty="0">
                <a:latin typeface="Calibri"/>
                <a:cs typeface="Calibri"/>
              </a:rPr>
              <a:t>lane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highways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using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vision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sensors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  <a:spcBef>
                <a:spcPts val="0"/>
              </a:spcBef>
            </a:pPr>
            <a:r>
              <a:rPr lang="en-US" sz="1400" dirty="0">
                <a:latin typeface="Calibri"/>
                <a:cs typeface="Calibri"/>
              </a:rPr>
              <a:t>P: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Average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distance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traveled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before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human-</a:t>
            </a:r>
            <a:r>
              <a:rPr lang="en-US" sz="1400" dirty="0">
                <a:latin typeface="Calibri"/>
                <a:cs typeface="Calibri"/>
              </a:rPr>
              <a:t>judged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error</a:t>
            </a:r>
          </a:p>
          <a:p>
            <a:pPr marL="12700">
              <a:lnSpc>
                <a:spcPts val="1950"/>
              </a:lnSpc>
              <a:spcBef>
                <a:spcPts val="0"/>
              </a:spcBef>
            </a:pPr>
            <a:r>
              <a:rPr lang="en-US" sz="1400" dirty="0">
                <a:latin typeface="Calibri"/>
                <a:cs typeface="Calibri"/>
              </a:rPr>
              <a:t>E: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sequence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images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and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steering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commands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recorded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while </a:t>
            </a:r>
            <a:r>
              <a:rPr lang="en-US" sz="1400" dirty="0">
                <a:latin typeface="Calibri"/>
                <a:cs typeface="Calibri"/>
              </a:rPr>
              <a:t>observing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human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driver.</a:t>
            </a:r>
            <a:endParaRPr lang="en-US" sz="1400" dirty="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  <a:spcBef>
                <a:spcPts val="0"/>
              </a:spcBef>
            </a:pPr>
            <a:r>
              <a:rPr lang="en-US" sz="1400" spc="-20" dirty="0">
                <a:latin typeface="Calibri"/>
                <a:cs typeface="Calibri"/>
              </a:rPr>
              <a:t>T: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Categorize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email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messages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as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spam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or</a:t>
            </a:r>
            <a:r>
              <a:rPr lang="en-US" sz="1400" spc="-40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legitimate. </a:t>
            </a:r>
            <a:r>
              <a:rPr lang="en-US" sz="1400" dirty="0">
                <a:latin typeface="Calibri"/>
                <a:cs typeface="Calibri"/>
              </a:rPr>
              <a:t>P: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Percentage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4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email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messages</a:t>
            </a:r>
            <a:r>
              <a:rPr lang="en-US" sz="1400" spc="-5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correctly</a:t>
            </a:r>
            <a:r>
              <a:rPr lang="en-US" sz="1400" spc="-5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classified. </a:t>
            </a:r>
            <a:r>
              <a:rPr lang="en-US" sz="1400" dirty="0">
                <a:latin typeface="Calibri"/>
                <a:cs typeface="Calibri"/>
              </a:rPr>
              <a:t>E: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Database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of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emails,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some</a:t>
            </a:r>
            <a:r>
              <a:rPr lang="en-US" sz="1400" spc="-30" dirty="0">
                <a:latin typeface="Calibri"/>
                <a:cs typeface="Calibri"/>
              </a:rPr>
              <a:t> </a:t>
            </a:r>
            <a:r>
              <a:rPr lang="en-US" sz="1400" dirty="0">
                <a:latin typeface="Calibri"/>
                <a:cs typeface="Calibri"/>
              </a:rPr>
              <a:t>with</a:t>
            </a:r>
            <a:r>
              <a:rPr lang="en-US" sz="1400" spc="-3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human-</a:t>
            </a:r>
            <a:r>
              <a:rPr lang="en-US" sz="1400" dirty="0">
                <a:latin typeface="Calibri"/>
                <a:cs typeface="Calibri"/>
              </a:rPr>
              <a:t>given</a:t>
            </a:r>
            <a:r>
              <a:rPr lang="en-US" sz="1400" spc="-25" dirty="0">
                <a:latin typeface="Calibri"/>
                <a:cs typeface="Calibri"/>
              </a:rPr>
              <a:t> </a:t>
            </a:r>
            <a:r>
              <a:rPr lang="en-US" sz="1400" spc="-10" dirty="0">
                <a:latin typeface="Calibri"/>
                <a:cs typeface="Calibri"/>
              </a:rPr>
              <a:t>labels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3528-561D-5B77-89D3-298A74A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20A72-9AD1-041E-7BC4-6B067C09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0CA6D-6B04-6D46-CC68-D7BABC94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49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0CC790-3F59-9C70-2334-DBF8370B1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State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Art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Applications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</a:t>
            </a:r>
            <a:r>
              <a:rPr lang="en-US" dirty="0">
                <a:latin typeface="Calibri"/>
                <a:cs typeface="Calibri"/>
              </a:rPr>
              <a:t>Machine</a:t>
            </a:r>
            <a:r>
              <a:rPr lang="en-US" spc="-1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641A5B8-2798-4A41-4845-C17DC354E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22417-7AFD-535B-FC61-0A6FDD34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C582C-F311-4DD3-6876-BA085DB5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24BC4-2FE1-04AB-66BB-1A4B7D6E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714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0812-CFF5-5988-0115-B2095799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Autonomous</a:t>
            </a:r>
            <a:r>
              <a:rPr lang="en-US" spc="-22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Cars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AD1D-F70E-B692-0399-7C50583C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910D-6C84-EFDE-CC61-3C6D0589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47C3-49F8-EA32-A6DA-CC57C183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B76B9BA-598B-FBFB-FC6A-0DD565D4AC4A}"/>
              </a:ext>
            </a:extLst>
          </p:cNvPr>
          <p:cNvSpPr txBox="1">
            <a:spLocks/>
          </p:cNvSpPr>
          <p:nvPr/>
        </p:nvSpPr>
        <p:spPr>
          <a:xfrm>
            <a:off x="6016818" y="-380637"/>
            <a:ext cx="406336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>
                <a:latin typeface="Calibri"/>
                <a:cs typeface="Calibri"/>
              </a:rPr>
              <a:t>Autonomous</a:t>
            </a:r>
            <a:r>
              <a:rPr lang="en-US" spc="-220">
                <a:latin typeface="Calibri"/>
                <a:cs typeface="Calibri"/>
              </a:rPr>
              <a:t> </a:t>
            </a:r>
            <a:r>
              <a:rPr lang="en-US" spc="-20">
                <a:latin typeface="Calibri"/>
                <a:cs typeface="Calibri"/>
              </a:rPr>
              <a:t>Cars</a:t>
            </a:r>
            <a:endParaRPr lang="en-US" spc="-20" dirty="0">
              <a:latin typeface="Calibri"/>
              <a:cs typeface="Calibri"/>
            </a:endParaRP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1FA3E1F9-5E4F-DA69-BEE2-D19ABB656F83}"/>
              </a:ext>
            </a:extLst>
          </p:cNvPr>
          <p:cNvGrpSpPr/>
          <p:nvPr/>
        </p:nvGrpSpPr>
        <p:grpSpPr>
          <a:xfrm>
            <a:off x="7723603" y="883467"/>
            <a:ext cx="3535679" cy="2489552"/>
            <a:chOff x="4949917" y="1111138"/>
            <a:chExt cx="3535679" cy="2597785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66E6E288-E79D-C9EB-91A1-99BADC3736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9917" y="1111138"/>
              <a:ext cx="3535657" cy="2597453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CA2DDA6-05FB-3C20-2684-B159DB69C6C5}"/>
                </a:ext>
              </a:extLst>
            </p:cNvPr>
            <p:cNvSpPr/>
            <p:nvPr/>
          </p:nvSpPr>
          <p:spPr>
            <a:xfrm>
              <a:off x="5834494" y="1990021"/>
              <a:ext cx="1447800" cy="1295400"/>
            </a:xfrm>
            <a:custGeom>
              <a:avLst/>
              <a:gdLst/>
              <a:ahLst/>
              <a:cxnLst/>
              <a:rect l="l" t="t" r="r" b="b"/>
              <a:pathLst>
                <a:path w="1447800" h="1295400">
                  <a:moveTo>
                    <a:pt x="0" y="0"/>
                  </a:moveTo>
                  <a:lnTo>
                    <a:pt x="1447800" y="0"/>
                  </a:lnTo>
                  <a:lnTo>
                    <a:pt x="1447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6">
            <a:extLst>
              <a:ext uri="{FF2B5EF4-FFF2-40B4-BE49-F238E27FC236}">
                <a16:creationId xmlns:a16="http://schemas.microsoft.com/office/drawing/2014/main" id="{9479C344-93A8-951C-1D31-382541137D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268" y="864108"/>
            <a:ext cx="3827150" cy="2508910"/>
          </a:xfrm>
          <a:prstGeom prst="rect">
            <a:avLst/>
          </a:prstGeom>
        </p:spPr>
      </p:pic>
      <p:sp>
        <p:nvSpPr>
          <p:cNvPr id="14" name="object 7">
            <a:extLst>
              <a:ext uri="{FF2B5EF4-FFF2-40B4-BE49-F238E27FC236}">
                <a16:creationId xmlns:a16="http://schemas.microsoft.com/office/drawing/2014/main" id="{6164E103-45B1-98D5-94FB-769AEE7B93D8}"/>
              </a:ext>
            </a:extLst>
          </p:cNvPr>
          <p:cNvSpPr txBox="1"/>
          <p:nvPr/>
        </p:nvSpPr>
        <p:spPr>
          <a:xfrm>
            <a:off x="3905250" y="3576784"/>
            <a:ext cx="4520565" cy="2201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755015" indent="-342900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Nevada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made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legal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for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cars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drive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on </a:t>
            </a:r>
            <a:r>
              <a:rPr sz="2300" dirty="0">
                <a:latin typeface="Calibri"/>
                <a:cs typeface="Calibri"/>
              </a:rPr>
              <a:t>roads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June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2011</a:t>
            </a:r>
            <a:endParaRPr sz="2300" dirty="0">
              <a:latin typeface="Calibri"/>
              <a:cs typeface="Calibri"/>
            </a:endParaRPr>
          </a:p>
          <a:p>
            <a:pPr marL="355600" marR="386080" indent="-342900">
              <a:lnSpc>
                <a:spcPct val="1002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20</a:t>
            </a:r>
            <a:r>
              <a:rPr lang="en-US" sz="2300" dirty="0">
                <a:latin typeface="Calibri"/>
                <a:cs typeface="Calibri"/>
              </a:rPr>
              <a:t>25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lang="en-US" sz="2300" dirty="0">
                <a:latin typeface="Calibri"/>
                <a:cs typeface="Calibri"/>
              </a:rPr>
              <a:t>Most US states + many other countries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legalized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12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cars</a:t>
            </a:r>
            <a:endParaRPr sz="2300" dirty="0">
              <a:latin typeface="Calibri"/>
              <a:cs typeface="Calibri"/>
            </a:endParaRPr>
          </a:p>
        </p:txBody>
      </p:sp>
      <p:grpSp>
        <p:nvGrpSpPr>
          <p:cNvPr id="15" name="object 8">
            <a:extLst>
              <a:ext uri="{FF2B5EF4-FFF2-40B4-BE49-F238E27FC236}">
                <a16:creationId xmlns:a16="http://schemas.microsoft.com/office/drawing/2014/main" id="{FDF42EDE-C7B5-332E-81C0-0DA3E2BE478F}"/>
              </a:ext>
            </a:extLst>
          </p:cNvPr>
          <p:cNvGrpSpPr/>
          <p:nvPr/>
        </p:nvGrpSpPr>
        <p:grpSpPr>
          <a:xfrm>
            <a:off x="8042150" y="3373018"/>
            <a:ext cx="3191510" cy="2824480"/>
            <a:chOff x="5128558" y="3831664"/>
            <a:chExt cx="3191510" cy="2824480"/>
          </a:xfrm>
        </p:grpSpPr>
        <p:pic>
          <p:nvPicPr>
            <p:cNvPr id="16" name="object 9">
              <a:extLst>
                <a:ext uri="{FF2B5EF4-FFF2-40B4-BE49-F238E27FC236}">
                  <a16:creationId xmlns:a16="http://schemas.microsoft.com/office/drawing/2014/main" id="{D482A260-72B2-29A0-07C7-B31BFEDF9EB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1258" y="3844365"/>
              <a:ext cx="3166033" cy="2798838"/>
            </a:xfrm>
            <a:prstGeom prst="rect">
              <a:avLst/>
            </a:prstGeom>
          </p:spPr>
        </p:pic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F3BB8E8F-855F-3CFC-67FA-02036E058B2A}"/>
                </a:ext>
              </a:extLst>
            </p:cNvPr>
            <p:cNvSpPr/>
            <p:nvPr/>
          </p:nvSpPr>
          <p:spPr>
            <a:xfrm>
              <a:off x="5134908" y="3838014"/>
              <a:ext cx="3178810" cy="2811780"/>
            </a:xfrm>
            <a:custGeom>
              <a:avLst/>
              <a:gdLst/>
              <a:ahLst/>
              <a:cxnLst/>
              <a:rect l="l" t="t" r="r" b="b"/>
              <a:pathLst>
                <a:path w="3178809" h="2811779">
                  <a:moveTo>
                    <a:pt x="0" y="0"/>
                  </a:moveTo>
                  <a:lnTo>
                    <a:pt x="3178734" y="0"/>
                  </a:lnTo>
                  <a:lnTo>
                    <a:pt x="3178734" y="2811539"/>
                  </a:lnTo>
                  <a:lnTo>
                    <a:pt x="0" y="281153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919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AC65-B900-5298-57CA-E156FAB5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Autonomous</a:t>
            </a:r>
            <a:r>
              <a:rPr lang="en-US" spc="-1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Car</a:t>
            </a:r>
            <a:r>
              <a:rPr lang="en-US" spc="-1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Technology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BC553-2A43-117C-28C8-0173AD48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4BCB1-D23E-F2BC-2ECE-2B555F35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B8A38-4394-FF0E-6865-AE269AFD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19" name="object 3"/>
          <p:cNvGrpSpPr/>
          <p:nvPr/>
        </p:nvGrpSpPr>
        <p:grpSpPr>
          <a:xfrm>
            <a:off x="3505201" y="770709"/>
            <a:ext cx="5486400" cy="2228850"/>
            <a:chOff x="152400" y="1371600"/>
            <a:chExt cx="5791200" cy="2228850"/>
          </a:xfrm>
        </p:grpSpPr>
        <p:pic>
          <p:nvPicPr>
            <p:cNvPr id="20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71600"/>
              <a:ext cx="5791200" cy="2209800"/>
            </a:xfrm>
            <a:prstGeom prst="rect">
              <a:avLst/>
            </a:prstGeom>
          </p:spPr>
        </p:pic>
        <p:sp>
          <p:nvSpPr>
            <p:cNvPr id="21" name="object 5"/>
            <p:cNvSpPr/>
            <p:nvPr/>
          </p:nvSpPr>
          <p:spPr>
            <a:xfrm>
              <a:off x="2010118" y="2016124"/>
              <a:ext cx="3275329" cy="1562735"/>
            </a:xfrm>
            <a:custGeom>
              <a:avLst/>
              <a:gdLst/>
              <a:ahLst/>
              <a:cxnLst/>
              <a:rect l="l" t="t" r="r" b="b"/>
              <a:pathLst>
                <a:path w="3275329" h="1562735">
                  <a:moveTo>
                    <a:pt x="2672880" y="523697"/>
                  </a:moveTo>
                  <a:lnTo>
                    <a:pt x="2671762" y="524179"/>
                  </a:lnTo>
                  <a:lnTo>
                    <a:pt x="2672651" y="523976"/>
                  </a:lnTo>
                  <a:lnTo>
                    <a:pt x="2672880" y="523697"/>
                  </a:lnTo>
                  <a:close/>
                </a:path>
                <a:path w="3275329" h="1562735">
                  <a:moveTo>
                    <a:pt x="2760408" y="481723"/>
                  </a:moveTo>
                  <a:lnTo>
                    <a:pt x="2752572" y="461899"/>
                  </a:lnTo>
                  <a:lnTo>
                    <a:pt x="2738247" y="444296"/>
                  </a:lnTo>
                  <a:lnTo>
                    <a:pt x="2732608" y="437362"/>
                  </a:lnTo>
                  <a:lnTo>
                    <a:pt x="2705824" y="414032"/>
                  </a:lnTo>
                  <a:lnTo>
                    <a:pt x="2677553" y="397840"/>
                  </a:lnTo>
                  <a:lnTo>
                    <a:pt x="2646959" y="391858"/>
                  </a:lnTo>
                  <a:lnTo>
                    <a:pt x="2611590" y="392518"/>
                  </a:lnTo>
                  <a:lnTo>
                    <a:pt x="2574328" y="395846"/>
                  </a:lnTo>
                  <a:lnTo>
                    <a:pt x="2538006" y="397840"/>
                  </a:lnTo>
                  <a:lnTo>
                    <a:pt x="2501481" y="396392"/>
                  </a:lnTo>
                  <a:lnTo>
                    <a:pt x="2463876" y="393979"/>
                  </a:lnTo>
                  <a:lnTo>
                    <a:pt x="2428443" y="393496"/>
                  </a:lnTo>
                  <a:lnTo>
                    <a:pt x="2370188" y="410248"/>
                  </a:lnTo>
                  <a:lnTo>
                    <a:pt x="2328862" y="444296"/>
                  </a:lnTo>
                  <a:lnTo>
                    <a:pt x="2326716" y="446722"/>
                  </a:lnTo>
                  <a:lnTo>
                    <a:pt x="2328684" y="459778"/>
                  </a:lnTo>
                  <a:lnTo>
                    <a:pt x="2348700" y="460260"/>
                  </a:lnTo>
                  <a:lnTo>
                    <a:pt x="2429052" y="446722"/>
                  </a:lnTo>
                  <a:lnTo>
                    <a:pt x="2471140" y="444296"/>
                  </a:lnTo>
                  <a:lnTo>
                    <a:pt x="2514015" y="448995"/>
                  </a:lnTo>
                  <a:lnTo>
                    <a:pt x="2561259" y="457682"/>
                  </a:lnTo>
                  <a:lnTo>
                    <a:pt x="2605240" y="468071"/>
                  </a:lnTo>
                  <a:lnTo>
                    <a:pt x="2656840" y="487705"/>
                  </a:lnTo>
                  <a:lnTo>
                    <a:pt x="2669375" y="508876"/>
                  </a:lnTo>
                  <a:lnTo>
                    <a:pt x="2673197" y="516559"/>
                  </a:lnTo>
                  <a:lnTo>
                    <a:pt x="2674899" y="521360"/>
                  </a:lnTo>
                  <a:lnTo>
                    <a:pt x="2672880" y="523697"/>
                  </a:lnTo>
                  <a:lnTo>
                    <a:pt x="2677553" y="521716"/>
                  </a:lnTo>
                  <a:lnTo>
                    <a:pt x="2696629" y="516191"/>
                  </a:lnTo>
                  <a:lnTo>
                    <a:pt x="2724429" y="507530"/>
                  </a:lnTo>
                  <a:lnTo>
                    <a:pt x="2749512" y="495947"/>
                  </a:lnTo>
                  <a:lnTo>
                    <a:pt x="2760408" y="481723"/>
                  </a:lnTo>
                  <a:close/>
                </a:path>
                <a:path w="3275329" h="1562735">
                  <a:moveTo>
                    <a:pt x="3274987" y="897191"/>
                  </a:moveTo>
                  <a:lnTo>
                    <a:pt x="3239554" y="842632"/>
                  </a:lnTo>
                  <a:lnTo>
                    <a:pt x="3197517" y="817816"/>
                  </a:lnTo>
                  <a:lnTo>
                    <a:pt x="3139808" y="798639"/>
                  </a:lnTo>
                  <a:lnTo>
                    <a:pt x="3070961" y="791819"/>
                  </a:lnTo>
                  <a:lnTo>
                    <a:pt x="3017939" y="788949"/>
                  </a:lnTo>
                  <a:lnTo>
                    <a:pt x="2839516" y="781545"/>
                  </a:lnTo>
                  <a:lnTo>
                    <a:pt x="2788856" y="779233"/>
                  </a:lnTo>
                  <a:lnTo>
                    <a:pt x="2750235" y="776884"/>
                  </a:lnTo>
                  <a:lnTo>
                    <a:pt x="2722219" y="771753"/>
                  </a:lnTo>
                  <a:lnTo>
                    <a:pt x="2714167" y="763524"/>
                  </a:lnTo>
                  <a:lnTo>
                    <a:pt x="2715704" y="753364"/>
                  </a:lnTo>
                  <a:lnTo>
                    <a:pt x="2716530" y="742467"/>
                  </a:lnTo>
                  <a:lnTo>
                    <a:pt x="2674645" y="723125"/>
                  </a:lnTo>
                  <a:lnTo>
                    <a:pt x="2614574" y="715886"/>
                  </a:lnTo>
                  <a:lnTo>
                    <a:pt x="2564714" y="714171"/>
                  </a:lnTo>
                  <a:lnTo>
                    <a:pt x="2514587" y="713409"/>
                  </a:lnTo>
                  <a:lnTo>
                    <a:pt x="2453690" y="709053"/>
                  </a:lnTo>
                  <a:lnTo>
                    <a:pt x="2368461" y="699109"/>
                  </a:lnTo>
                  <a:lnTo>
                    <a:pt x="2313076" y="692124"/>
                  </a:lnTo>
                  <a:lnTo>
                    <a:pt x="2253310" y="684110"/>
                  </a:lnTo>
                  <a:lnTo>
                    <a:pt x="2192261" y="675259"/>
                  </a:lnTo>
                  <a:lnTo>
                    <a:pt x="2133041" y="665822"/>
                  </a:lnTo>
                  <a:lnTo>
                    <a:pt x="2078736" y="655993"/>
                  </a:lnTo>
                  <a:lnTo>
                    <a:pt x="2032444" y="646023"/>
                  </a:lnTo>
                  <a:lnTo>
                    <a:pt x="1997265" y="636104"/>
                  </a:lnTo>
                  <a:lnTo>
                    <a:pt x="1997265" y="501713"/>
                  </a:lnTo>
                  <a:lnTo>
                    <a:pt x="2194953" y="373722"/>
                  </a:lnTo>
                  <a:lnTo>
                    <a:pt x="0" y="0"/>
                  </a:lnTo>
                  <a:lnTo>
                    <a:pt x="206184" y="205841"/>
                  </a:lnTo>
                  <a:lnTo>
                    <a:pt x="681380" y="679132"/>
                  </a:lnTo>
                  <a:lnTo>
                    <a:pt x="1210538" y="1203540"/>
                  </a:lnTo>
                  <a:lnTo>
                    <a:pt x="1578622" y="1562722"/>
                  </a:lnTo>
                  <a:lnTo>
                    <a:pt x="1719249" y="1527467"/>
                  </a:lnTo>
                  <a:lnTo>
                    <a:pt x="1781289" y="1511579"/>
                  </a:lnTo>
                  <a:lnTo>
                    <a:pt x="1838159" y="1496745"/>
                  </a:lnTo>
                  <a:lnTo>
                    <a:pt x="1890153" y="1482902"/>
                  </a:lnTo>
                  <a:lnTo>
                    <a:pt x="1937537" y="1469986"/>
                  </a:lnTo>
                  <a:lnTo>
                    <a:pt x="1980590" y="1457921"/>
                  </a:lnTo>
                  <a:lnTo>
                    <a:pt x="2019592" y="1446644"/>
                  </a:lnTo>
                  <a:lnTo>
                    <a:pt x="2086521" y="1426159"/>
                  </a:lnTo>
                  <a:lnTo>
                    <a:pt x="2161946" y="1395996"/>
                  </a:lnTo>
                  <a:lnTo>
                    <a:pt x="2171154" y="1381785"/>
                  </a:lnTo>
                  <a:lnTo>
                    <a:pt x="2167534" y="1371638"/>
                  </a:lnTo>
                  <a:lnTo>
                    <a:pt x="2176056" y="1363065"/>
                  </a:lnTo>
                  <a:lnTo>
                    <a:pt x="2199500" y="1359458"/>
                  </a:lnTo>
                  <a:lnTo>
                    <a:pt x="2226208" y="1361147"/>
                  </a:lnTo>
                  <a:lnTo>
                    <a:pt x="2259457" y="1360906"/>
                  </a:lnTo>
                  <a:lnTo>
                    <a:pt x="2302522" y="1351546"/>
                  </a:lnTo>
                  <a:lnTo>
                    <a:pt x="2377325" y="1335925"/>
                  </a:lnTo>
                  <a:lnTo>
                    <a:pt x="2430526" y="1319987"/>
                  </a:lnTo>
                  <a:lnTo>
                    <a:pt x="2466975" y="1303985"/>
                  </a:lnTo>
                  <a:lnTo>
                    <a:pt x="2491486" y="1288186"/>
                  </a:lnTo>
                  <a:lnTo>
                    <a:pt x="2508923" y="1272882"/>
                  </a:lnTo>
                  <a:lnTo>
                    <a:pt x="2524099" y="1258316"/>
                  </a:lnTo>
                  <a:lnTo>
                    <a:pt x="2541879" y="1244777"/>
                  </a:lnTo>
                  <a:lnTo>
                    <a:pt x="2567076" y="1232522"/>
                  </a:lnTo>
                  <a:lnTo>
                    <a:pt x="2615158" y="1217599"/>
                  </a:lnTo>
                  <a:lnTo>
                    <a:pt x="2662199" y="1207160"/>
                  </a:lnTo>
                  <a:lnTo>
                    <a:pt x="2708897" y="1197406"/>
                  </a:lnTo>
                  <a:lnTo>
                    <a:pt x="2755925" y="1184516"/>
                  </a:lnTo>
                  <a:lnTo>
                    <a:pt x="2804020" y="1164678"/>
                  </a:lnTo>
                  <a:lnTo>
                    <a:pt x="2844304" y="1145616"/>
                  </a:lnTo>
                  <a:lnTo>
                    <a:pt x="2893098" y="1124013"/>
                  </a:lnTo>
                  <a:lnTo>
                    <a:pt x="3002623" y="1076261"/>
                  </a:lnTo>
                  <a:lnTo>
                    <a:pt x="3056534" y="1051636"/>
                  </a:lnTo>
                  <a:lnTo>
                    <a:pt x="3105340" y="1027531"/>
                  </a:lnTo>
                  <a:lnTo>
                    <a:pt x="3145612" y="1004697"/>
                  </a:lnTo>
                  <a:lnTo>
                    <a:pt x="3200374" y="971169"/>
                  </a:lnTo>
                  <a:lnTo>
                    <a:pt x="3241370" y="944702"/>
                  </a:lnTo>
                  <a:lnTo>
                    <a:pt x="3266833" y="921372"/>
                  </a:lnTo>
                  <a:lnTo>
                    <a:pt x="3274987" y="897191"/>
                  </a:lnTo>
                  <a:close/>
                </a:path>
              </a:pathLst>
            </a:custGeom>
            <a:solidFill>
              <a:srgbClr val="FF0000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6"/>
            <p:cNvSpPr/>
            <p:nvPr/>
          </p:nvSpPr>
          <p:spPr>
            <a:xfrm>
              <a:off x="3597465" y="2691342"/>
              <a:ext cx="1699895" cy="890269"/>
            </a:xfrm>
            <a:custGeom>
              <a:avLst/>
              <a:gdLst/>
              <a:ahLst/>
              <a:cxnLst/>
              <a:rect l="l" t="t" r="r" b="b"/>
              <a:pathLst>
                <a:path w="1699895" h="890270">
                  <a:moveTo>
                    <a:pt x="0" y="890058"/>
                  </a:moveTo>
                  <a:lnTo>
                    <a:pt x="49672" y="876870"/>
                  </a:lnTo>
                  <a:lnTo>
                    <a:pt x="97573" y="864161"/>
                  </a:lnTo>
                  <a:lnTo>
                    <a:pt x="142476" y="851933"/>
                  </a:lnTo>
                  <a:lnTo>
                    <a:pt x="183155" y="840184"/>
                  </a:lnTo>
                  <a:lnTo>
                    <a:pt x="218382" y="828494"/>
                  </a:lnTo>
                  <a:lnTo>
                    <a:pt x="249113" y="816685"/>
                  </a:lnTo>
                  <a:lnTo>
                    <a:pt x="277390" y="805116"/>
                  </a:lnTo>
                  <a:lnTo>
                    <a:pt x="305259" y="794146"/>
                  </a:lnTo>
                  <a:lnTo>
                    <a:pt x="360859" y="774484"/>
                  </a:lnTo>
                  <a:lnTo>
                    <a:pt x="409919" y="759618"/>
                  </a:lnTo>
                  <a:lnTo>
                    <a:pt x="448621" y="752904"/>
                  </a:lnTo>
                  <a:lnTo>
                    <a:pt x="466133" y="750986"/>
                  </a:lnTo>
                  <a:lnTo>
                    <a:pt x="484053" y="748109"/>
                  </a:lnTo>
                  <a:lnTo>
                    <a:pt x="526571" y="738038"/>
                  </a:lnTo>
                  <a:lnTo>
                    <a:pt x="562548" y="725090"/>
                  </a:lnTo>
                  <a:lnTo>
                    <a:pt x="566569" y="718316"/>
                  </a:lnTo>
                  <a:lnTo>
                    <a:pt x="563093" y="711183"/>
                  </a:lnTo>
                  <a:lnTo>
                    <a:pt x="564797" y="703330"/>
                  </a:lnTo>
                  <a:lnTo>
                    <a:pt x="621577" y="685283"/>
                  </a:lnTo>
                  <a:lnTo>
                    <a:pt x="674221" y="674264"/>
                  </a:lnTo>
                  <a:lnTo>
                    <a:pt x="732238" y="662816"/>
                  </a:lnTo>
                  <a:lnTo>
                    <a:pt x="785579" y="652412"/>
                  </a:lnTo>
                  <a:lnTo>
                    <a:pt x="824199" y="644524"/>
                  </a:lnTo>
                  <a:lnTo>
                    <a:pt x="845867" y="640328"/>
                  </a:lnTo>
                  <a:lnTo>
                    <a:pt x="850364" y="639729"/>
                  </a:lnTo>
                  <a:lnTo>
                    <a:pt x="851591" y="637691"/>
                  </a:lnTo>
                  <a:lnTo>
                    <a:pt x="863447" y="629178"/>
                  </a:lnTo>
                  <a:lnTo>
                    <a:pt x="891792" y="610356"/>
                  </a:lnTo>
                  <a:lnTo>
                    <a:pt x="928859" y="585059"/>
                  </a:lnTo>
                  <a:lnTo>
                    <a:pt x="968107" y="559763"/>
                  </a:lnTo>
                  <a:lnTo>
                    <a:pt x="1002994" y="540940"/>
                  </a:lnTo>
                  <a:lnTo>
                    <a:pt x="1054778" y="529910"/>
                  </a:lnTo>
                  <a:lnTo>
                    <a:pt x="1078013" y="529251"/>
                  </a:lnTo>
                  <a:lnTo>
                    <a:pt x="1103293" y="525594"/>
                  </a:lnTo>
                  <a:lnTo>
                    <a:pt x="1130276" y="517741"/>
                  </a:lnTo>
                  <a:lnTo>
                    <a:pt x="1157804" y="507850"/>
                  </a:lnTo>
                  <a:lnTo>
                    <a:pt x="1187512" y="496281"/>
                  </a:lnTo>
                  <a:lnTo>
                    <a:pt x="1221036" y="483393"/>
                  </a:lnTo>
                  <a:lnTo>
                    <a:pt x="1259670" y="468647"/>
                  </a:lnTo>
                  <a:lnTo>
                    <a:pt x="1302257" y="451742"/>
                  </a:lnTo>
                  <a:lnTo>
                    <a:pt x="1346751" y="433399"/>
                  </a:lnTo>
                  <a:lnTo>
                    <a:pt x="1391109" y="414337"/>
                  </a:lnTo>
                  <a:lnTo>
                    <a:pt x="1437511" y="393896"/>
                  </a:lnTo>
                  <a:lnTo>
                    <a:pt x="1486502" y="371656"/>
                  </a:lnTo>
                  <a:lnTo>
                    <a:pt x="1533586" y="348697"/>
                  </a:lnTo>
                  <a:lnTo>
                    <a:pt x="1574265" y="326098"/>
                  </a:lnTo>
                  <a:lnTo>
                    <a:pt x="1608879" y="302780"/>
                  </a:lnTo>
                  <a:lnTo>
                    <a:pt x="1639677" y="278622"/>
                  </a:lnTo>
                  <a:lnTo>
                    <a:pt x="1683286" y="237860"/>
                  </a:lnTo>
                  <a:lnTo>
                    <a:pt x="1699639" y="219157"/>
                  </a:lnTo>
                  <a:lnTo>
                    <a:pt x="1698821" y="212863"/>
                  </a:lnTo>
                  <a:lnTo>
                    <a:pt x="1656030" y="169283"/>
                  </a:lnTo>
                  <a:lnTo>
                    <a:pt x="1609151" y="138112"/>
                  </a:lnTo>
                  <a:lnTo>
                    <a:pt x="1569358" y="127562"/>
                  </a:lnTo>
                  <a:lnTo>
                    <a:pt x="1547622" y="125524"/>
                  </a:lnTo>
                  <a:lnTo>
                    <a:pt x="1521934" y="122766"/>
                  </a:lnTo>
                  <a:lnTo>
                    <a:pt x="1493384" y="118330"/>
                  </a:lnTo>
                  <a:lnTo>
                    <a:pt x="1462518" y="113175"/>
                  </a:lnTo>
                  <a:lnTo>
                    <a:pt x="1426472" y="108020"/>
                  </a:lnTo>
                  <a:lnTo>
                    <a:pt x="1382387" y="103584"/>
                  </a:lnTo>
                  <a:lnTo>
                    <a:pt x="1334836" y="101159"/>
                  </a:lnTo>
                  <a:lnTo>
                    <a:pt x="1276541" y="99533"/>
                  </a:lnTo>
                  <a:lnTo>
                    <a:pt x="1216291" y="97967"/>
                  </a:lnTo>
                  <a:lnTo>
                    <a:pt x="1162880" y="95727"/>
                  </a:lnTo>
                  <a:lnTo>
                    <a:pt x="1125098" y="92074"/>
                  </a:lnTo>
                  <a:lnTo>
                    <a:pt x="1109494" y="84282"/>
                  </a:lnTo>
                  <a:lnTo>
                    <a:pt x="1115831" y="73851"/>
                  </a:lnTo>
                  <a:lnTo>
                    <a:pt x="1122440" y="62941"/>
                  </a:lnTo>
                  <a:lnTo>
                    <a:pt x="1072348" y="48001"/>
                  </a:lnTo>
                  <a:lnTo>
                    <a:pt x="1023367" y="43029"/>
                  </a:lnTo>
                  <a:lnTo>
                    <a:pt x="967618" y="38610"/>
                  </a:lnTo>
                  <a:lnTo>
                    <a:pt x="912009" y="34558"/>
                  </a:lnTo>
                  <a:lnTo>
                    <a:pt x="863447" y="30691"/>
                  </a:lnTo>
                  <a:lnTo>
                    <a:pt x="810503" y="26315"/>
                  </a:lnTo>
                  <a:lnTo>
                    <a:pt x="760422" y="22539"/>
                  </a:lnTo>
                  <a:lnTo>
                    <a:pt x="716064" y="19002"/>
                  </a:lnTo>
                  <a:lnTo>
                    <a:pt x="680291" y="15345"/>
                  </a:lnTo>
                  <a:lnTo>
                    <a:pt x="654535" y="11509"/>
                  </a:lnTo>
                  <a:lnTo>
                    <a:pt x="636683" y="7672"/>
                  </a:lnTo>
                  <a:lnTo>
                    <a:pt x="624282" y="3836"/>
                  </a:lnTo>
                  <a:lnTo>
                    <a:pt x="614879" y="0"/>
                  </a:lnTo>
                </a:path>
              </a:pathLst>
            </a:custGeom>
            <a:ln w="381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1934" y="2400829"/>
              <a:ext cx="122014" cy="152620"/>
            </a:xfrm>
            <a:prstGeom prst="rect">
              <a:avLst/>
            </a:prstGeom>
          </p:spPr>
        </p:pic>
      </p:grpSp>
      <p:pic>
        <p:nvPicPr>
          <p:cNvPr id="29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3868" y="846909"/>
            <a:ext cx="2517608" cy="2160587"/>
          </a:xfrm>
          <a:prstGeom prst="rect">
            <a:avLst/>
          </a:prstGeom>
        </p:spPr>
      </p:pic>
      <p:sp>
        <p:nvSpPr>
          <p:cNvPr id="31" name="object 8">
            <a:extLst>
              <a:ext uri="{FF2B5EF4-FFF2-40B4-BE49-F238E27FC236}">
                <a16:creationId xmlns:a16="http://schemas.microsoft.com/office/drawing/2014/main" id="{EC5C017C-FBE9-F5C3-D298-1DBC777F7731}"/>
              </a:ext>
            </a:extLst>
          </p:cNvPr>
          <p:cNvSpPr txBox="1"/>
          <p:nvPr/>
        </p:nvSpPr>
        <p:spPr>
          <a:xfrm>
            <a:off x="4287156" y="2210042"/>
            <a:ext cx="2123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Laser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Terrain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Mapping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18">
            <a:extLst>
              <a:ext uri="{FF2B5EF4-FFF2-40B4-BE49-F238E27FC236}">
                <a16:creationId xmlns:a16="http://schemas.microsoft.com/office/drawing/2014/main" id="{392A317B-F667-CF6E-7BC7-E4DFE3DBE153}"/>
              </a:ext>
            </a:extLst>
          </p:cNvPr>
          <p:cNvSpPr txBox="1"/>
          <p:nvPr/>
        </p:nvSpPr>
        <p:spPr>
          <a:xfrm>
            <a:off x="10883219" y="914642"/>
            <a:ext cx="84709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390525">
              <a:lnSpc>
                <a:spcPts val="2100"/>
              </a:lnSpc>
              <a:spcBef>
                <a:spcPts val="219"/>
              </a:spcBef>
            </a:pPr>
            <a:r>
              <a:rPr sz="1800" b="1" spc="-30" dirty="0">
                <a:latin typeface="Calibri"/>
                <a:cs typeface="Calibri"/>
              </a:rPr>
              <a:t>Path </a:t>
            </a:r>
            <a:r>
              <a:rPr sz="1800" b="1" spc="-10" dirty="0">
                <a:latin typeface="Calibri"/>
                <a:cs typeface="Calibri"/>
              </a:rPr>
              <a:t>Planning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3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73029" y="3239679"/>
            <a:ext cx="4805362" cy="2687637"/>
          </a:xfrm>
          <a:prstGeom prst="rect">
            <a:avLst/>
          </a:prstGeom>
        </p:spPr>
      </p:pic>
      <p:sp>
        <p:nvSpPr>
          <p:cNvPr id="34" name="object 10"/>
          <p:cNvSpPr txBox="1"/>
          <p:nvPr/>
        </p:nvSpPr>
        <p:spPr>
          <a:xfrm>
            <a:off x="6242581" y="5126899"/>
            <a:ext cx="7023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33CC33"/>
                </a:solidFill>
                <a:latin typeface="Arial MT"/>
                <a:cs typeface="Arial MT"/>
              </a:rPr>
              <a:t>Stanley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5" name="object 11"/>
          <p:cNvGrpSpPr/>
          <p:nvPr/>
        </p:nvGrpSpPr>
        <p:grpSpPr>
          <a:xfrm>
            <a:off x="3777829" y="3650841"/>
            <a:ext cx="4269105" cy="2473325"/>
            <a:chOff x="457200" y="4144962"/>
            <a:chExt cx="4269105" cy="2473325"/>
          </a:xfrm>
        </p:grpSpPr>
        <p:sp>
          <p:nvSpPr>
            <p:cNvPr id="36" name="object 12"/>
            <p:cNvSpPr/>
            <p:nvPr/>
          </p:nvSpPr>
          <p:spPr>
            <a:xfrm>
              <a:off x="595313" y="4144962"/>
              <a:ext cx="2247900" cy="238125"/>
            </a:xfrm>
            <a:custGeom>
              <a:avLst/>
              <a:gdLst/>
              <a:ahLst/>
              <a:cxnLst/>
              <a:rect l="l" t="t" r="r" b="b"/>
              <a:pathLst>
                <a:path w="2247900" h="238125">
                  <a:moveTo>
                    <a:pt x="22479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47900" y="238125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6400800"/>
              <a:ext cx="4268787" cy="217487"/>
            </a:xfrm>
            <a:prstGeom prst="rect">
              <a:avLst/>
            </a:prstGeom>
          </p:spPr>
        </p:pic>
      </p:grpSp>
      <p:sp>
        <p:nvSpPr>
          <p:cNvPr id="38" name="object 14"/>
          <p:cNvSpPr txBox="1"/>
          <p:nvPr/>
        </p:nvSpPr>
        <p:spPr>
          <a:xfrm>
            <a:off x="3932769" y="3259999"/>
            <a:ext cx="281305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800">
              <a:latin typeface="Calibri"/>
              <a:cs typeface="Calibri"/>
            </a:endParaRPr>
          </a:p>
          <a:p>
            <a:pPr marL="1396365">
              <a:lnSpc>
                <a:spcPct val="100000"/>
              </a:lnSpc>
            </a:pPr>
            <a:r>
              <a:rPr sz="1600" spc="-10" dirty="0">
                <a:solidFill>
                  <a:srgbClr val="00CC99"/>
                </a:solidFill>
                <a:latin typeface="Arial MT"/>
                <a:cs typeface="Arial MT"/>
              </a:rPr>
              <a:t>Sebastian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39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49829" y="3239679"/>
            <a:ext cx="3451647" cy="2652712"/>
          </a:xfrm>
          <a:prstGeom prst="rect">
            <a:avLst/>
          </a:prstGeom>
        </p:spPr>
      </p:pic>
      <p:sp>
        <p:nvSpPr>
          <p:cNvPr id="40" name="object 16"/>
          <p:cNvSpPr txBox="1"/>
          <p:nvPr/>
        </p:nvSpPr>
        <p:spPr>
          <a:xfrm>
            <a:off x="9266769" y="3412399"/>
            <a:ext cx="1510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Adaptive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Vision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957759-46B7-1D75-500D-8F0FB08E5B7B}"/>
              </a:ext>
            </a:extLst>
          </p:cNvPr>
          <p:cNvSpPr txBox="1"/>
          <p:nvPr/>
        </p:nvSpPr>
        <p:spPr>
          <a:xfrm>
            <a:off x="8588178" y="6352827"/>
            <a:ext cx="34442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alibri"/>
                <a:cs typeface="Calibri"/>
              </a:rPr>
              <a:t>Images</a:t>
            </a:r>
            <a:r>
              <a:rPr lang="en-US" sz="900" spc="-2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and</a:t>
            </a:r>
            <a:r>
              <a:rPr lang="en-US" sz="900" spc="-2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movies</a:t>
            </a:r>
            <a:r>
              <a:rPr lang="en-US" sz="900" spc="-15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taken</a:t>
            </a:r>
            <a:r>
              <a:rPr lang="en-US" sz="900" spc="-2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from</a:t>
            </a:r>
            <a:r>
              <a:rPr lang="en-US" sz="900" spc="-1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Sebastian</a:t>
            </a:r>
            <a:r>
              <a:rPr lang="en-US" sz="900" spc="-2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Thrun</a:t>
            </a:r>
            <a:r>
              <a:rPr lang="en-US" sz="900" dirty="0">
                <a:latin typeface="MS PGothic"/>
                <a:cs typeface="MS PGothic"/>
              </a:rPr>
              <a:t>’</a:t>
            </a:r>
            <a:r>
              <a:rPr lang="en-US" sz="900" dirty="0">
                <a:latin typeface="Calibri"/>
                <a:cs typeface="Calibri"/>
              </a:rPr>
              <a:t>s</a:t>
            </a:r>
            <a:r>
              <a:rPr lang="en-US" sz="900" spc="-15" dirty="0">
                <a:latin typeface="Calibri"/>
                <a:cs typeface="Calibri"/>
              </a:rPr>
              <a:t> </a:t>
            </a:r>
            <a:r>
              <a:rPr lang="en-US" sz="900" spc="-10" dirty="0">
                <a:latin typeface="Calibri"/>
                <a:cs typeface="Calibri"/>
              </a:rPr>
              <a:t>multimedia</a:t>
            </a:r>
            <a:r>
              <a:rPr lang="en-US" sz="900" spc="-25" dirty="0">
                <a:latin typeface="Calibri"/>
                <a:cs typeface="Calibri"/>
              </a:rPr>
              <a:t> </a:t>
            </a:r>
            <a:r>
              <a:rPr lang="en-US" sz="900" spc="-80" dirty="0">
                <a:latin typeface="Calibri"/>
                <a:cs typeface="Calibri"/>
              </a:rPr>
              <a:t>w</a:t>
            </a:r>
            <a:r>
              <a:rPr lang="en-US" sz="900" spc="-120" baseline="23148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r>
              <a:rPr lang="en-US" sz="900" spc="-80" dirty="0">
                <a:latin typeface="Calibri"/>
                <a:cs typeface="Calibri"/>
              </a:rPr>
              <a:t>e</a:t>
            </a:r>
            <a:r>
              <a:rPr lang="en-US" sz="900" spc="-120" baseline="23148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r>
              <a:rPr lang="en-US" sz="900" spc="-80" dirty="0">
                <a:latin typeface="Calibri"/>
                <a:cs typeface="Calibri"/>
              </a:rPr>
              <a:t>bsite.</a:t>
            </a:r>
            <a:endParaRPr lang="en-US"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220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0A37-1909-E130-57EF-3E59C336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Deep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Headlines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3A242-0965-4CBA-2729-51F745A5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7FDA3-FE29-7AEB-8DAF-113E82E3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D64F-D6EE-7A7C-3ED2-02FD33B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object 3"/>
          <p:cNvSpPr txBox="1"/>
          <p:nvPr/>
        </p:nvSpPr>
        <p:spPr>
          <a:xfrm>
            <a:off x="11587026" y="560346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4"/>
          <p:cNvGrpSpPr/>
          <p:nvPr/>
        </p:nvGrpSpPr>
        <p:grpSpPr>
          <a:xfrm>
            <a:off x="3542213" y="629194"/>
            <a:ext cx="3794125" cy="2316480"/>
            <a:chOff x="381002" y="1447799"/>
            <a:chExt cx="3794125" cy="2316480"/>
          </a:xfrm>
        </p:grpSpPr>
        <p:pic>
          <p:nvPicPr>
            <p:cNvPr id="9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2" y="1567405"/>
              <a:ext cx="3657600" cy="2196247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00" y="1447799"/>
              <a:ext cx="822157" cy="403063"/>
            </a:xfrm>
            <a:prstGeom prst="rect">
              <a:avLst/>
            </a:prstGeom>
          </p:spPr>
        </p:pic>
      </p:grpSp>
      <p:pic>
        <p:nvPicPr>
          <p:cNvPr id="11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0437" y="671731"/>
            <a:ext cx="3111237" cy="413210"/>
          </a:xfrm>
          <a:prstGeom prst="rect">
            <a:avLst/>
          </a:prstGeom>
        </p:spPr>
      </p:pic>
      <p:pic>
        <p:nvPicPr>
          <p:cNvPr id="12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09411" y="1188743"/>
            <a:ext cx="3267636" cy="596152"/>
          </a:xfrm>
          <a:prstGeom prst="rect">
            <a:avLst/>
          </a:prstGeom>
        </p:spPr>
      </p:pic>
      <p:pic>
        <p:nvPicPr>
          <p:cNvPr id="13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0990" y="1916098"/>
            <a:ext cx="3957011" cy="968090"/>
          </a:xfrm>
          <a:prstGeom prst="rect">
            <a:avLst/>
          </a:prstGeom>
        </p:spPr>
      </p:pic>
      <p:grpSp>
        <p:nvGrpSpPr>
          <p:cNvPr id="14" name="object 10"/>
          <p:cNvGrpSpPr/>
          <p:nvPr/>
        </p:nvGrpSpPr>
        <p:grpSpPr>
          <a:xfrm>
            <a:off x="3466011" y="3219994"/>
            <a:ext cx="4114800" cy="2634615"/>
            <a:chOff x="304800" y="4038599"/>
            <a:chExt cx="4114800" cy="2634615"/>
          </a:xfrm>
        </p:grpSpPr>
        <p:pic>
          <p:nvPicPr>
            <p:cNvPr id="15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4038599"/>
              <a:ext cx="4114801" cy="1372401"/>
            </a:xfrm>
            <a:prstGeom prst="rect">
              <a:avLst/>
            </a:prstGeom>
          </p:spPr>
        </p:pic>
        <p:pic>
          <p:nvPicPr>
            <p:cNvPr id="16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800" y="5369138"/>
              <a:ext cx="3375823" cy="1303706"/>
            </a:xfrm>
            <a:prstGeom prst="rect">
              <a:avLst/>
            </a:prstGeom>
          </p:spPr>
        </p:pic>
      </p:grpSp>
      <p:pic>
        <p:nvPicPr>
          <p:cNvPr id="17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19786" y="3219995"/>
            <a:ext cx="394821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11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D2E4-6497-446F-3B64-A180CD06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Deep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Belief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Net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Face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Images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6E184-91D7-9837-6FA6-D6A7B9D6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3BEE5-32AA-D5C2-947A-14C9AAB2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BD79C-644A-A26F-20C0-498E7838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9481" y="3530720"/>
            <a:ext cx="1740941" cy="1127004"/>
          </a:xfrm>
          <a:prstGeom prst="rect">
            <a:avLst/>
          </a:prstGeom>
        </p:spPr>
      </p:pic>
      <p:grpSp>
        <p:nvGrpSpPr>
          <p:cNvPr id="8" name="object 3"/>
          <p:cNvGrpSpPr/>
          <p:nvPr/>
        </p:nvGrpSpPr>
        <p:grpSpPr>
          <a:xfrm>
            <a:off x="7637556" y="52387"/>
            <a:ext cx="2130425" cy="5978525"/>
            <a:chOff x="4627656" y="655637"/>
            <a:chExt cx="2130425" cy="5978525"/>
          </a:xfrm>
        </p:grpSpPr>
        <p:pic>
          <p:nvPicPr>
            <p:cNvPr id="9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4856" y="5667375"/>
              <a:ext cx="966786" cy="966788"/>
            </a:xfrm>
            <a:prstGeom prst="rect">
              <a:avLst/>
            </a:prstGeom>
          </p:spPr>
        </p:pic>
        <p:pic>
          <p:nvPicPr>
            <p:cNvPr id="10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9575" y="2381974"/>
              <a:ext cx="1949393" cy="1323250"/>
            </a:xfrm>
            <a:prstGeom prst="rect">
              <a:avLst/>
            </a:prstGeom>
          </p:spPr>
        </p:pic>
        <p:sp>
          <p:nvSpPr>
            <p:cNvPr id="11" name="object 6"/>
            <p:cNvSpPr/>
            <p:nvPr/>
          </p:nvSpPr>
          <p:spPr>
            <a:xfrm>
              <a:off x="4654643" y="2332038"/>
              <a:ext cx="2103755" cy="338455"/>
            </a:xfrm>
            <a:custGeom>
              <a:avLst/>
              <a:gdLst/>
              <a:ahLst/>
              <a:cxnLst/>
              <a:rect l="l" t="t" r="r" b="b"/>
              <a:pathLst>
                <a:path w="2103754" h="338455">
                  <a:moveTo>
                    <a:pt x="2103437" y="0"/>
                  </a:moveTo>
                  <a:lnTo>
                    <a:pt x="0" y="0"/>
                  </a:lnTo>
                  <a:lnTo>
                    <a:pt x="0" y="338195"/>
                  </a:lnTo>
                  <a:lnTo>
                    <a:pt x="2103437" y="338195"/>
                  </a:lnTo>
                  <a:lnTo>
                    <a:pt x="2103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8924" y="779423"/>
              <a:ext cx="1948790" cy="1401799"/>
            </a:xfrm>
            <a:prstGeom prst="rect">
              <a:avLst/>
            </a:prstGeom>
          </p:spPr>
        </p:pic>
        <p:sp>
          <p:nvSpPr>
            <p:cNvPr id="13" name="object 8"/>
            <p:cNvSpPr/>
            <p:nvPr/>
          </p:nvSpPr>
          <p:spPr>
            <a:xfrm>
              <a:off x="4627656" y="655637"/>
              <a:ext cx="2011680" cy="339090"/>
            </a:xfrm>
            <a:custGeom>
              <a:avLst/>
              <a:gdLst/>
              <a:ahLst/>
              <a:cxnLst/>
              <a:rect l="l" t="t" r="r" b="b"/>
              <a:pathLst>
                <a:path w="2011679" h="339090">
                  <a:moveTo>
                    <a:pt x="2011362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2011362" y="338554"/>
                  </a:lnTo>
                  <a:lnTo>
                    <a:pt x="2011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/>
          </p:nvSpPr>
          <p:spPr>
            <a:xfrm>
              <a:off x="5278578" y="3747862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382"/>
                  </a:lnTo>
                  <a:lnTo>
                    <a:pt x="182142" y="101382"/>
                  </a:lnTo>
                  <a:lnTo>
                    <a:pt x="182142" y="232225"/>
                  </a:lnTo>
                  <a:lnTo>
                    <a:pt x="546425" y="232225"/>
                  </a:lnTo>
                  <a:lnTo>
                    <a:pt x="546425" y="101382"/>
                  </a:lnTo>
                  <a:lnTo>
                    <a:pt x="728567" y="101382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/>
          </p:nvSpPr>
          <p:spPr>
            <a:xfrm>
              <a:off x="5278577" y="3747862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/>
          </p:nvSpPr>
          <p:spPr>
            <a:xfrm>
              <a:off x="5218253" y="2276250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382"/>
                  </a:lnTo>
                  <a:lnTo>
                    <a:pt x="182142" y="101382"/>
                  </a:lnTo>
                  <a:lnTo>
                    <a:pt x="182142" y="232225"/>
                  </a:lnTo>
                  <a:lnTo>
                    <a:pt x="546425" y="232225"/>
                  </a:lnTo>
                  <a:lnTo>
                    <a:pt x="546425" y="101382"/>
                  </a:lnTo>
                  <a:lnTo>
                    <a:pt x="728567" y="101382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/>
          </p:nvSpPr>
          <p:spPr>
            <a:xfrm>
              <a:off x="5218252" y="2276250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3"/>
          <p:cNvSpPr txBox="1"/>
          <p:nvPr/>
        </p:nvSpPr>
        <p:spPr>
          <a:xfrm>
            <a:off x="9330783" y="5400357"/>
            <a:ext cx="676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pixels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4"/>
          <p:cNvSpPr txBox="1"/>
          <p:nvPr/>
        </p:nvSpPr>
        <p:spPr>
          <a:xfrm>
            <a:off x="9810208" y="3943032"/>
            <a:ext cx="7181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edges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0" name="object 15"/>
          <p:cNvGrpSpPr/>
          <p:nvPr/>
        </p:nvGrpSpPr>
        <p:grpSpPr>
          <a:xfrm>
            <a:off x="8244028" y="4691631"/>
            <a:ext cx="741680" cy="245110"/>
            <a:chOff x="5234128" y="5294881"/>
            <a:chExt cx="741680" cy="245110"/>
          </a:xfrm>
        </p:grpSpPr>
        <p:sp>
          <p:nvSpPr>
            <p:cNvPr id="21" name="object 16"/>
            <p:cNvSpPr/>
            <p:nvPr/>
          </p:nvSpPr>
          <p:spPr>
            <a:xfrm>
              <a:off x="5240478" y="5301231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823"/>
                  </a:lnTo>
                  <a:lnTo>
                    <a:pt x="182142" y="101823"/>
                  </a:lnTo>
                  <a:lnTo>
                    <a:pt x="182142" y="232225"/>
                  </a:lnTo>
                  <a:lnTo>
                    <a:pt x="546426" y="232225"/>
                  </a:lnTo>
                  <a:lnTo>
                    <a:pt x="546426" y="101823"/>
                  </a:lnTo>
                  <a:lnTo>
                    <a:pt x="728568" y="101823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/>
            <p:cNvSpPr/>
            <p:nvPr/>
          </p:nvSpPr>
          <p:spPr>
            <a:xfrm>
              <a:off x="5240478" y="5301231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824"/>
                  </a:lnTo>
                  <a:lnTo>
                    <a:pt x="546426" y="101824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824"/>
                  </a:lnTo>
                  <a:lnTo>
                    <a:pt x="0" y="101824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8"/>
          <p:cNvSpPr txBox="1"/>
          <p:nvPr/>
        </p:nvSpPr>
        <p:spPr>
          <a:xfrm>
            <a:off x="9949908" y="2115820"/>
            <a:ext cx="14795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parts </a:t>
            </a:r>
            <a:r>
              <a:rPr sz="2000" spc="-10" dirty="0">
                <a:latin typeface="Arial MT"/>
                <a:cs typeface="Arial MT"/>
              </a:rPr>
              <a:t>(combination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edges)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19"/>
          <p:cNvSpPr txBox="1"/>
          <p:nvPr/>
        </p:nvSpPr>
        <p:spPr>
          <a:xfrm>
            <a:off x="9937208" y="712470"/>
            <a:ext cx="1592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5" name="object 21"/>
          <p:cNvGrpSpPr/>
          <p:nvPr/>
        </p:nvGrpSpPr>
        <p:grpSpPr>
          <a:xfrm>
            <a:off x="3568700" y="501650"/>
            <a:ext cx="4495800" cy="5684520"/>
            <a:chOff x="558800" y="1104900"/>
            <a:chExt cx="4495800" cy="5684520"/>
          </a:xfrm>
        </p:grpSpPr>
        <p:pic>
          <p:nvPicPr>
            <p:cNvPr id="26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104900"/>
              <a:ext cx="3332034" cy="4707158"/>
            </a:xfrm>
            <a:prstGeom prst="rect">
              <a:avLst/>
            </a:prstGeom>
          </p:spPr>
        </p:pic>
        <p:pic>
          <p:nvPicPr>
            <p:cNvPr id="27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1100" y="4711700"/>
              <a:ext cx="2590800" cy="596900"/>
            </a:xfrm>
            <a:prstGeom prst="rect">
              <a:avLst/>
            </a:prstGeom>
          </p:spPr>
        </p:pic>
        <p:pic>
          <p:nvPicPr>
            <p:cNvPr id="28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7890" y="5842000"/>
              <a:ext cx="1233923" cy="946943"/>
            </a:xfrm>
            <a:prstGeom prst="rect">
              <a:avLst/>
            </a:prstGeom>
          </p:spPr>
        </p:pic>
        <p:pic>
          <p:nvPicPr>
            <p:cNvPr id="29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7300" y="5029200"/>
              <a:ext cx="1257300" cy="1079500"/>
            </a:xfrm>
            <a:prstGeom prst="rect">
              <a:avLst/>
            </a:prstGeom>
          </p:spPr>
        </p:pic>
        <p:sp>
          <p:nvSpPr>
            <p:cNvPr id="30" name="object 26"/>
            <p:cNvSpPr/>
            <p:nvPr/>
          </p:nvSpPr>
          <p:spPr>
            <a:xfrm>
              <a:off x="3890834" y="5105400"/>
              <a:ext cx="1062355" cy="878205"/>
            </a:xfrm>
            <a:custGeom>
              <a:avLst/>
              <a:gdLst/>
              <a:ahLst/>
              <a:cxnLst/>
              <a:rect l="l" t="t" r="r" b="b"/>
              <a:pathLst>
                <a:path w="1062354" h="878204">
                  <a:moveTo>
                    <a:pt x="0" y="0"/>
                  </a:moveTo>
                  <a:lnTo>
                    <a:pt x="1062166" y="877888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8700" y="4089399"/>
              <a:ext cx="1206500" cy="736600"/>
            </a:xfrm>
            <a:prstGeom prst="rect">
              <a:avLst/>
            </a:prstGeom>
          </p:spPr>
        </p:pic>
        <p:sp>
          <p:nvSpPr>
            <p:cNvPr id="32" name="object 28"/>
            <p:cNvSpPr/>
            <p:nvPr/>
          </p:nvSpPr>
          <p:spPr>
            <a:xfrm>
              <a:off x="3647409" y="4168953"/>
              <a:ext cx="1021715" cy="530225"/>
            </a:xfrm>
            <a:custGeom>
              <a:avLst/>
              <a:gdLst/>
              <a:ahLst/>
              <a:cxnLst/>
              <a:rect l="l" t="t" r="r" b="b"/>
              <a:pathLst>
                <a:path w="1021714" h="530225">
                  <a:moveTo>
                    <a:pt x="0" y="0"/>
                  </a:moveTo>
                  <a:lnTo>
                    <a:pt x="1021516" y="530046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54400" y="3098799"/>
              <a:ext cx="1282700" cy="368300"/>
            </a:xfrm>
            <a:prstGeom prst="rect">
              <a:avLst/>
            </a:prstGeom>
          </p:spPr>
        </p:pic>
        <p:sp>
          <p:nvSpPr>
            <p:cNvPr id="34" name="object 30"/>
            <p:cNvSpPr/>
            <p:nvPr/>
          </p:nvSpPr>
          <p:spPr>
            <a:xfrm>
              <a:off x="3524850" y="3175000"/>
              <a:ext cx="1115695" cy="168910"/>
            </a:xfrm>
            <a:custGeom>
              <a:avLst/>
              <a:gdLst/>
              <a:ahLst/>
              <a:cxnLst/>
              <a:rect l="l" t="t" r="r" b="b"/>
              <a:pathLst>
                <a:path w="1115695" h="168910">
                  <a:moveTo>
                    <a:pt x="0" y="168675"/>
                  </a:moveTo>
                  <a:lnTo>
                    <a:pt x="1115506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29000" y="1485899"/>
              <a:ext cx="1295400" cy="1092200"/>
            </a:xfrm>
            <a:prstGeom prst="rect">
              <a:avLst/>
            </a:prstGeom>
          </p:spPr>
        </p:pic>
        <p:sp>
          <p:nvSpPr>
            <p:cNvPr id="36" name="object 32"/>
            <p:cNvSpPr/>
            <p:nvPr/>
          </p:nvSpPr>
          <p:spPr>
            <a:xfrm>
              <a:off x="3512150" y="1562100"/>
              <a:ext cx="1115695" cy="904240"/>
            </a:xfrm>
            <a:custGeom>
              <a:avLst/>
              <a:gdLst/>
              <a:ahLst/>
              <a:cxnLst/>
              <a:rect l="l" t="t" r="r" b="b"/>
              <a:pathLst>
                <a:path w="1115695" h="904239">
                  <a:moveTo>
                    <a:pt x="0" y="903687"/>
                  </a:moveTo>
                  <a:lnTo>
                    <a:pt x="1115506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3"/>
          <p:cNvSpPr txBox="1"/>
          <p:nvPr/>
        </p:nvSpPr>
        <p:spPr>
          <a:xfrm>
            <a:off x="10364259" y="6364152"/>
            <a:ext cx="1648673" cy="14568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900" dirty="0">
                <a:latin typeface="Calibri"/>
                <a:cs typeface="Calibri"/>
              </a:rPr>
              <a:t>Based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materials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Andrew</a:t>
            </a:r>
            <a:r>
              <a:rPr sz="900" spc="-5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Ng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92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6BD5-CD8C-C0EF-0147-87151B6A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Scene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Labeling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via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Deep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982E1-AA2E-27D7-BC53-BF467805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3104-9FF0-F275-0DE7-A690C32B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67D06-65B8-8474-C29E-1A320CE9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8263" y="1028315"/>
            <a:ext cx="8247017" cy="3500772"/>
          </a:xfrm>
          <a:prstGeom prst="rect">
            <a:avLst/>
          </a:prstGeom>
        </p:spPr>
      </p:pic>
      <p:sp>
        <p:nvSpPr>
          <p:cNvPr id="8" name="object 4"/>
          <p:cNvSpPr txBox="1"/>
          <p:nvPr/>
        </p:nvSpPr>
        <p:spPr>
          <a:xfrm>
            <a:off x="10163600" y="6378291"/>
            <a:ext cx="17659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[Farabet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et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al.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ICML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2012,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PAMI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2013]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139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D341-FE4E-2797-F656-4E20F7EE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B9C98D-7651-B51B-273F-99A9644772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pc="-10" dirty="0">
                <a:latin typeface="Calibri"/>
                <a:cs typeface="Calibri"/>
              </a:rPr>
              <a:t>Types</a:t>
            </a:r>
            <a:r>
              <a:rPr lang="en-US" spc="-1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1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51F8B91-E65D-2A14-B1AE-3AFC2E534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954C-8B45-D594-7BAA-5F8CBCF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391F4-32BC-BB30-CB20-CC9E7221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FB2C3-0AE8-FB50-4238-4B7CAB13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620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991D-74F9-C2C8-2260-A59C4C4B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  <a:r>
              <a:rPr lang="en-US" spc="-95" dirty="0"/>
              <a:t> </a:t>
            </a:r>
            <a:r>
              <a:rPr lang="en-US" dirty="0"/>
              <a:t>of</a:t>
            </a:r>
            <a:r>
              <a:rPr lang="en-US" spc="-90" dirty="0"/>
              <a:t> </a:t>
            </a:r>
            <a:r>
              <a:rPr lang="en-US" spc="-10" dirty="0"/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BF9-926C-B0A6-DA6C-D38531789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3200" b="1" dirty="0">
                <a:latin typeface="Calibri"/>
                <a:cs typeface="Calibri"/>
              </a:rPr>
              <a:t>Supervised</a:t>
            </a:r>
            <a:r>
              <a:rPr lang="en-US" sz="3200" b="1" spc="-90" dirty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(inductive)</a:t>
            </a:r>
            <a:r>
              <a:rPr lang="en-US" sz="3200" b="1" spc="-80" dirty="0">
                <a:latin typeface="Calibri"/>
                <a:cs typeface="Calibri"/>
              </a:rPr>
              <a:t> </a:t>
            </a:r>
            <a:r>
              <a:rPr lang="en-US" sz="3200" b="1" spc="-10" dirty="0">
                <a:latin typeface="Calibri"/>
                <a:cs typeface="Calibri"/>
              </a:rPr>
              <a:t>learning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Given: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training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data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+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desired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outputs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(labels)</a:t>
            </a:r>
            <a:endParaRPr lang="en-US"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3200" b="1" dirty="0">
                <a:latin typeface="Calibri"/>
                <a:cs typeface="Calibri"/>
              </a:rPr>
              <a:t>Unsupervised</a:t>
            </a:r>
            <a:r>
              <a:rPr lang="en-US" sz="3200" b="1" spc="-35" dirty="0">
                <a:latin typeface="Calibri"/>
                <a:cs typeface="Calibri"/>
              </a:rPr>
              <a:t> </a:t>
            </a:r>
            <a:r>
              <a:rPr lang="en-US" sz="3200" b="1" spc="-10" dirty="0">
                <a:latin typeface="Calibri"/>
                <a:cs typeface="Calibri"/>
              </a:rPr>
              <a:t>learning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Given: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training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data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(without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desired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outputs)</a:t>
            </a:r>
            <a:endParaRPr lang="en-US"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3200" b="1" spc="-10" dirty="0">
                <a:latin typeface="Calibri"/>
                <a:cs typeface="Calibri"/>
              </a:rPr>
              <a:t>Semi-</a:t>
            </a:r>
            <a:r>
              <a:rPr lang="en-US" sz="3200" b="1" dirty="0">
                <a:latin typeface="Calibri"/>
                <a:cs typeface="Calibri"/>
              </a:rPr>
              <a:t>supervised</a:t>
            </a:r>
            <a:r>
              <a:rPr lang="en-US" sz="3200" b="1" spc="-15" dirty="0">
                <a:latin typeface="Calibri"/>
                <a:cs typeface="Calibri"/>
              </a:rPr>
              <a:t> </a:t>
            </a:r>
            <a:r>
              <a:rPr lang="en-US" sz="3200" b="1" spc="-10" dirty="0">
                <a:latin typeface="Calibri"/>
                <a:cs typeface="Calibri"/>
              </a:rPr>
              <a:t>learning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Given: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training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data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+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few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desired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outputs</a:t>
            </a:r>
            <a:endParaRPr lang="en-US"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3200" b="1" spc="-10" dirty="0">
                <a:latin typeface="Calibri"/>
                <a:cs typeface="Calibri"/>
              </a:rPr>
              <a:t>Reinforcement</a:t>
            </a:r>
            <a:r>
              <a:rPr lang="en-US" sz="3200" b="1" spc="-155" dirty="0">
                <a:latin typeface="Calibri"/>
                <a:cs typeface="Calibri"/>
              </a:rPr>
              <a:t> </a:t>
            </a:r>
            <a:r>
              <a:rPr lang="en-US" sz="3200" b="1" spc="-10" dirty="0">
                <a:latin typeface="Calibri"/>
                <a:cs typeface="Calibri"/>
              </a:rPr>
              <a:t>learning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spc="-10" dirty="0">
                <a:latin typeface="Calibri"/>
                <a:cs typeface="Calibri"/>
              </a:rPr>
              <a:t>Rewards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sequence</a:t>
            </a:r>
            <a:r>
              <a:rPr lang="en-US" sz="2800" spc="-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actions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28CE6-9AC0-E2C7-926B-0CFED149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0FB6A-331D-C161-34DD-76F16B58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99378-F647-CD50-E1A8-227548D3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030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9CDB-26D7-FB27-5264-33F3E7E1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Supervised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Learning: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5A9A-C959-2C35-C17F-51C9CF24B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347869"/>
          </a:xfrm>
        </p:spPr>
        <p:txBody>
          <a:bodyPr/>
          <a:lstStyle/>
          <a:p>
            <a:pPr marL="3676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1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1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2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2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...,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 err="1">
                <a:latin typeface="Georgia"/>
                <a:cs typeface="Georgia"/>
              </a:rPr>
              <a:t>x</a:t>
            </a:r>
            <a:r>
              <a:rPr lang="en-US" spc="82" baseline="-18518" dirty="0" err="1">
                <a:latin typeface="Calibri"/>
                <a:cs typeface="Calibri"/>
              </a:rPr>
              <a:t>n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5" dirty="0" err="1">
                <a:latin typeface="Georgia"/>
                <a:cs typeface="Georgia"/>
              </a:rPr>
              <a:t>y</a:t>
            </a:r>
            <a:r>
              <a:rPr lang="en-US" spc="-37" baseline="-18518" dirty="0" err="1">
                <a:latin typeface="Calibri"/>
                <a:cs typeface="Calibri"/>
              </a:rPr>
              <a:t>n</a:t>
            </a:r>
            <a:r>
              <a:rPr lang="en-US" spc="-25" dirty="0">
                <a:latin typeface="Calibri"/>
                <a:cs typeface="Calibri"/>
              </a:rPr>
              <a:t>)</a:t>
            </a:r>
            <a:endParaRPr lang="en-US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function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f</a:t>
            </a:r>
            <a:r>
              <a:rPr lang="en-US" spc="170" dirty="0">
                <a:latin typeface="Calibri"/>
                <a:cs typeface="Calibri"/>
              </a:rPr>
              <a:t>(</a:t>
            </a:r>
            <a:r>
              <a:rPr lang="en-US" i="1" spc="170" dirty="0">
                <a:latin typeface="Georgia"/>
                <a:cs typeface="Georgia"/>
              </a:rPr>
              <a:t>x</a:t>
            </a:r>
            <a:r>
              <a:rPr lang="en-US" spc="170" dirty="0">
                <a:latin typeface="Calibri"/>
                <a:cs typeface="Calibri"/>
              </a:rPr>
              <a:t>)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predict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-240" dirty="0">
                <a:latin typeface="Georgia"/>
                <a:cs typeface="Georgia"/>
              </a:rPr>
              <a:t>y</a:t>
            </a:r>
            <a:r>
              <a:rPr lang="en-US" i="1" spc="-45" dirty="0">
                <a:latin typeface="Georgia"/>
                <a:cs typeface="Georgia"/>
              </a:rPr>
              <a:t> </a:t>
            </a: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x</a:t>
            </a:r>
            <a:endParaRPr lang="en-US" dirty="0">
              <a:latin typeface="Georgia"/>
              <a:cs typeface="Georgia"/>
            </a:endParaRPr>
          </a:p>
          <a:p>
            <a:pPr marL="482600">
              <a:lnSpc>
                <a:spcPct val="100000"/>
              </a:lnSpc>
              <a:spcBef>
                <a:spcPts val="760"/>
              </a:spcBef>
            </a:pPr>
            <a:r>
              <a:rPr lang="en-US" sz="1800" dirty="0">
                <a:latin typeface="Arial MT"/>
                <a:cs typeface="Arial MT"/>
              </a:rPr>
              <a:t>–</a:t>
            </a:r>
            <a:r>
              <a:rPr lang="en-US" sz="1800" spc="-130" dirty="0">
                <a:latin typeface="Arial MT"/>
                <a:cs typeface="Arial MT"/>
              </a:rPr>
              <a:t> </a:t>
            </a:r>
            <a:r>
              <a:rPr lang="en-US" sz="1800" i="1" spc="-210" dirty="0">
                <a:latin typeface="Georgia"/>
                <a:cs typeface="Georgia"/>
              </a:rPr>
              <a:t>y</a:t>
            </a:r>
            <a:r>
              <a:rPr lang="en-US" sz="1800" i="1" spc="-40" dirty="0">
                <a:latin typeface="Georgia"/>
                <a:cs typeface="Georgia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10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real-</a:t>
            </a:r>
            <a:r>
              <a:rPr lang="en-US" sz="1800" dirty="0">
                <a:latin typeface="Calibri"/>
                <a:cs typeface="Calibri"/>
              </a:rPr>
              <a:t>valued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==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regression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E0AA2-38DB-C9FB-974F-29C20E49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8C31E-6C85-803E-DD7A-3CBB22C1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2EEB9-0349-C6F8-B3DF-DF87F0BE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7" name="object 4"/>
          <p:cNvGrpSpPr/>
          <p:nvPr/>
        </p:nvGrpSpPr>
        <p:grpSpPr>
          <a:xfrm>
            <a:off x="5076554" y="2394902"/>
            <a:ext cx="4997450" cy="2836545"/>
            <a:chOff x="2331339" y="3096196"/>
            <a:chExt cx="4997450" cy="2836545"/>
          </a:xfrm>
        </p:grpSpPr>
        <p:sp>
          <p:nvSpPr>
            <p:cNvPr id="8" name="object 5"/>
            <p:cNvSpPr/>
            <p:nvPr/>
          </p:nvSpPr>
          <p:spPr>
            <a:xfrm>
              <a:off x="2394119" y="3102546"/>
              <a:ext cx="4928235" cy="2460625"/>
            </a:xfrm>
            <a:custGeom>
              <a:avLst/>
              <a:gdLst/>
              <a:ahLst/>
              <a:cxnLst/>
              <a:rect l="l" t="t" r="r" b="b"/>
              <a:pathLst>
                <a:path w="4928234" h="2460625">
                  <a:moveTo>
                    <a:pt x="0" y="2460054"/>
                  </a:moveTo>
                  <a:lnTo>
                    <a:pt x="4928193" y="2460054"/>
                  </a:lnTo>
                </a:path>
                <a:path w="4928234" h="2460625">
                  <a:moveTo>
                    <a:pt x="0" y="2155254"/>
                  </a:moveTo>
                  <a:lnTo>
                    <a:pt x="4928193" y="2155254"/>
                  </a:lnTo>
                </a:path>
                <a:path w="4928234" h="2460625">
                  <a:moveTo>
                    <a:pt x="0" y="1850454"/>
                  </a:moveTo>
                  <a:lnTo>
                    <a:pt x="4928193" y="1850454"/>
                  </a:lnTo>
                </a:path>
                <a:path w="4928234" h="2460625">
                  <a:moveTo>
                    <a:pt x="0" y="1532954"/>
                  </a:moveTo>
                  <a:lnTo>
                    <a:pt x="4928193" y="1532954"/>
                  </a:lnTo>
                </a:path>
                <a:path w="4928234" h="2460625">
                  <a:moveTo>
                    <a:pt x="0" y="1228154"/>
                  </a:moveTo>
                  <a:lnTo>
                    <a:pt x="4928193" y="1228154"/>
                  </a:lnTo>
                </a:path>
                <a:path w="4928234" h="2460625">
                  <a:moveTo>
                    <a:pt x="0" y="923354"/>
                  </a:moveTo>
                  <a:lnTo>
                    <a:pt x="4928193" y="923354"/>
                  </a:lnTo>
                </a:path>
                <a:path w="4928234" h="2460625">
                  <a:moveTo>
                    <a:pt x="0" y="618554"/>
                  </a:moveTo>
                  <a:lnTo>
                    <a:pt x="4928193" y="618554"/>
                  </a:lnTo>
                </a:path>
                <a:path w="4928234" h="2460625">
                  <a:moveTo>
                    <a:pt x="0" y="313754"/>
                  </a:moveTo>
                  <a:lnTo>
                    <a:pt x="4928193" y="313754"/>
                  </a:lnTo>
                </a:path>
                <a:path w="4928234" h="2460625">
                  <a:moveTo>
                    <a:pt x="0" y="0"/>
                  </a:moveTo>
                  <a:lnTo>
                    <a:pt x="4928193" y="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2394119" y="3102546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h="2767329">
                  <a:moveTo>
                    <a:pt x="0" y="2767183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2337689" y="3102546"/>
              <a:ext cx="56515" cy="2767330"/>
            </a:xfrm>
            <a:custGeom>
              <a:avLst/>
              <a:gdLst/>
              <a:ahLst/>
              <a:cxnLst/>
              <a:rect l="l" t="t" r="r" b="b"/>
              <a:pathLst>
                <a:path w="56514" h="2767329">
                  <a:moveTo>
                    <a:pt x="0" y="2767183"/>
                  </a:moveTo>
                  <a:lnTo>
                    <a:pt x="56430" y="2767183"/>
                  </a:lnTo>
                </a:path>
                <a:path w="56514" h="2767329">
                  <a:moveTo>
                    <a:pt x="0" y="2460054"/>
                  </a:moveTo>
                  <a:lnTo>
                    <a:pt x="56430" y="2460054"/>
                  </a:lnTo>
                </a:path>
                <a:path w="56514" h="2767329">
                  <a:moveTo>
                    <a:pt x="0" y="2155254"/>
                  </a:moveTo>
                  <a:lnTo>
                    <a:pt x="56430" y="2155254"/>
                  </a:lnTo>
                </a:path>
                <a:path w="56514" h="2767329">
                  <a:moveTo>
                    <a:pt x="0" y="1850454"/>
                  </a:moveTo>
                  <a:lnTo>
                    <a:pt x="56430" y="1850454"/>
                  </a:lnTo>
                </a:path>
                <a:path w="56514" h="2767329">
                  <a:moveTo>
                    <a:pt x="0" y="1532954"/>
                  </a:moveTo>
                  <a:lnTo>
                    <a:pt x="56430" y="1532954"/>
                  </a:lnTo>
                </a:path>
                <a:path w="56514" h="2767329">
                  <a:moveTo>
                    <a:pt x="0" y="1228154"/>
                  </a:moveTo>
                  <a:lnTo>
                    <a:pt x="56430" y="1228154"/>
                  </a:lnTo>
                </a:path>
                <a:path w="56514" h="2767329">
                  <a:moveTo>
                    <a:pt x="0" y="923354"/>
                  </a:moveTo>
                  <a:lnTo>
                    <a:pt x="56430" y="923354"/>
                  </a:lnTo>
                </a:path>
                <a:path w="56514" h="2767329">
                  <a:moveTo>
                    <a:pt x="0" y="618554"/>
                  </a:moveTo>
                  <a:lnTo>
                    <a:pt x="56430" y="618554"/>
                  </a:lnTo>
                </a:path>
                <a:path w="56514" h="2767329">
                  <a:moveTo>
                    <a:pt x="0" y="313754"/>
                  </a:moveTo>
                  <a:lnTo>
                    <a:pt x="56430" y="313754"/>
                  </a:lnTo>
                </a:path>
                <a:path w="56514" h="2767329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/>
            <p:cNvSpPr/>
            <p:nvPr/>
          </p:nvSpPr>
          <p:spPr>
            <a:xfrm>
              <a:off x="2394119" y="5869728"/>
              <a:ext cx="4928235" cy="56515"/>
            </a:xfrm>
            <a:custGeom>
              <a:avLst/>
              <a:gdLst/>
              <a:ahLst/>
              <a:cxnLst/>
              <a:rect l="l" t="t" r="r" b="b"/>
              <a:pathLst>
                <a:path w="4928234" h="56514">
                  <a:moveTo>
                    <a:pt x="0" y="0"/>
                  </a:moveTo>
                  <a:lnTo>
                    <a:pt x="4928193" y="1"/>
                  </a:lnTo>
                </a:path>
                <a:path w="4928234" h="56514">
                  <a:moveTo>
                    <a:pt x="0" y="0"/>
                  </a:moveTo>
                  <a:lnTo>
                    <a:pt x="0" y="56430"/>
                  </a:lnTo>
                </a:path>
                <a:path w="4928234" h="56514">
                  <a:moveTo>
                    <a:pt x="984081" y="0"/>
                  </a:moveTo>
                  <a:lnTo>
                    <a:pt x="984081" y="56430"/>
                  </a:lnTo>
                </a:path>
                <a:path w="4928234" h="56514">
                  <a:moveTo>
                    <a:pt x="1974681" y="0"/>
                  </a:moveTo>
                  <a:lnTo>
                    <a:pt x="1974681" y="56430"/>
                  </a:lnTo>
                </a:path>
                <a:path w="4928234" h="56514">
                  <a:moveTo>
                    <a:pt x="2952581" y="0"/>
                  </a:moveTo>
                  <a:lnTo>
                    <a:pt x="2952581" y="56430"/>
                  </a:lnTo>
                </a:path>
                <a:path w="4928234" h="56514">
                  <a:moveTo>
                    <a:pt x="3943181" y="0"/>
                  </a:moveTo>
                  <a:lnTo>
                    <a:pt x="3943181" y="56430"/>
                  </a:lnTo>
                </a:path>
                <a:path w="4928234" h="56514">
                  <a:moveTo>
                    <a:pt x="4928193" y="0"/>
                  </a:moveTo>
                  <a:lnTo>
                    <a:pt x="4928193" y="5643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300" y="3556000"/>
              <a:ext cx="241300" cy="241300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3900" y="3365499"/>
              <a:ext cx="241300" cy="241300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3543300"/>
              <a:ext cx="241300" cy="241300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4400" y="3479799"/>
              <a:ext cx="241300" cy="241300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6000" y="3467099"/>
              <a:ext cx="241300" cy="241300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568700"/>
              <a:ext cx="241300" cy="241300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6500" y="3644900"/>
              <a:ext cx="241300" cy="241300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100" y="3454399"/>
              <a:ext cx="241300" cy="241300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9700" y="3479799"/>
              <a:ext cx="241300" cy="241300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300" y="3467099"/>
              <a:ext cx="241300" cy="241300"/>
            </a:xfrm>
            <a:prstGeom prst="rect">
              <a:avLst/>
            </a:prstGeom>
          </p:spPr>
        </p:pic>
        <p:pic>
          <p:nvPicPr>
            <p:cNvPr id="22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0200" y="36068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800" y="3860800"/>
              <a:ext cx="241300" cy="241300"/>
            </a:xfrm>
            <a:prstGeom prst="rect">
              <a:avLst/>
            </a:prstGeom>
          </p:spPr>
        </p:pic>
        <p:pic>
          <p:nvPicPr>
            <p:cNvPr id="24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3759200"/>
              <a:ext cx="241300" cy="241300"/>
            </a:xfrm>
            <a:prstGeom prst="rect">
              <a:avLst/>
            </a:prstGeom>
          </p:spPr>
        </p:pic>
        <p:pic>
          <p:nvPicPr>
            <p:cNvPr id="25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000" y="3454399"/>
              <a:ext cx="241300" cy="241300"/>
            </a:xfrm>
            <a:prstGeom prst="rect">
              <a:avLst/>
            </a:prstGeom>
          </p:spPr>
        </p:pic>
        <p:pic>
          <p:nvPicPr>
            <p:cNvPr id="26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6600" y="3771900"/>
              <a:ext cx="241300" cy="241300"/>
            </a:xfrm>
            <a:prstGeom prst="rect">
              <a:avLst/>
            </a:prstGeom>
          </p:spPr>
        </p:pic>
        <p:pic>
          <p:nvPicPr>
            <p:cNvPr id="27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5500" y="356870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3886200"/>
              <a:ext cx="241300" cy="241300"/>
            </a:xfrm>
            <a:prstGeom prst="rect">
              <a:avLst/>
            </a:prstGeom>
          </p:spPr>
        </p:pic>
        <p:pic>
          <p:nvPicPr>
            <p:cNvPr id="29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700" y="3352799"/>
              <a:ext cx="241300" cy="241300"/>
            </a:xfrm>
            <a:prstGeom prst="rect">
              <a:avLst/>
            </a:prstGeom>
          </p:spPr>
        </p:pic>
        <p:pic>
          <p:nvPicPr>
            <p:cNvPr id="30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0" y="3708400"/>
              <a:ext cx="241300" cy="241300"/>
            </a:xfrm>
            <a:prstGeom prst="rect">
              <a:avLst/>
            </a:prstGeom>
          </p:spPr>
        </p:pic>
        <p:pic>
          <p:nvPicPr>
            <p:cNvPr id="31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759200"/>
              <a:ext cx="241300" cy="241300"/>
            </a:xfrm>
            <a:prstGeom prst="rect">
              <a:avLst/>
            </a:prstGeom>
          </p:spPr>
        </p:pic>
        <p:pic>
          <p:nvPicPr>
            <p:cNvPr id="32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0800" y="3860800"/>
              <a:ext cx="241300" cy="241300"/>
            </a:xfrm>
            <a:prstGeom prst="rect">
              <a:avLst/>
            </a:prstGeom>
          </p:spPr>
        </p:pic>
        <p:pic>
          <p:nvPicPr>
            <p:cNvPr id="33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2400" y="383540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3695700"/>
              <a:ext cx="241300" cy="241300"/>
            </a:xfrm>
            <a:prstGeom prst="rect">
              <a:avLst/>
            </a:prstGeom>
          </p:spPr>
        </p:pic>
        <p:pic>
          <p:nvPicPr>
            <p:cNvPr id="35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2900" y="393700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0" y="3886200"/>
              <a:ext cx="241300" cy="241300"/>
            </a:xfrm>
            <a:prstGeom prst="rect">
              <a:avLst/>
            </a:prstGeom>
          </p:spPr>
        </p:pic>
        <p:pic>
          <p:nvPicPr>
            <p:cNvPr id="37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6100" y="3911600"/>
              <a:ext cx="241300" cy="241300"/>
            </a:xfrm>
            <a:prstGeom prst="rect">
              <a:avLst/>
            </a:prstGeom>
          </p:spPr>
        </p:pic>
        <p:pic>
          <p:nvPicPr>
            <p:cNvPr id="38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700" y="4064000"/>
              <a:ext cx="241300" cy="241300"/>
            </a:xfrm>
            <a:prstGeom prst="rect">
              <a:avLst/>
            </a:prstGeom>
          </p:spPr>
        </p:pic>
        <p:pic>
          <p:nvPicPr>
            <p:cNvPr id="39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6600" y="3949700"/>
              <a:ext cx="241300" cy="241300"/>
            </a:xfrm>
            <a:prstGeom prst="rect">
              <a:avLst/>
            </a:prstGeom>
          </p:spPr>
        </p:pic>
        <p:pic>
          <p:nvPicPr>
            <p:cNvPr id="40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8200" y="4457700"/>
              <a:ext cx="241300" cy="241300"/>
            </a:xfrm>
            <a:prstGeom prst="rect">
              <a:avLst/>
            </a:prstGeom>
          </p:spPr>
        </p:pic>
        <p:pic>
          <p:nvPicPr>
            <p:cNvPr id="41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0" y="4330700"/>
              <a:ext cx="241300" cy="241300"/>
            </a:xfrm>
            <a:prstGeom prst="rect">
              <a:avLst/>
            </a:prstGeom>
          </p:spPr>
        </p:pic>
        <p:pic>
          <p:nvPicPr>
            <p:cNvPr id="42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400" y="4127500"/>
              <a:ext cx="241300" cy="241300"/>
            </a:xfrm>
            <a:prstGeom prst="rect">
              <a:avLst/>
            </a:prstGeom>
          </p:spPr>
        </p:pic>
        <p:pic>
          <p:nvPicPr>
            <p:cNvPr id="43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4267200"/>
              <a:ext cx="241300" cy="241300"/>
            </a:xfrm>
            <a:prstGeom prst="rect">
              <a:avLst/>
            </a:prstGeom>
          </p:spPr>
        </p:pic>
        <p:pic>
          <p:nvPicPr>
            <p:cNvPr id="44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1900" y="4356100"/>
              <a:ext cx="241300" cy="241300"/>
            </a:xfrm>
            <a:prstGeom prst="rect">
              <a:avLst/>
            </a:prstGeom>
          </p:spPr>
        </p:pic>
        <p:pic>
          <p:nvPicPr>
            <p:cNvPr id="45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3500" y="4660900"/>
              <a:ext cx="241300" cy="241300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5325" y="3597275"/>
              <a:ext cx="101600" cy="101600"/>
            </a:xfrm>
            <a:prstGeom prst="rect">
              <a:avLst/>
            </a:prstGeom>
          </p:spPr>
        </p:pic>
        <p:sp>
          <p:nvSpPr>
            <p:cNvPr id="47" name="object 44"/>
            <p:cNvSpPr/>
            <p:nvPr/>
          </p:nvSpPr>
          <p:spPr>
            <a:xfrm>
              <a:off x="3235325" y="3597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6925" y="3406774"/>
              <a:ext cx="101600" cy="101600"/>
            </a:xfrm>
            <a:prstGeom prst="rect">
              <a:avLst/>
            </a:prstGeom>
          </p:spPr>
        </p:pic>
        <p:sp>
          <p:nvSpPr>
            <p:cNvPr id="49" name="object 46"/>
            <p:cNvSpPr/>
            <p:nvPr/>
          </p:nvSpPr>
          <p:spPr>
            <a:xfrm>
              <a:off x="3336925" y="34067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5825" y="3584575"/>
              <a:ext cx="101600" cy="101600"/>
            </a:xfrm>
            <a:prstGeom prst="rect">
              <a:avLst/>
            </a:prstGeom>
          </p:spPr>
        </p:pic>
        <p:sp>
          <p:nvSpPr>
            <p:cNvPr id="51" name="object 48"/>
            <p:cNvSpPr/>
            <p:nvPr/>
          </p:nvSpPr>
          <p:spPr>
            <a:xfrm>
              <a:off x="3425825" y="35845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7425" y="3521074"/>
              <a:ext cx="101600" cy="101600"/>
            </a:xfrm>
            <a:prstGeom prst="rect">
              <a:avLst/>
            </a:prstGeom>
          </p:spPr>
        </p:pic>
        <p:sp>
          <p:nvSpPr>
            <p:cNvPr id="53" name="object 50"/>
            <p:cNvSpPr/>
            <p:nvPr/>
          </p:nvSpPr>
          <p:spPr>
            <a:xfrm>
              <a:off x="35274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9025" y="3508375"/>
              <a:ext cx="101600" cy="101600"/>
            </a:xfrm>
            <a:prstGeom prst="rect">
              <a:avLst/>
            </a:prstGeom>
          </p:spPr>
        </p:pic>
        <p:sp>
          <p:nvSpPr>
            <p:cNvPr id="55" name="object 52"/>
            <p:cNvSpPr/>
            <p:nvPr/>
          </p:nvSpPr>
          <p:spPr>
            <a:xfrm>
              <a:off x="36290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0625" y="3609974"/>
              <a:ext cx="101600" cy="101600"/>
            </a:xfrm>
            <a:prstGeom prst="rect">
              <a:avLst/>
            </a:prstGeom>
          </p:spPr>
        </p:pic>
        <p:sp>
          <p:nvSpPr>
            <p:cNvPr id="57" name="object 54"/>
            <p:cNvSpPr/>
            <p:nvPr/>
          </p:nvSpPr>
          <p:spPr>
            <a:xfrm>
              <a:off x="37306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525" y="3686175"/>
              <a:ext cx="101600" cy="101600"/>
            </a:xfrm>
            <a:prstGeom prst="rect">
              <a:avLst/>
            </a:prstGeom>
          </p:spPr>
        </p:pic>
        <p:sp>
          <p:nvSpPr>
            <p:cNvPr id="59" name="object 56"/>
            <p:cNvSpPr/>
            <p:nvPr/>
          </p:nvSpPr>
          <p:spPr>
            <a:xfrm>
              <a:off x="3819525" y="3686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1125" y="3495674"/>
              <a:ext cx="101600" cy="101600"/>
            </a:xfrm>
            <a:prstGeom prst="rect">
              <a:avLst/>
            </a:prstGeom>
          </p:spPr>
        </p:pic>
        <p:sp>
          <p:nvSpPr>
            <p:cNvPr id="61" name="object 58"/>
            <p:cNvSpPr/>
            <p:nvPr/>
          </p:nvSpPr>
          <p:spPr>
            <a:xfrm>
              <a:off x="39211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2725" y="3521074"/>
              <a:ext cx="101600" cy="101600"/>
            </a:xfrm>
            <a:prstGeom prst="rect">
              <a:avLst/>
            </a:prstGeom>
          </p:spPr>
        </p:pic>
        <p:sp>
          <p:nvSpPr>
            <p:cNvPr id="63" name="object 60"/>
            <p:cNvSpPr/>
            <p:nvPr/>
          </p:nvSpPr>
          <p:spPr>
            <a:xfrm>
              <a:off x="40227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4325" y="3508375"/>
              <a:ext cx="101600" cy="101600"/>
            </a:xfrm>
            <a:prstGeom prst="rect">
              <a:avLst/>
            </a:prstGeom>
          </p:spPr>
        </p:pic>
        <p:sp>
          <p:nvSpPr>
            <p:cNvPr id="65" name="object 62"/>
            <p:cNvSpPr/>
            <p:nvPr/>
          </p:nvSpPr>
          <p:spPr>
            <a:xfrm>
              <a:off x="41243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3225" y="3648074"/>
              <a:ext cx="101600" cy="101600"/>
            </a:xfrm>
            <a:prstGeom prst="rect">
              <a:avLst/>
            </a:prstGeom>
          </p:spPr>
        </p:pic>
        <p:sp>
          <p:nvSpPr>
            <p:cNvPr id="67" name="object 64"/>
            <p:cNvSpPr/>
            <p:nvPr/>
          </p:nvSpPr>
          <p:spPr>
            <a:xfrm>
              <a:off x="4213225" y="3648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3902074"/>
              <a:ext cx="101600" cy="101600"/>
            </a:xfrm>
            <a:prstGeom prst="rect">
              <a:avLst/>
            </a:prstGeom>
          </p:spPr>
        </p:pic>
        <p:sp>
          <p:nvSpPr>
            <p:cNvPr id="69" name="object 66"/>
            <p:cNvSpPr/>
            <p:nvPr/>
          </p:nvSpPr>
          <p:spPr>
            <a:xfrm>
              <a:off x="4314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6425" y="3800475"/>
              <a:ext cx="101600" cy="101600"/>
            </a:xfrm>
            <a:prstGeom prst="rect">
              <a:avLst/>
            </a:prstGeom>
          </p:spPr>
        </p:pic>
        <p:sp>
          <p:nvSpPr>
            <p:cNvPr id="71" name="object 68"/>
            <p:cNvSpPr/>
            <p:nvPr/>
          </p:nvSpPr>
          <p:spPr>
            <a:xfrm>
              <a:off x="44164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8025" y="3495674"/>
              <a:ext cx="101600" cy="101600"/>
            </a:xfrm>
            <a:prstGeom prst="rect">
              <a:avLst/>
            </a:prstGeom>
          </p:spPr>
        </p:pic>
        <p:sp>
          <p:nvSpPr>
            <p:cNvPr id="73" name="object 70"/>
            <p:cNvSpPr/>
            <p:nvPr/>
          </p:nvSpPr>
          <p:spPr>
            <a:xfrm>
              <a:off x="45180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9625" y="3813175"/>
              <a:ext cx="101600" cy="101600"/>
            </a:xfrm>
            <a:prstGeom prst="rect">
              <a:avLst/>
            </a:prstGeom>
          </p:spPr>
        </p:pic>
        <p:sp>
          <p:nvSpPr>
            <p:cNvPr id="75" name="object 72"/>
            <p:cNvSpPr/>
            <p:nvPr/>
          </p:nvSpPr>
          <p:spPr>
            <a:xfrm>
              <a:off x="4619625" y="3813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8525" y="3609974"/>
              <a:ext cx="101600" cy="101600"/>
            </a:xfrm>
            <a:prstGeom prst="rect">
              <a:avLst/>
            </a:prstGeom>
          </p:spPr>
        </p:pic>
        <p:sp>
          <p:nvSpPr>
            <p:cNvPr id="77" name="object 74"/>
            <p:cNvSpPr/>
            <p:nvPr/>
          </p:nvSpPr>
          <p:spPr>
            <a:xfrm>
              <a:off x="47085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0125" y="3927475"/>
              <a:ext cx="101600" cy="101600"/>
            </a:xfrm>
            <a:prstGeom prst="rect">
              <a:avLst/>
            </a:prstGeom>
          </p:spPr>
        </p:pic>
        <p:sp>
          <p:nvSpPr>
            <p:cNvPr id="79" name="object 76"/>
            <p:cNvSpPr/>
            <p:nvPr/>
          </p:nvSpPr>
          <p:spPr>
            <a:xfrm>
              <a:off x="48101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1725" y="3394074"/>
              <a:ext cx="101600" cy="101600"/>
            </a:xfrm>
            <a:prstGeom prst="rect">
              <a:avLst/>
            </a:prstGeom>
          </p:spPr>
        </p:pic>
        <p:sp>
          <p:nvSpPr>
            <p:cNvPr id="81" name="object 78"/>
            <p:cNvSpPr/>
            <p:nvPr/>
          </p:nvSpPr>
          <p:spPr>
            <a:xfrm>
              <a:off x="4911725" y="33940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3325" y="3749674"/>
              <a:ext cx="101600" cy="101600"/>
            </a:xfrm>
            <a:prstGeom prst="rect">
              <a:avLst/>
            </a:prstGeom>
          </p:spPr>
        </p:pic>
        <p:sp>
          <p:nvSpPr>
            <p:cNvPr id="83" name="object 80"/>
            <p:cNvSpPr/>
            <p:nvPr/>
          </p:nvSpPr>
          <p:spPr>
            <a:xfrm>
              <a:off x="5013325" y="3749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2225" y="3800475"/>
              <a:ext cx="101600" cy="101600"/>
            </a:xfrm>
            <a:prstGeom prst="rect">
              <a:avLst/>
            </a:prstGeom>
          </p:spPr>
        </p:pic>
        <p:sp>
          <p:nvSpPr>
            <p:cNvPr id="85" name="object 82"/>
            <p:cNvSpPr/>
            <p:nvPr/>
          </p:nvSpPr>
          <p:spPr>
            <a:xfrm>
              <a:off x="51022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3825" y="3902074"/>
              <a:ext cx="101600" cy="101600"/>
            </a:xfrm>
            <a:prstGeom prst="rect">
              <a:avLst/>
            </a:prstGeom>
          </p:spPr>
        </p:pic>
        <p:sp>
          <p:nvSpPr>
            <p:cNvPr id="87" name="object 84"/>
            <p:cNvSpPr/>
            <p:nvPr/>
          </p:nvSpPr>
          <p:spPr>
            <a:xfrm>
              <a:off x="5203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5425" y="3876674"/>
              <a:ext cx="101600" cy="101600"/>
            </a:xfrm>
            <a:prstGeom prst="rect">
              <a:avLst/>
            </a:prstGeom>
          </p:spPr>
        </p:pic>
        <p:sp>
          <p:nvSpPr>
            <p:cNvPr id="89" name="object 86"/>
            <p:cNvSpPr/>
            <p:nvPr/>
          </p:nvSpPr>
          <p:spPr>
            <a:xfrm>
              <a:off x="5305425" y="3876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7024" y="3736974"/>
              <a:ext cx="101600" cy="101600"/>
            </a:xfrm>
            <a:prstGeom prst="rect">
              <a:avLst/>
            </a:prstGeom>
          </p:spPr>
        </p:pic>
        <p:sp>
          <p:nvSpPr>
            <p:cNvPr id="91" name="object 88"/>
            <p:cNvSpPr/>
            <p:nvPr/>
          </p:nvSpPr>
          <p:spPr>
            <a:xfrm>
              <a:off x="5407025" y="3736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25" y="3978275"/>
              <a:ext cx="101600" cy="101600"/>
            </a:xfrm>
            <a:prstGeom prst="rect">
              <a:avLst/>
            </a:prstGeom>
          </p:spPr>
        </p:pic>
        <p:sp>
          <p:nvSpPr>
            <p:cNvPr id="93" name="object 90"/>
            <p:cNvSpPr/>
            <p:nvPr/>
          </p:nvSpPr>
          <p:spPr>
            <a:xfrm>
              <a:off x="5495925" y="397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525" y="3927475"/>
              <a:ext cx="101600" cy="101600"/>
            </a:xfrm>
            <a:prstGeom prst="rect">
              <a:avLst/>
            </a:prstGeom>
          </p:spPr>
        </p:pic>
        <p:sp>
          <p:nvSpPr>
            <p:cNvPr id="95" name="object 92"/>
            <p:cNvSpPr/>
            <p:nvPr/>
          </p:nvSpPr>
          <p:spPr>
            <a:xfrm>
              <a:off x="55975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9125" y="3952874"/>
              <a:ext cx="101600" cy="101600"/>
            </a:xfrm>
            <a:prstGeom prst="rect">
              <a:avLst/>
            </a:prstGeom>
          </p:spPr>
        </p:pic>
        <p:sp>
          <p:nvSpPr>
            <p:cNvPr id="97" name="object 94"/>
            <p:cNvSpPr/>
            <p:nvPr/>
          </p:nvSpPr>
          <p:spPr>
            <a:xfrm>
              <a:off x="5699125" y="39528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0725" y="4105275"/>
              <a:ext cx="101600" cy="101600"/>
            </a:xfrm>
            <a:prstGeom prst="rect">
              <a:avLst/>
            </a:prstGeom>
          </p:spPr>
        </p:pic>
        <p:sp>
          <p:nvSpPr>
            <p:cNvPr id="99" name="object 96"/>
            <p:cNvSpPr/>
            <p:nvPr/>
          </p:nvSpPr>
          <p:spPr>
            <a:xfrm>
              <a:off x="5800725" y="4105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9625" y="3990974"/>
              <a:ext cx="101600" cy="101600"/>
            </a:xfrm>
            <a:prstGeom prst="rect">
              <a:avLst/>
            </a:prstGeom>
          </p:spPr>
        </p:pic>
        <p:sp>
          <p:nvSpPr>
            <p:cNvPr id="101" name="object 98"/>
            <p:cNvSpPr/>
            <p:nvPr/>
          </p:nvSpPr>
          <p:spPr>
            <a:xfrm>
              <a:off x="5889625" y="3990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225" y="4498975"/>
              <a:ext cx="101600" cy="101600"/>
            </a:xfrm>
            <a:prstGeom prst="rect">
              <a:avLst/>
            </a:prstGeom>
          </p:spPr>
        </p:pic>
        <p:sp>
          <p:nvSpPr>
            <p:cNvPr id="103" name="object 100"/>
            <p:cNvSpPr/>
            <p:nvPr/>
          </p:nvSpPr>
          <p:spPr>
            <a:xfrm>
              <a:off x="5991225" y="449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2825" y="4371975"/>
              <a:ext cx="101600" cy="101600"/>
            </a:xfrm>
            <a:prstGeom prst="rect">
              <a:avLst/>
            </a:prstGeom>
          </p:spPr>
        </p:pic>
        <p:sp>
          <p:nvSpPr>
            <p:cNvPr id="105" name="object 102"/>
            <p:cNvSpPr/>
            <p:nvPr/>
          </p:nvSpPr>
          <p:spPr>
            <a:xfrm>
              <a:off x="6092825" y="4371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4425" y="4168774"/>
              <a:ext cx="101600" cy="101600"/>
            </a:xfrm>
            <a:prstGeom prst="rect">
              <a:avLst/>
            </a:prstGeom>
          </p:spPr>
        </p:pic>
        <p:sp>
          <p:nvSpPr>
            <p:cNvPr id="107" name="object 104"/>
            <p:cNvSpPr/>
            <p:nvPr/>
          </p:nvSpPr>
          <p:spPr>
            <a:xfrm>
              <a:off x="6194425" y="41687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3325" y="4308475"/>
              <a:ext cx="101600" cy="101600"/>
            </a:xfrm>
            <a:prstGeom prst="rect">
              <a:avLst/>
            </a:prstGeom>
          </p:spPr>
        </p:pic>
        <p:sp>
          <p:nvSpPr>
            <p:cNvPr id="109" name="object 106"/>
            <p:cNvSpPr/>
            <p:nvPr/>
          </p:nvSpPr>
          <p:spPr>
            <a:xfrm>
              <a:off x="6283325" y="4308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0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4925" y="4397374"/>
              <a:ext cx="101600" cy="101600"/>
            </a:xfrm>
            <a:prstGeom prst="rect">
              <a:avLst/>
            </a:prstGeom>
          </p:spPr>
        </p:pic>
        <p:sp>
          <p:nvSpPr>
            <p:cNvPr id="111" name="object 108"/>
            <p:cNvSpPr/>
            <p:nvPr/>
          </p:nvSpPr>
          <p:spPr>
            <a:xfrm>
              <a:off x="6384925" y="4397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0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6525" y="4702175"/>
              <a:ext cx="101600" cy="101600"/>
            </a:xfrm>
            <a:prstGeom prst="rect">
              <a:avLst/>
            </a:prstGeom>
          </p:spPr>
        </p:pic>
        <p:sp>
          <p:nvSpPr>
            <p:cNvPr id="113" name="object 110"/>
            <p:cNvSpPr/>
            <p:nvPr/>
          </p:nvSpPr>
          <p:spPr>
            <a:xfrm>
              <a:off x="6486525" y="4702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1"/>
          <p:cNvSpPr txBox="1"/>
          <p:nvPr/>
        </p:nvSpPr>
        <p:spPr>
          <a:xfrm>
            <a:off x="4871575" y="2173225"/>
            <a:ext cx="1446530" cy="33216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60"/>
              </a:spcBef>
              <a:tabLst>
                <a:tab pos="1072515" algn="l"/>
              </a:tabLst>
            </a:pPr>
            <a:r>
              <a:rPr sz="1400" spc="-20" dirty="0">
                <a:latin typeface="Calibri"/>
                <a:cs typeface="Calibri"/>
              </a:rPr>
              <a:t>1970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1980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5" name="object 112"/>
          <p:cNvSpPr txBox="1"/>
          <p:nvPr/>
        </p:nvSpPr>
        <p:spPr>
          <a:xfrm>
            <a:off x="6917698" y="5255895"/>
            <a:ext cx="137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219" algn="l"/>
              </a:tabLst>
            </a:pPr>
            <a:r>
              <a:rPr sz="1400" spc="-20" dirty="0">
                <a:latin typeface="Calibri"/>
                <a:cs typeface="Calibri"/>
              </a:rPr>
              <a:t>1990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2000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6" name="object 113"/>
          <p:cNvSpPr txBox="1"/>
          <p:nvPr/>
        </p:nvSpPr>
        <p:spPr>
          <a:xfrm>
            <a:off x="8888974" y="5255895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7" name="object 114"/>
          <p:cNvSpPr txBox="1"/>
          <p:nvPr/>
        </p:nvSpPr>
        <p:spPr>
          <a:xfrm>
            <a:off x="9874613" y="5255895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8" name="object 115"/>
          <p:cNvSpPr txBox="1"/>
          <p:nvPr/>
        </p:nvSpPr>
        <p:spPr>
          <a:xfrm>
            <a:off x="4287248" y="2587680"/>
            <a:ext cx="458470" cy="236410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527050" marR="5080" indent="-514984">
              <a:lnSpc>
                <a:spcPct val="101200"/>
              </a:lnSpc>
              <a:spcBef>
                <a:spcPts val="10"/>
              </a:spcBef>
            </a:pPr>
            <a:r>
              <a:rPr sz="1400" b="1" dirty="0">
                <a:latin typeface="Calibri"/>
                <a:cs typeface="Calibri"/>
              </a:rPr>
              <a:t>September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Arctic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Sea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Ice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Extent (1,000,000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sq </a:t>
            </a:r>
            <a:r>
              <a:rPr sz="1400" b="1" spc="-25" dirty="0">
                <a:latin typeface="Calibri"/>
                <a:cs typeface="Calibri"/>
              </a:rPr>
              <a:t>km)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9" name="object 117"/>
          <p:cNvGrpSpPr/>
          <p:nvPr/>
        </p:nvGrpSpPr>
        <p:grpSpPr>
          <a:xfrm>
            <a:off x="5539215" y="2664206"/>
            <a:ext cx="4279900" cy="1409700"/>
            <a:chOff x="2794000" y="3365500"/>
            <a:chExt cx="4279900" cy="1409700"/>
          </a:xfrm>
        </p:grpSpPr>
        <p:pic>
          <p:nvPicPr>
            <p:cNvPr id="120" name="object 1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4000" y="3365500"/>
              <a:ext cx="4254500" cy="1104900"/>
            </a:xfrm>
            <a:prstGeom prst="rect">
              <a:avLst/>
            </a:prstGeom>
          </p:spPr>
        </p:pic>
        <p:sp>
          <p:nvSpPr>
            <p:cNvPr id="121" name="object 119"/>
            <p:cNvSpPr/>
            <p:nvPr/>
          </p:nvSpPr>
          <p:spPr>
            <a:xfrm>
              <a:off x="2857500" y="3416300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>
                  <a:moveTo>
                    <a:pt x="0" y="0"/>
                  </a:moveTo>
                  <a:lnTo>
                    <a:pt x="4114800" y="9525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2100" y="3517900"/>
              <a:ext cx="4241800" cy="1257300"/>
            </a:xfrm>
            <a:prstGeom prst="rect">
              <a:avLst/>
            </a:prstGeom>
          </p:spPr>
        </p:pic>
        <p:sp>
          <p:nvSpPr>
            <p:cNvPr id="123" name="object 121"/>
            <p:cNvSpPr/>
            <p:nvPr/>
          </p:nvSpPr>
          <p:spPr>
            <a:xfrm>
              <a:off x="2895600" y="3568700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1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0" y="4620"/>
                  </a:lnTo>
                  <a:lnTo>
                    <a:pt x="419375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3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8" y="19181"/>
                  </a:lnTo>
                  <a:lnTo>
                    <a:pt x="938377" y="21538"/>
                  </a:lnTo>
                  <a:lnTo>
                    <a:pt x="989725" y="24107"/>
                  </a:lnTo>
                  <a:lnTo>
                    <a:pt x="1040947" y="26897"/>
                  </a:lnTo>
                  <a:lnTo>
                    <a:pt x="1092034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6" y="40519"/>
                  </a:lnTo>
                  <a:lnTo>
                    <a:pt x="1294912" y="44597"/>
                  </a:lnTo>
                  <a:lnTo>
                    <a:pt x="1345230" y="48968"/>
                  </a:lnTo>
                  <a:lnTo>
                    <a:pt x="1395374" y="53644"/>
                  </a:lnTo>
                  <a:lnTo>
                    <a:pt x="1445337" y="58636"/>
                  </a:lnTo>
                  <a:lnTo>
                    <a:pt x="1495114" y="63955"/>
                  </a:lnTo>
                  <a:lnTo>
                    <a:pt x="1544696" y="69614"/>
                  </a:lnTo>
                  <a:lnTo>
                    <a:pt x="1594077" y="75624"/>
                  </a:lnTo>
                  <a:lnTo>
                    <a:pt x="1643251" y="81997"/>
                  </a:lnTo>
                  <a:lnTo>
                    <a:pt x="1692211" y="88745"/>
                  </a:lnTo>
                  <a:lnTo>
                    <a:pt x="1740951" y="95879"/>
                  </a:lnTo>
                  <a:lnTo>
                    <a:pt x="1789463" y="103411"/>
                  </a:lnTo>
                  <a:lnTo>
                    <a:pt x="1837740" y="111353"/>
                  </a:lnTo>
                  <a:lnTo>
                    <a:pt x="1885777" y="119716"/>
                  </a:lnTo>
                  <a:lnTo>
                    <a:pt x="1933567" y="128513"/>
                  </a:lnTo>
                  <a:lnTo>
                    <a:pt x="1981102" y="137754"/>
                  </a:lnTo>
                  <a:lnTo>
                    <a:pt x="2028376" y="147452"/>
                  </a:lnTo>
                  <a:lnTo>
                    <a:pt x="2075383" y="157618"/>
                  </a:lnTo>
                  <a:lnTo>
                    <a:pt x="2122115" y="168264"/>
                  </a:lnTo>
                  <a:lnTo>
                    <a:pt x="2168566" y="179402"/>
                  </a:lnTo>
                  <a:lnTo>
                    <a:pt x="2214730" y="191043"/>
                  </a:lnTo>
                  <a:lnTo>
                    <a:pt x="2260600" y="203200"/>
                  </a:lnTo>
                  <a:lnTo>
                    <a:pt x="2839640" y="424656"/>
                  </a:lnTo>
                  <a:lnTo>
                    <a:pt x="3444875" y="730250"/>
                  </a:lnTo>
                  <a:lnTo>
                    <a:pt x="3921521" y="1000918"/>
                  </a:lnTo>
                  <a:lnTo>
                    <a:pt x="4114800" y="111760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16">
            <a:extLst>
              <a:ext uri="{FF2B5EF4-FFF2-40B4-BE49-F238E27FC236}">
                <a16:creationId xmlns:a16="http://schemas.microsoft.com/office/drawing/2014/main" id="{F4484646-F849-886B-7423-8DC1379C8BA4}"/>
              </a:ext>
            </a:extLst>
          </p:cNvPr>
          <p:cNvSpPr txBox="1"/>
          <p:nvPr/>
        </p:nvSpPr>
        <p:spPr>
          <a:xfrm>
            <a:off x="6600664" y="5425800"/>
            <a:ext cx="193599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8985" algn="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Calibri"/>
                <a:cs typeface="Calibri"/>
              </a:rPr>
              <a:t>Year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5" name="object 116">
            <a:extLst>
              <a:ext uri="{FF2B5EF4-FFF2-40B4-BE49-F238E27FC236}">
                <a16:creationId xmlns:a16="http://schemas.microsoft.com/office/drawing/2014/main" id="{71C0CFD1-5F46-461F-B519-ACF5CFE4E743}"/>
              </a:ext>
            </a:extLst>
          </p:cNvPr>
          <p:cNvSpPr txBox="1"/>
          <p:nvPr/>
        </p:nvSpPr>
        <p:spPr>
          <a:xfrm>
            <a:off x="8289298" y="6348260"/>
            <a:ext cx="361369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900" dirty="0">
                <a:latin typeface="Calibri"/>
                <a:cs typeface="Calibri"/>
              </a:rPr>
              <a:t>Data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from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G.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Witt.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Journal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of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Statistics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Education,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Volume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21,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Number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1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(2013)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5445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3042-803B-961E-3F5D-DB0F7A1D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Supervised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Learning: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978D-72C7-113F-872A-D6E203F0D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339161"/>
          </a:xfrm>
        </p:spPr>
        <p:txBody>
          <a:bodyPr/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1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1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2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2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...,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 err="1">
                <a:latin typeface="Georgia"/>
                <a:cs typeface="Georgia"/>
              </a:rPr>
              <a:t>x</a:t>
            </a:r>
            <a:r>
              <a:rPr lang="en-US" spc="82" baseline="-18518" dirty="0" err="1">
                <a:latin typeface="Calibri"/>
                <a:cs typeface="Calibri"/>
              </a:rPr>
              <a:t>n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5" dirty="0" err="1">
                <a:latin typeface="Georgia"/>
                <a:cs typeface="Georgia"/>
              </a:rPr>
              <a:t>y</a:t>
            </a:r>
            <a:r>
              <a:rPr lang="en-US" spc="-37" baseline="-18518" dirty="0" err="1">
                <a:latin typeface="Calibri"/>
                <a:cs typeface="Calibri"/>
              </a:rPr>
              <a:t>n</a:t>
            </a:r>
            <a:r>
              <a:rPr lang="en-US" spc="-25" dirty="0">
                <a:latin typeface="Calibri"/>
                <a:cs typeface="Calibri"/>
              </a:rPr>
              <a:t>)</a:t>
            </a:r>
            <a:endParaRPr lang="en-US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function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f</a:t>
            </a:r>
            <a:r>
              <a:rPr lang="en-US" spc="170" dirty="0">
                <a:latin typeface="Calibri"/>
                <a:cs typeface="Calibri"/>
              </a:rPr>
              <a:t>(</a:t>
            </a:r>
            <a:r>
              <a:rPr lang="en-US" i="1" spc="170" dirty="0">
                <a:latin typeface="Georgia"/>
                <a:cs typeface="Georgia"/>
              </a:rPr>
              <a:t>x</a:t>
            </a:r>
            <a:r>
              <a:rPr lang="en-US" spc="170" dirty="0">
                <a:latin typeface="Calibri"/>
                <a:cs typeface="Calibri"/>
              </a:rPr>
              <a:t>)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predict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-240" dirty="0">
                <a:latin typeface="Georgia"/>
                <a:cs typeface="Georgia"/>
              </a:rPr>
              <a:t>y</a:t>
            </a:r>
            <a:r>
              <a:rPr lang="en-US" i="1" spc="-45" dirty="0">
                <a:latin typeface="Georgia"/>
                <a:cs typeface="Georgia"/>
              </a:rPr>
              <a:t> </a:t>
            </a: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x</a:t>
            </a:r>
            <a:endParaRPr lang="en-US" dirty="0">
              <a:latin typeface="Georgia"/>
              <a:cs typeface="Georgia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lang="en-US" sz="1800" dirty="0">
                <a:latin typeface="Arial MT"/>
                <a:cs typeface="Arial MT"/>
              </a:rPr>
              <a:t>–</a:t>
            </a:r>
            <a:r>
              <a:rPr lang="en-US" sz="1800" spc="-130" dirty="0">
                <a:latin typeface="Arial MT"/>
                <a:cs typeface="Arial MT"/>
              </a:rPr>
              <a:t> </a:t>
            </a:r>
            <a:r>
              <a:rPr lang="en-US" sz="1800" i="1" spc="-210" dirty="0">
                <a:latin typeface="Georgia"/>
                <a:cs typeface="Georgia"/>
              </a:rPr>
              <a:t>y</a:t>
            </a:r>
            <a:r>
              <a:rPr lang="en-US" sz="1800" i="1" spc="-40" dirty="0">
                <a:latin typeface="Georgia"/>
                <a:cs typeface="Georgia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categorical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==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classification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854D1-0781-5849-51C0-D512EB8A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5361C-DF7C-CF8B-E16B-1E33ACC1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8005-E485-7190-A49B-BB978B65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DF8B9-0D5A-257D-1308-0DACC1CB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708" y="2542578"/>
            <a:ext cx="6725589" cy="2695951"/>
          </a:xfrm>
          <a:prstGeom prst="rect">
            <a:avLst/>
          </a:prstGeom>
        </p:spPr>
      </p:pic>
      <p:sp>
        <p:nvSpPr>
          <p:cNvPr id="9" name="object 36">
            <a:extLst>
              <a:ext uri="{FF2B5EF4-FFF2-40B4-BE49-F238E27FC236}">
                <a16:creationId xmlns:a16="http://schemas.microsoft.com/office/drawing/2014/main" id="{56B3B0CE-9F6B-A175-51C9-911320DB01F7}"/>
              </a:ext>
            </a:extLst>
          </p:cNvPr>
          <p:cNvSpPr txBox="1"/>
          <p:nvPr/>
        </p:nvSpPr>
        <p:spPr>
          <a:xfrm>
            <a:off x="10379771" y="6353670"/>
            <a:ext cx="15497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Based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example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Andrew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Ng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3438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DF7A-4D43-7AFE-47FF-7B808526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AC90-BD30-5CB5-AB1A-11EEEE29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Supervised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Learning: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6619E-E589-BC1D-7DA7-7A49C273D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339161"/>
          </a:xfrm>
        </p:spPr>
        <p:txBody>
          <a:bodyPr/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1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1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2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2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...,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 err="1">
                <a:latin typeface="Georgia"/>
                <a:cs typeface="Georgia"/>
              </a:rPr>
              <a:t>x</a:t>
            </a:r>
            <a:r>
              <a:rPr lang="en-US" spc="82" baseline="-18518" dirty="0" err="1">
                <a:latin typeface="Calibri"/>
                <a:cs typeface="Calibri"/>
              </a:rPr>
              <a:t>n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5" dirty="0" err="1">
                <a:latin typeface="Georgia"/>
                <a:cs typeface="Georgia"/>
              </a:rPr>
              <a:t>y</a:t>
            </a:r>
            <a:r>
              <a:rPr lang="en-US" spc="-37" baseline="-18518" dirty="0" err="1">
                <a:latin typeface="Calibri"/>
                <a:cs typeface="Calibri"/>
              </a:rPr>
              <a:t>n</a:t>
            </a:r>
            <a:r>
              <a:rPr lang="en-US" spc="-25" dirty="0">
                <a:latin typeface="Calibri"/>
                <a:cs typeface="Calibri"/>
              </a:rPr>
              <a:t>)</a:t>
            </a:r>
            <a:endParaRPr lang="en-US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function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f</a:t>
            </a:r>
            <a:r>
              <a:rPr lang="en-US" spc="170" dirty="0">
                <a:latin typeface="Calibri"/>
                <a:cs typeface="Calibri"/>
              </a:rPr>
              <a:t>(</a:t>
            </a:r>
            <a:r>
              <a:rPr lang="en-US" i="1" spc="170" dirty="0">
                <a:latin typeface="Georgia"/>
                <a:cs typeface="Georgia"/>
              </a:rPr>
              <a:t>x</a:t>
            </a:r>
            <a:r>
              <a:rPr lang="en-US" spc="170" dirty="0">
                <a:latin typeface="Calibri"/>
                <a:cs typeface="Calibri"/>
              </a:rPr>
              <a:t>)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predict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-240" dirty="0">
                <a:latin typeface="Georgia"/>
                <a:cs typeface="Georgia"/>
              </a:rPr>
              <a:t>y</a:t>
            </a:r>
            <a:r>
              <a:rPr lang="en-US" i="1" spc="-45" dirty="0">
                <a:latin typeface="Georgia"/>
                <a:cs typeface="Georgia"/>
              </a:rPr>
              <a:t> </a:t>
            </a: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x</a:t>
            </a:r>
            <a:endParaRPr lang="en-US" dirty="0">
              <a:latin typeface="Georgia"/>
              <a:cs typeface="Georgia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lang="en-US" sz="1800" dirty="0">
                <a:latin typeface="Arial MT"/>
                <a:cs typeface="Arial MT"/>
              </a:rPr>
              <a:t>–</a:t>
            </a:r>
            <a:r>
              <a:rPr lang="en-US" sz="1800" spc="-130" dirty="0">
                <a:latin typeface="Arial MT"/>
                <a:cs typeface="Arial MT"/>
              </a:rPr>
              <a:t> </a:t>
            </a:r>
            <a:r>
              <a:rPr lang="en-US" sz="1800" i="1" spc="-210" dirty="0">
                <a:latin typeface="Georgia"/>
                <a:cs typeface="Georgia"/>
              </a:rPr>
              <a:t>y</a:t>
            </a:r>
            <a:r>
              <a:rPr lang="en-US" sz="1800" i="1" spc="-40" dirty="0">
                <a:latin typeface="Georgia"/>
                <a:cs typeface="Georgia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categorical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==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classification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87D51-13EE-B8F6-D89A-DE4055F10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D58AA-E1B5-FB25-9065-2339CBC0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32D05-B87C-8488-4558-0CBD2B1F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4E8D3B-73F6-DA8A-3A00-72EB709CB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708" y="2542578"/>
            <a:ext cx="6725589" cy="2695951"/>
          </a:xfrm>
          <a:prstGeom prst="rect">
            <a:avLst/>
          </a:prstGeom>
        </p:spPr>
      </p:pic>
      <p:sp>
        <p:nvSpPr>
          <p:cNvPr id="9" name="object 36">
            <a:extLst>
              <a:ext uri="{FF2B5EF4-FFF2-40B4-BE49-F238E27FC236}">
                <a16:creationId xmlns:a16="http://schemas.microsoft.com/office/drawing/2014/main" id="{3527431A-3072-0B6E-E886-3E954E9BFEDC}"/>
              </a:ext>
            </a:extLst>
          </p:cNvPr>
          <p:cNvSpPr txBox="1"/>
          <p:nvPr/>
        </p:nvSpPr>
        <p:spPr>
          <a:xfrm>
            <a:off x="10409586" y="6352763"/>
            <a:ext cx="15497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Based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example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Andrew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Ng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7" name="object 64">
            <a:extLst>
              <a:ext uri="{FF2B5EF4-FFF2-40B4-BE49-F238E27FC236}">
                <a16:creationId xmlns:a16="http://schemas.microsoft.com/office/drawing/2014/main" id="{7DF4D266-182C-49D2-B551-0FA57BEE77C0}"/>
              </a:ext>
            </a:extLst>
          </p:cNvPr>
          <p:cNvSpPr/>
          <p:nvPr/>
        </p:nvSpPr>
        <p:spPr>
          <a:xfrm>
            <a:off x="6017622" y="5274260"/>
            <a:ext cx="4946015" cy="172085"/>
          </a:xfrm>
          <a:custGeom>
            <a:avLst/>
            <a:gdLst/>
            <a:ahLst/>
            <a:cxnLst/>
            <a:rect l="l" t="t" r="r" b="b"/>
            <a:pathLst>
              <a:path w="4946015" h="172085">
                <a:moveTo>
                  <a:pt x="4793672" y="0"/>
                </a:moveTo>
                <a:lnTo>
                  <a:pt x="4774907" y="17224"/>
                </a:lnTo>
                <a:lnTo>
                  <a:pt x="4775382" y="24511"/>
                </a:lnTo>
                <a:lnTo>
                  <a:pt x="4778555" y="31089"/>
                </a:lnTo>
                <a:lnTo>
                  <a:pt x="4784206" y="36118"/>
                </a:lnTo>
                <a:lnTo>
                  <a:pt x="4837640" y="67288"/>
                </a:lnTo>
                <a:lnTo>
                  <a:pt x="0" y="67289"/>
                </a:lnTo>
                <a:lnTo>
                  <a:pt x="0" y="105389"/>
                </a:lnTo>
                <a:lnTo>
                  <a:pt x="4837640" y="105388"/>
                </a:lnTo>
                <a:lnTo>
                  <a:pt x="4784206" y="136558"/>
                </a:lnTo>
                <a:lnTo>
                  <a:pt x="4778555" y="141587"/>
                </a:lnTo>
                <a:lnTo>
                  <a:pt x="4775382" y="148165"/>
                </a:lnTo>
                <a:lnTo>
                  <a:pt x="4774907" y="155452"/>
                </a:lnTo>
                <a:lnTo>
                  <a:pt x="4777350" y="162612"/>
                </a:lnTo>
                <a:lnTo>
                  <a:pt x="4782379" y="168262"/>
                </a:lnTo>
                <a:lnTo>
                  <a:pt x="4788956" y="171436"/>
                </a:lnTo>
                <a:lnTo>
                  <a:pt x="4796244" y="171911"/>
                </a:lnTo>
                <a:lnTo>
                  <a:pt x="4803404" y="169468"/>
                </a:lnTo>
                <a:lnTo>
                  <a:pt x="4945912" y="86338"/>
                </a:lnTo>
                <a:lnTo>
                  <a:pt x="4798860" y="557"/>
                </a:lnTo>
                <a:lnTo>
                  <a:pt x="4793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5">
            <a:extLst>
              <a:ext uri="{FF2B5EF4-FFF2-40B4-BE49-F238E27FC236}">
                <a16:creationId xmlns:a16="http://schemas.microsoft.com/office/drawing/2014/main" id="{1E29AC3F-672E-EFAB-A40D-E85FA6F06C44}"/>
              </a:ext>
            </a:extLst>
          </p:cNvPr>
          <p:cNvSpPr txBox="1"/>
          <p:nvPr/>
        </p:nvSpPr>
        <p:spPr>
          <a:xfrm>
            <a:off x="7908727" y="5546872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442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FC28-D55E-DD19-099F-1391DD96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6777-2401-7C89-CBA9-32771115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Supervised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Learning: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CC0DD-EBA6-B2EB-E99E-02CE4D730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339161"/>
          </a:xfrm>
        </p:spPr>
        <p:txBody>
          <a:bodyPr/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1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1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>
                <a:latin typeface="Georgia"/>
                <a:cs typeface="Georgia"/>
              </a:rPr>
              <a:t>x</a:t>
            </a:r>
            <a:r>
              <a:rPr lang="en-US" spc="82" baseline="-18518" dirty="0">
                <a:latin typeface="Calibri"/>
                <a:cs typeface="Calibri"/>
              </a:rPr>
              <a:t>2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0" dirty="0">
                <a:latin typeface="Georgia"/>
                <a:cs typeface="Georgia"/>
              </a:rPr>
              <a:t>y</a:t>
            </a:r>
            <a:r>
              <a:rPr lang="en-US" spc="-30" baseline="-18518" dirty="0">
                <a:latin typeface="Calibri"/>
                <a:cs typeface="Calibri"/>
              </a:rPr>
              <a:t>2</a:t>
            </a:r>
            <a:r>
              <a:rPr lang="en-US" spc="-20" dirty="0">
                <a:latin typeface="Calibri"/>
                <a:cs typeface="Calibri"/>
              </a:rPr>
              <a:t>),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...,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55" dirty="0">
                <a:latin typeface="Calibri"/>
                <a:cs typeface="Calibri"/>
              </a:rPr>
              <a:t>(</a:t>
            </a:r>
            <a:r>
              <a:rPr lang="en-US" i="1" spc="55" dirty="0" err="1">
                <a:latin typeface="Georgia"/>
                <a:cs typeface="Georgia"/>
              </a:rPr>
              <a:t>x</a:t>
            </a:r>
            <a:r>
              <a:rPr lang="en-US" spc="82" baseline="-18518" dirty="0" err="1">
                <a:latin typeface="Calibri"/>
                <a:cs typeface="Calibri"/>
              </a:rPr>
              <a:t>n</a:t>
            </a:r>
            <a:r>
              <a:rPr lang="en-US" spc="55" dirty="0">
                <a:latin typeface="Calibri"/>
                <a:cs typeface="Calibri"/>
              </a:rPr>
              <a:t>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i="1" spc="-25" dirty="0" err="1">
                <a:latin typeface="Georgia"/>
                <a:cs typeface="Georgia"/>
              </a:rPr>
              <a:t>y</a:t>
            </a:r>
            <a:r>
              <a:rPr lang="en-US" spc="-37" baseline="-18518" dirty="0" err="1">
                <a:latin typeface="Calibri"/>
                <a:cs typeface="Calibri"/>
              </a:rPr>
              <a:t>n</a:t>
            </a:r>
            <a:r>
              <a:rPr lang="en-US" spc="-25" dirty="0">
                <a:latin typeface="Calibri"/>
                <a:cs typeface="Calibri"/>
              </a:rPr>
              <a:t>)</a:t>
            </a:r>
            <a:endParaRPr lang="en-US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function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f</a:t>
            </a:r>
            <a:r>
              <a:rPr lang="en-US" spc="170" dirty="0">
                <a:latin typeface="Calibri"/>
                <a:cs typeface="Calibri"/>
              </a:rPr>
              <a:t>(</a:t>
            </a:r>
            <a:r>
              <a:rPr lang="en-US" i="1" spc="170" dirty="0">
                <a:latin typeface="Georgia"/>
                <a:cs typeface="Georgia"/>
              </a:rPr>
              <a:t>x</a:t>
            </a:r>
            <a:r>
              <a:rPr lang="en-US" spc="170" dirty="0">
                <a:latin typeface="Calibri"/>
                <a:cs typeface="Calibri"/>
              </a:rPr>
              <a:t>)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predict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i="1" spc="-240" dirty="0">
                <a:latin typeface="Georgia"/>
                <a:cs typeface="Georgia"/>
              </a:rPr>
              <a:t>y</a:t>
            </a:r>
            <a:r>
              <a:rPr lang="en-US" i="1" spc="-45" dirty="0">
                <a:latin typeface="Georgia"/>
                <a:cs typeface="Georgia"/>
              </a:rPr>
              <a:t> </a:t>
            </a: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i="1" spc="170" dirty="0">
                <a:latin typeface="Georgia"/>
                <a:cs typeface="Georgia"/>
              </a:rPr>
              <a:t>x</a:t>
            </a:r>
            <a:endParaRPr lang="en-US" dirty="0">
              <a:latin typeface="Georgia"/>
              <a:cs typeface="Georgia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lang="en-US" sz="1800" dirty="0">
                <a:latin typeface="Arial MT"/>
                <a:cs typeface="Arial MT"/>
              </a:rPr>
              <a:t>–</a:t>
            </a:r>
            <a:r>
              <a:rPr lang="en-US" sz="1800" spc="-130" dirty="0">
                <a:latin typeface="Arial MT"/>
                <a:cs typeface="Arial MT"/>
              </a:rPr>
              <a:t> </a:t>
            </a:r>
            <a:r>
              <a:rPr lang="en-US" sz="1800" i="1" spc="-210" dirty="0">
                <a:latin typeface="Georgia"/>
                <a:cs typeface="Georgia"/>
              </a:rPr>
              <a:t>y</a:t>
            </a:r>
            <a:r>
              <a:rPr lang="en-US" sz="1800" i="1" spc="-40" dirty="0">
                <a:latin typeface="Georgia"/>
                <a:cs typeface="Georgia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categorical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==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classification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890F3-9CF1-DF91-3DFC-EE2FCFCF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53AD5-9C6E-2DBB-C6F7-A478FFDA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702E-C94B-ED11-91F5-9507D7E7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8FA5DE-D18C-7ED0-03CF-38A65C72A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708" y="2176815"/>
            <a:ext cx="6725589" cy="2695951"/>
          </a:xfrm>
          <a:prstGeom prst="rect">
            <a:avLst/>
          </a:prstGeom>
        </p:spPr>
      </p:pic>
      <p:sp>
        <p:nvSpPr>
          <p:cNvPr id="9" name="object 36">
            <a:extLst>
              <a:ext uri="{FF2B5EF4-FFF2-40B4-BE49-F238E27FC236}">
                <a16:creationId xmlns:a16="http://schemas.microsoft.com/office/drawing/2014/main" id="{31EC2262-0D88-8BBA-719D-58048D73876D}"/>
              </a:ext>
            </a:extLst>
          </p:cNvPr>
          <p:cNvSpPr txBox="1"/>
          <p:nvPr/>
        </p:nvSpPr>
        <p:spPr>
          <a:xfrm>
            <a:off x="10413115" y="6340991"/>
            <a:ext cx="154976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Based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example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Andrew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Ng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7" name="object 36">
            <a:extLst>
              <a:ext uri="{FF2B5EF4-FFF2-40B4-BE49-F238E27FC236}">
                <a16:creationId xmlns:a16="http://schemas.microsoft.com/office/drawing/2014/main" id="{416E5C32-4E9C-6C9C-FC3D-392B2FA94B53}"/>
              </a:ext>
            </a:extLst>
          </p:cNvPr>
          <p:cNvGrpSpPr/>
          <p:nvPr/>
        </p:nvGrpSpPr>
        <p:grpSpPr>
          <a:xfrm>
            <a:off x="6032500" y="5027021"/>
            <a:ext cx="4946015" cy="927100"/>
            <a:chOff x="1962975" y="5715000"/>
            <a:chExt cx="4946015" cy="927100"/>
          </a:xfrm>
        </p:grpSpPr>
        <p:sp>
          <p:nvSpPr>
            <p:cNvPr id="10" name="object 37">
              <a:extLst>
                <a:ext uri="{FF2B5EF4-FFF2-40B4-BE49-F238E27FC236}">
                  <a16:creationId xmlns:a16="http://schemas.microsoft.com/office/drawing/2014/main" id="{657E5355-F121-F15B-F264-9A81764DCB02}"/>
                </a:ext>
              </a:extLst>
            </p:cNvPr>
            <p:cNvSpPr/>
            <p:nvPr/>
          </p:nvSpPr>
          <p:spPr>
            <a:xfrm>
              <a:off x="1962975" y="6076078"/>
              <a:ext cx="4946015" cy="172085"/>
            </a:xfrm>
            <a:custGeom>
              <a:avLst/>
              <a:gdLst/>
              <a:ahLst/>
              <a:cxnLst/>
              <a:rect l="l" t="t" r="r" b="b"/>
              <a:pathLst>
                <a:path w="4946015" h="172085">
                  <a:moveTo>
                    <a:pt x="4793672" y="0"/>
                  </a:moveTo>
                  <a:lnTo>
                    <a:pt x="4774907" y="17224"/>
                  </a:lnTo>
                  <a:lnTo>
                    <a:pt x="4775382" y="24511"/>
                  </a:lnTo>
                  <a:lnTo>
                    <a:pt x="4778555" y="31089"/>
                  </a:lnTo>
                  <a:lnTo>
                    <a:pt x="4784206" y="36118"/>
                  </a:lnTo>
                  <a:lnTo>
                    <a:pt x="4837640" y="67288"/>
                  </a:lnTo>
                  <a:lnTo>
                    <a:pt x="0" y="67289"/>
                  </a:lnTo>
                  <a:lnTo>
                    <a:pt x="0" y="105389"/>
                  </a:lnTo>
                  <a:lnTo>
                    <a:pt x="4837640" y="105388"/>
                  </a:lnTo>
                  <a:lnTo>
                    <a:pt x="4784206" y="136558"/>
                  </a:lnTo>
                  <a:lnTo>
                    <a:pt x="4778555" y="141587"/>
                  </a:lnTo>
                  <a:lnTo>
                    <a:pt x="4775382" y="148165"/>
                  </a:lnTo>
                  <a:lnTo>
                    <a:pt x="4774907" y="155452"/>
                  </a:lnTo>
                  <a:lnTo>
                    <a:pt x="4777350" y="162612"/>
                  </a:lnTo>
                  <a:lnTo>
                    <a:pt x="4782379" y="168262"/>
                  </a:lnTo>
                  <a:lnTo>
                    <a:pt x="4788956" y="171436"/>
                  </a:lnTo>
                  <a:lnTo>
                    <a:pt x="4796244" y="171911"/>
                  </a:lnTo>
                  <a:lnTo>
                    <a:pt x="4803404" y="169468"/>
                  </a:lnTo>
                  <a:lnTo>
                    <a:pt x="4945912" y="86338"/>
                  </a:lnTo>
                  <a:lnTo>
                    <a:pt x="4798860" y="557"/>
                  </a:lnTo>
                  <a:lnTo>
                    <a:pt x="479367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38">
              <a:extLst>
                <a:ext uri="{FF2B5EF4-FFF2-40B4-BE49-F238E27FC236}">
                  <a16:creationId xmlns:a16="http://schemas.microsoft.com/office/drawing/2014/main" id="{7B5CC8AE-BBF7-C23A-329A-3CD1272A838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8700" y="6019800"/>
              <a:ext cx="368300" cy="368300"/>
            </a:xfrm>
            <a:prstGeom prst="rect">
              <a:avLst/>
            </a:prstGeom>
          </p:spPr>
        </p:pic>
        <p:pic>
          <p:nvPicPr>
            <p:cNvPr id="12" name="object 39">
              <a:extLst>
                <a:ext uri="{FF2B5EF4-FFF2-40B4-BE49-F238E27FC236}">
                  <a16:creationId xmlns:a16="http://schemas.microsoft.com/office/drawing/2014/main" id="{D5538EC9-6BF7-75B1-1E6E-8751C876E79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0580" y="6060816"/>
              <a:ext cx="228600" cy="228600"/>
            </a:xfrm>
            <a:prstGeom prst="rect">
              <a:avLst/>
            </a:prstGeom>
          </p:spPr>
        </p:pic>
        <p:pic>
          <p:nvPicPr>
            <p:cNvPr id="13" name="object 40">
              <a:extLst>
                <a:ext uri="{FF2B5EF4-FFF2-40B4-BE49-F238E27FC236}">
                  <a16:creationId xmlns:a16="http://schemas.microsoft.com/office/drawing/2014/main" id="{17C82C7A-4DFA-D0DE-F07C-FE0143719A4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4230" y="6054466"/>
              <a:ext cx="241300" cy="241300"/>
            </a:xfrm>
            <a:prstGeom prst="rect">
              <a:avLst/>
            </a:prstGeom>
          </p:spPr>
        </p:pic>
        <p:pic>
          <p:nvPicPr>
            <p:cNvPr id="14" name="object 41">
              <a:extLst>
                <a:ext uri="{FF2B5EF4-FFF2-40B4-BE49-F238E27FC236}">
                  <a16:creationId xmlns:a16="http://schemas.microsoft.com/office/drawing/2014/main" id="{0CDFD7FA-A4CA-7B51-F023-98DDC49BCA9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0200" y="6019800"/>
              <a:ext cx="368300" cy="368300"/>
            </a:xfrm>
            <a:prstGeom prst="rect">
              <a:avLst/>
            </a:prstGeom>
          </p:spPr>
        </p:pic>
        <p:pic>
          <p:nvPicPr>
            <p:cNvPr id="15" name="object 42">
              <a:extLst>
                <a:ext uri="{FF2B5EF4-FFF2-40B4-BE49-F238E27FC236}">
                  <a16:creationId xmlns:a16="http://schemas.microsoft.com/office/drawing/2014/main" id="{BB4BD90F-7B0B-3AC6-71DD-4BDFE602CB1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2080" y="6060816"/>
              <a:ext cx="228600" cy="228600"/>
            </a:xfrm>
            <a:prstGeom prst="rect">
              <a:avLst/>
            </a:prstGeom>
          </p:spPr>
        </p:pic>
        <p:sp>
          <p:nvSpPr>
            <p:cNvPr id="16" name="object 43">
              <a:extLst>
                <a:ext uri="{FF2B5EF4-FFF2-40B4-BE49-F238E27FC236}">
                  <a16:creationId xmlns:a16="http://schemas.microsoft.com/office/drawing/2014/main" id="{C9470D51-6311-C7A5-733D-E1B6CC39510E}"/>
                </a:ext>
              </a:extLst>
            </p:cNvPr>
            <p:cNvSpPr/>
            <p:nvPr/>
          </p:nvSpPr>
          <p:spPr>
            <a:xfrm>
              <a:off x="29420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44">
              <a:extLst>
                <a:ext uri="{FF2B5EF4-FFF2-40B4-BE49-F238E27FC236}">
                  <a16:creationId xmlns:a16="http://schemas.microsoft.com/office/drawing/2014/main" id="{6B309A79-A63E-1B51-134F-4E9A0E30BF3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9700" y="60198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45">
              <a:extLst>
                <a:ext uri="{FF2B5EF4-FFF2-40B4-BE49-F238E27FC236}">
                  <a16:creationId xmlns:a16="http://schemas.microsoft.com/office/drawing/2014/main" id="{E92321C3-D0D5-D58B-9BE1-2CD4E97E8FA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1580" y="6060816"/>
              <a:ext cx="228600" cy="228600"/>
            </a:xfrm>
            <a:prstGeom prst="rect">
              <a:avLst/>
            </a:prstGeom>
          </p:spPr>
        </p:pic>
        <p:sp>
          <p:nvSpPr>
            <p:cNvPr id="19" name="object 46">
              <a:extLst>
                <a:ext uri="{FF2B5EF4-FFF2-40B4-BE49-F238E27FC236}">
                  <a16:creationId xmlns:a16="http://schemas.microsoft.com/office/drawing/2014/main" id="{6720E867-1D73-87E3-3484-2843699D0366}"/>
                </a:ext>
              </a:extLst>
            </p:cNvPr>
            <p:cNvSpPr/>
            <p:nvPr/>
          </p:nvSpPr>
          <p:spPr>
            <a:xfrm>
              <a:off x="27515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47">
              <a:extLst>
                <a:ext uri="{FF2B5EF4-FFF2-40B4-BE49-F238E27FC236}">
                  <a16:creationId xmlns:a16="http://schemas.microsoft.com/office/drawing/2014/main" id="{6E152A60-D307-9882-9CFB-8102FFA50CA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0900" y="6019800"/>
              <a:ext cx="368300" cy="368300"/>
            </a:xfrm>
            <a:prstGeom prst="rect">
              <a:avLst/>
            </a:prstGeom>
          </p:spPr>
        </p:pic>
        <p:pic>
          <p:nvPicPr>
            <p:cNvPr id="21" name="object 48">
              <a:extLst>
                <a:ext uri="{FF2B5EF4-FFF2-40B4-BE49-F238E27FC236}">
                  <a16:creationId xmlns:a16="http://schemas.microsoft.com/office/drawing/2014/main" id="{1082CD8C-2CFE-6597-1B89-4FE988464F3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8463" y="6060816"/>
              <a:ext cx="228600" cy="228600"/>
            </a:xfrm>
            <a:prstGeom prst="rect">
              <a:avLst/>
            </a:prstGeom>
          </p:spPr>
        </p:pic>
        <p:pic>
          <p:nvPicPr>
            <p:cNvPr id="22" name="object 49">
              <a:extLst>
                <a:ext uri="{FF2B5EF4-FFF2-40B4-BE49-F238E27FC236}">
                  <a16:creationId xmlns:a16="http://schemas.microsoft.com/office/drawing/2014/main" id="{05BF3F47-83DA-999A-5F42-AA521130D57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2112" y="6054466"/>
              <a:ext cx="241300" cy="241300"/>
            </a:xfrm>
            <a:prstGeom prst="rect">
              <a:avLst/>
            </a:prstGeom>
          </p:spPr>
        </p:pic>
        <p:pic>
          <p:nvPicPr>
            <p:cNvPr id="23" name="object 50">
              <a:extLst>
                <a:ext uri="{FF2B5EF4-FFF2-40B4-BE49-F238E27FC236}">
                  <a16:creationId xmlns:a16="http://schemas.microsoft.com/office/drawing/2014/main" id="{132471C1-BE09-DB5A-1514-66A9671C819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8300" y="6019800"/>
              <a:ext cx="368300" cy="368300"/>
            </a:xfrm>
            <a:prstGeom prst="rect">
              <a:avLst/>
            </a:prstGeom>
          </p:spPr>
        </p:pic>
        <p:pic>
          <p:nvPicPr>
            <p:cNvPr id="24" name="object 51">
              <a:extLst>
                <a:ext uri="{FF2B5EF4-FFF2-40B4-BE49-F238E27FC236}">
                  <a16:creationId xmlns:a16="http://schemas.microsoft.com/office/drawing/2014/main" id="{298C9BE0-3F8C-7D47-DD54-E5E7FFE1B10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180" y="6060816"/>
              <a:ext cx="228600" cy="228600"/>
            </a:xfrm>
            <a:prstGeom prst="rect">
              <a:avLst/>
            </a:prstGeom>
          </p:spPr>
        </p:pic>
        <p:sp>
          <p:nvSpPr>
            <p:cNvPr id="25" name="object 52">
              <a:extLst>
                <a:ext uri="{FF2B5EF4-FFF2-40B4-BE49-F238E27FC236}">
                  <a16:creationId xmlns:a16="http://schemas.microsoft.com/office/drawing/2014/main" id="{641086C5-9082-7436-9461-2B45553C309E}"/>
                </a:ext>
              </a:extLst>
            </p:cNvPr>
            <p:cNvSpPr/>
            <p:nvPr/>
          </p:nvSpPr>
          <p:spPr>
            <a:xfrm>
              <a:off x="42501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53">
              <a:extLst>
                <a:ext uri="{FF2B5EF4-FFF2-40B4-BE49-F238E27FC236}">
                  <a16:creationId xmlns:a16="http://schemas.microsoft.com/office/drawing/2014/main" id="{B9687554-29E3-A170-A3BD-A87D42CF148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0" y="60198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54">
              <a:extLst>
                <a:ext uri="{FF2B5EF4-FFF2-40B4-BE49-F238E27FC236}">
                  <a16:creationId xmlns:a16="http://schemas.microsoft.com/office/drawing/2014/main" id="{E53807A2-FB85-AC9D-9858-471BA428524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6280" y="6060816"/>
              <a:ext cx="228600" cy="228600"/>
            </a:xfrm>
            <a:prstGeom prst="rect">
              <a:avLst/>
            </a:prstGeom>
          </p:spPr>
        </p:pic>
        <p:sp>
          <p:nvSpPr>
            <p:cNvPr id="28" name="object 55">
              <a:extLst>
                <a:ext uri="{FF2B5EF4-FFF2-40B4-BE49-F238E27FC236}">
                  <a16:creationId xmlns:a16="http://schemas.microsoft.com/office/drawing/2014/main" id="{120AE3DC-07BF-4798-9D30-E36F69EA71B5}"/>
                </a:ext>
              </a:extLst>
            </p:cNvPr>
            <p:cNvSpPr/>
            <p:nvPr/>
          </p:nvSpPr>
          <p:spPr>
            <a:xfrm>
              <a:off x="47962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56">
              <a:extLst>
                <a:ext uri="{FF2B5EF4-FFF2-40B4-BE49-F238E27FC236}">
                  <a16:creationId xmlns:a16="http://schemas.microsoft.com/office/drawing/2014/main" id="{DE211C13-16A5-50E4-4C79-F715C080201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6032500"/>
              <a:ext cx="368300" cy="368300"/>
            </a:xfrm>
            <a:prstGeom prst="rect">
              <a:avLst/>
            </a:prstGeom>
          </p:spPr>
        </p:pic>
        <p:pic>
          <p:nvPicPr>
            <p:cNvPr id="30" name="object 57">
              <a:extLst>
                <a:ext uri="{FF2B5EF4-FFF2-40B4-BE49-F238E27FC236}">
                  <a16:creationId xmlns:a16="http://schemas.microsoft.com/office/drawing/2014/main" id="{B6BF88A3-EB11-542B-1882-24ADDB93C8F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6067166"/>
              <a:ext cx="241300" cy="241300"/>
            </a:xfrm>
            <a:prstGeom prst="rect">
              <a:avLst/>
            </a:prstGeom>
          </p:spPr>
        </p:pic>
        <p:pic>
          <p:nvPicPr>
            <p:cNvPr id="31" name="object 58">
              <a:extLst>
                <a:ext uri="{FF2B5EF4-FFF2-40B4-BE49-F238E27FC236}">
                  <a16:creationId xmlns:a16="http://schemas.microsoft.com/office/drawing/2014/main" id="{8D89A786-4B05-F03A-906C-AF3321169A6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6032500"/>
              <a:ext cx="355600" cy="368300"/>
            </a:xfrm>
            <a:prstGeom prst="rect">
              <a:avLst/>
            </a:prstGeom>
          </p:spPr>
        </p:pic>
        <p:pic>
          <p:nvPicPr>
            <p:cNvPr id="32" name="object 59">
              <a:extLst>
                <a:ext uri="{FF2B5EF4-FFF2-40B4-BE49-F238E27FC236}">
                  <a16:creationId xmlns:a16="http://schemas.microsoft.com/office/drawing/2014/main" id="{FB77AC6D-CB97-AB95-0408-051FB177257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6067166"/>
              <a:ext cx="241300" cy="241300"/>
            </a:xfrm>
            <a:prstGeom prst="rect">
              <a:avLst/>
            </a:prstGeom>
          </p:spPr>
        </p:pic>
        <p:pic>
          <p:nvPicPr>
            <p:cNvPr id="33" name="object 60">
              <a:extLst>
                <a:ext uri="{FF2B5EF4-FFF2-40B4-BE49-F238E27FC236}">
                  <a16:creationId xmlns:a16="http://schemas.microsoft.com/office/drawing/2014/main" id="{4880ACBD-ACC4-57C7-8E1C-A5A018B4F046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6032500"/>
              <a:ext cx="368300" cy="368300"/>
            </a:xfrm>
            <a:prstGeom prst="rect">
              <a:avLst/>
            </a:prstGeom>
          </p:spPr>
        </p:pic>
        <p:pic>
          <p:nvPicPr>
            <p:cNvPr id="34" name="object 61">
              <a:extLst>
                <a:ext uri="{FF2B5EF4-FFF2-40B4-BE49-F238E27FC236}">
                  <a16:creationId xmlns:a16="http://schemas.microsoft.com/office/drawing/2014/main" id="{613F04E7-530B-3FA8-5A16-D11AED16094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6067166"/>
              <a:ext cx="241300" cy="241300"/>
            </a:xfrm>
            <a:prstGeom prst="rect">
              <a:avLst/>
            </a:prstGeom>
          </p:spPr>
        </p:pic>
        <p:pic>
          <p:nvPicPr>
            <p:cNvPr id="35" name="object 62">
              <a:extLst>
                <a:ext uri="{FF2B5EF4-FFF2-40B4-BE49-F238E27FC236}">
                  <a16:creationId xmlns:a16="http://schemas.microsoft.com/office/drawing/2014/main" id="{6A8CC694-D8E3-2A7C-D02F-BF6305025F5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6032500"/>
              <a:ext cx="355600" cy="368300"/>
            </a:xfrm>
            <a:prstGeom prst="rect">
              <a:avLst/>
            </a:prstGeom>
          </p:spPr>
        </p:pic>
        <p:sp>
          <p:nvSpPr>
            <p:cNvPr id="36" name="object 63">
              <a:extLst>
                <a:ext uri="{FF2B5EF4-FFF2-40B4-BE49-F238E27FC236}">
                  <a16:creationId xmlns:a16="http://schemas.microsoft.com/office/drawing/2014/main" id="{CFC2348A-C0B3-08FB-A76C-4126F73C191A}"/>
                </a:ext>
              </a:extLst>
            </p:cNvPr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64">
              <a:extLst>
                <a:ext uri="{FF2B5EF4-FFF2-40B4-BE49-F238E27FC236}">
                  <a16:creationId xmlns:a16="http://schemas.microsoft.com/office/drawing/2014/main" id="{70A5B924-466B-5F19-7D29-155399EBD96A}"/>
                </a:ext>
              </a:extLst>
            </p:cNvPr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65">
              <a:extLst>
                <a:ext uri="{FF2B5EF4-FFF2-40B4-BE49-F238E27FC236}">
                  <a16:creationId xmlns:a16="http://schemas.microsoft.com/office/drawing/2014/main" id="{CD0520A2-B5B6-58F0-E892-8B8BA0D56A9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6032500"/>
              <a:ext cx="355600" cy="368300"/>
            </a:xfrm>
            <a:prstGeom prst="rect">
              <a:avLst/>
            </a:prstGeom>
          </p:spPr>
        </p:pic>
        <p:sp>
          <p:nvSpPr>
            <p:cNvPr id="39" name="object 66">
              <a:extLst>
                <a:ext uri="{FF2B5EF4-FFF2-40B4-BE49-F238E27FC236}">
                  <a16:creationId xmlns:a16="http://schemas.microsoft.com/office/drawing/2014/main" id="{2E95C09D-B21D-DEC1-27BA-4E294FA5F46C}"/>
                </a:ext>
              </a:extLst>
            </p:cNvPr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67">
              <a:extLst>
                <a:ext uri="{FF2B5EF4-FFF2-40B4-BE49-F238E27FC236}">
                  <a16:creationId xmlns:a16="http://schemas.microsoft.com/office/drawing/2014/main" id="{4EFDFE00-F061-5133-539F-BFB7FC2CD7AA}"/>
                </a:ext>
              </a:extLst>
            </p:cNvPr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68">
              <a:extLst>
                <a:ext uri="{FF2B5EF4-FFF2-40B4-BE49-F238E27FC236}">
                  <a16:creationId xmlns:a16="http://schemas.microsoft.com/office/drawing/2014/main" id="{F1166D14-BB11-B59F-6D5A-960631FFB27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95800" y="5715000"/>
              <a:ext cx="152400" cy="927100"/>
            </a:xfrm>
            <a:prstGeom prst="rect">
              <a:avLst/>
            </a:prstGeom>
          </p:spPr>
        </p:pic>
        <p:sp>
          <p:nvSpPr>
            <p:cNvPr id="42" name="object 69">
              <a:extLst>
                <a:ext uri="{FF2B5EF4-FFF2-40B4-BE49-F238E27FC236}">
                  <a16:creationId xmlns:a16="http://schemas.microsoft.com/office/drawing/2014/main" id="{EA11BE9D-B867-A0AA-0FC9-9AB37445BFD2}"/>
                </a:ext>
              </a:extLst>
            </p:cNvPr>
            <p:cNvSpPr/>
            <p:nvPr/>
          </p:nvSpPr>
          <p:spPr>
            <a:xfrm>
              <a:off x="4572000" y="5753100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0"/>
                  </a:moveTo>
                  <a:lnTo>
                    <a:pt x="1" y="79609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71">
            <a:extLst>
              <a:ext uri="{FF2B5EF4-FFF2-40B4-BE49-F238E27FC236}">
                <a16:creationId xmlns:a16="http://schemas.microsoft.com/office/drawing/2014/main" id="{AF4FCCF0-4D9D-D24F-4519-77C43592D9AF}"/>
              </a:ext>
            </a:extLst>
          </p:cNvPr>
          <p:cNvSpPr txBox="1"/>
          <p:nvPr/>
        </p:nvSpPr>
        <p:spPr>
          <a:xfrm>
            <a:off x="7793165" y="5806166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4" name="object 70">
            <a:extLst>
              <a:ext uri="{FF2B5EF4-FFF2-40B4-BE49-F238E27FC236}">
                <a16:creationId xmlns:a16="http://schemas.microsoft.com/office/drawing/2014/main" id="{3BF0A22A-C4E3-D269-8AB8-D0A1C67B380B}"/>
              </a:ext>
            </a:extLst>
          </p:cNvPr>
          <p:cNvSpPr txBox="1"/>
          <p:nvPr/>
        </p:nvSpPr>
        <p:spPr>
          <a:xfrm>
            <a:off x="7521637" y="5040277"/>
            <a:ext cx="26085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  <a:tabLst>
                <a:tab pos="1310005" algn="l"/>
              </a:tabLst>
            </a:pPr>
            <a:r>
              <a:rPr sz="2100" baseline="3968" dirty="0">
                <a:latin typeface="Calibri"/>
                <a:cs typeface="Calibri"/>
              </a:rPr>
              <a:t>Predict</a:t>
            </a:r>
            <a:r>
              <a:rPr sz="2100" spc="-104" baseline="3968" dirty="0">
                <a:latin typeface="Calibri"/>
                <a:cs typeface="Calibri"/>
              </a:rPr>
              <a:t> </a:t>
            </a:r>
            <a:r>
              <a:rPr sz="2100" spc="-15" baseline="3968" dirty="0">
                <a:latin typeface="Calibri"/>
                <a:cs typeface="Calibri"/>
              </a:rPr>
              <a:t>Benign</a:t>
            </a:r>
            <a:r>
              <a:rPr sz="2100" baseline="3968" dirty="0">
                <a:latin typeface="Calibri"/>
                <a:cs typeface="Calibri"/>
              </a:rPr>
              <a:t>	</a:t>
            </a:r>
            <a:r>
              <a:rPr sz="1400" dirty="0">
                <a:latin typeface="Calibri"/>
                <a:cs typeface="Calibri"/>
              </a:rPr>
              <a:t>Predict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Malignant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24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3E3D-1A94-6C77-99F2-D3951167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Supervised</a:t>
            </a:r>
            <a:r>
              <a:rPr lang="en-US" spc="-1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CD2F8-86C8-5D4B-8D98-0DCCD6AB9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973401"/>
          </a:xfrm>
        </p:spPr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i="1" spc="220" dirty="0">
                <a:latin typeface="Georgia"/>
                <a:cs typeface="Georgia"/>
              </a:rPr>
              <a:t>x</a:t>
            </a:r>
            <a:r>
              <a:rPr lang="en-US" sz="2400" i="1" spc="185" dirty="0">
                <a:latin typeface="Georgia"/>
                <a:cs typeface="Georgia"/>
              </a:rPr>
              <a:t> </a:t>
            </a:r>
            <a:r>
              <a:rPr lang="en-US" sz="2400" dirty="0">
                <a:latin typeface="Calibri"/>
                <a:cs typeface="Calibri"/>
              </a:rPr>
              <a:t>can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multi-</a:t>
            </a:r>
            <a:r>
              <a:rPr lang="en-US" sz="2400" spc="-10" dirty="0">
                <a:latin typeface="Calibri"/>
                <a:cs typeface="Calibri"/>
              </a:rPr>
              <a:t>dimensional</a:t>
            </a:r>
            <a:endParaRPr lang="en-US"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lang="en-US" dirty="0">
                <a:latin typeface="Calibri"/>
                <a:cs typeface="Calibri"/>
              </a:rPr>
              <a:t>Each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dimension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corresponds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attribute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2E298-7A05-9BE8-9211-12EEEDF6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DC5FE-7E28-3295-9686-7FFED5CB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1B16-D4D7-1242-BD08-7E23363B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7" name="object 3"/>
          <p:cNvGrpSpPr/>
          <p:nvPr/>
        </p:nvGrpSpPr>
        <p:grpSpPr>
          <a:xfrm>
            <a:off x="4044655" y="1960226"/>
            <a:ext cx="3598545" cy="2726055"/>
            <a:chOff x="961095" y="2841536"/>
            <a:chExt cx="3598545" cy="2726055"/>
          </a:xfrm>
        </p:grpSpPr>
        <p:sp>
          <p:nvSpPr>
            <p:cNvPr id="8" name="object 4"/>
            <p:cNvSpPr/>
            <p:nvPr/>
          </p:nvSpPr>
          <p:spPr>
            <a:xfrm>
              <a:off x="961085" y="28415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502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61" y="149669"/>
                  </a:lnTo>
                  <a:lnTo>
                    <a:pt x="247510" y="142519"/>
                  </a:lnTo>
                  <a:lnTo>
                    <a:pt x="164388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73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4787900"/>
              <a:ext cx="368300" cy="368300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0214" y="4837667"/>
              <a:ext cx="228600" cy="228600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3864" y="4831317"/>
              <a:ext cx="241300" cy="241300"/>
            </a:xfrm>
            <a:prstGeom prst="rect">
              <a:avLst/>
            </a:prstGeom>
          </p:spPr>
        </p:pic>
        <p:pic>
          <p:nvPicPr>
            <p:cNvPr id="12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5100" y="4749800"/>
              <a:ext cx="368300" cy="368300"/>
            </a:xfrm>
            <a:prstGeom prst="rect">
              <a:avLst/>
            </a:prstGeom>
          </p:spPr>
        </p:pic>
        <p:pic>
          <p:nvPicPr>
            <p:cNvPr id="13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6980" y="4799567"/>
              <a:ext cx="228600" cy="228600"/>
            </a:xfrm>
            <a:prstGeom prst="rect">
              <a:avLst/>
            </a:prstGeom>
          </p:spPr>
        </p:pic>
        <p:pic>
          <p:nvPicPr>
            <p:cNvPr id="14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0630" y="4793217"/>
              <a:ext cx="241300" cy="241300"/>
            </a:xfrm>
            <a:prstGeom prst="rect">
              <a:avLst/>
            </a:prstGeom>
          </p:spPr>
        </p:pic>
        <p:pic>
          <p:nvPicPr>
            <p:cNvPr id="15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0000" y="4254500"/>
              <a:ext cx="368300" cy="368300"/>
            </a:xfrm>
            <a:prstGeom prst="rect">
              <a:avLst/>
            </a:prstGeom>
          </p:spPr>
        </p:pic>
        <p:pic>
          <p:nvPicPr>
            <p:cNvPr id="16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1880" y="4295956"/>
              <a:ext cx="228600" cy="228600"/>
            </a:xfrm>
            <a:prstGeom prst="rect">
              <a:avLst/>
            </a:prstGeom>
          </p:spPr>
        </p:pic>
        <p:pic>
          <p:nvPicPr>
            <p:cNvPr id="17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5530" y="4289606"/>
              <a:ext cx="241300" cy="241300"/>
            </a:xfrm>
            <a:prstGeom prst="rect">
              <a:avLst/>
            </a:prstGeom>
          </p:spPr>
        </p:pic>
        <p:pic>
          <p:nvPicPr>
            <p:cNvPr id="18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8600" y="5016500"/>
              <a:ext cx="368300" cy="368300"/>
            </a:xfrm>
            <a:prstGeom prst="rect">
              <a:avLst/>
            </a:prstGeom>
          </p:spPr>
        </p:pic>
        <p:pic>
          <p:nvPicPr>
            <p:cNvPr id="19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0480" y="5066267"/>
              <a:ext cx="228600" cy="228600"/>
            </a:xfrm>
            <a:prstGeom prst="rect">
              <a:avLst/>
            </a:prstGeom>
          </p:spPr>
        </p:pic>
        <p:pic>
          <p:nvPicPr>
            <p:cNvPr id="20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4130" y="5059917"/>
              <a:ext cx="241300" cy="241300"/>
            </a:xfrm>
            <a:prstGeom prst="rect">
              <a:avLst/>
            </a:prstGeom>
          </p:spPr>
        </p:pic>
        <p:pic>
          <p:nvPicPr>
            <p:cNvPr id="21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5300" y="3975100"/>
              <a:ext cx="368300" cy="368300"/>
            </a:xfrm>
            <a:prstGeom prst="rect">
              <a:avLst/>
            </a:prstGeom>
          </p:spPr>
        </p:pic>
        <p:pic>
          <p:nvPicPr>
            <p:cNvPr id="22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0640" y="4023878"/>
              <a:ext cx="228600" cy="228600"/>
            </a:xfrm>
            <a:prstGeom prst="rect">
              <a:avLst/>
            </a:prstGeom>
          </p:spPr>
        </p:pic>
        <p:pic>
          <p:nvPicPr>
            <p:cNvPr id="23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4290" y="4017528"/>
              <a:ext cx="241300" cy="241300"/>
            </a:xfrm>
            <a:prstGeom prst="rect">
              <a:avLst/>
            </a:prstGeom>
          </p:spPr>
        </p:pic>
        <p:pic>
          <p:nvPicPr>
            <p:cNvPr id="24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9900" y="3517899"/>
              <a:ext cx="368300" cy="368300"/>
            </a:xfrm>
            <a:prstGeom prst="rect">
              <a:avLst/>
            </a:prstGeom>
          </p:spPr>
        </p:pic>
        <p:pic>
          <p:nvPicPr>
            <p:cNvPr id="25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69564" y="3560328"/>
              <a:ext cx="241300" cy="241300"/>
            </a:xfrm>
            <a:prstGeom prst="rect">
              <a:avLst/>
            </a:prstGeom>
          </p:spPr>
        </p:pic>
        <p:pic>
          <p:nvPicPr>
            <p:cNvPr id="26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6300" y="3149599"/>
              <a:ext cx="355600" cy="368300"/>
            </a:xfrm>
            <a:prstGeom prst="rect">
              <a:avLst/>
            </a:prstGeom>
          </p:spPr>
        </p:pic>
        <p:pic>
          <p:nvPicPr>
            <p:cNvPr id="27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3450" y="3194049"/>
              <a:ext cx="241300" cy="241300"/>
            </a:xfrm>
            <a:prstGeom prst="rect">
              <a:avLst/>
            </a:prstGeom>
          </p:spPr>
        </p:pic>
        <p:pic>
          <p:nvPicPr>
            <p:cNvPr id="28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8100" y="4521200"/>
              <a:ext cx="368300" cy="368300"/>
            </a:xfrm>
            <a:prstGeom prst="rect">
              <a:avLst/>
            </a:prstGeom>
          </p:spPr>
        </p:pic>
        <p:pic>
          <p:nvPicPr>
            <p:cNvPr id="29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09312" y="4564617"/>
              <a:ext cx="241300" cy="241300"/>
            </a:xfrm>
            <a:prstGeom prst="rect">
              <a:avLst/>
            </a:prstGeom>
          </p:spPr>
        </p:pic>
        <p:pic>
          <p:nvPicPr>
            <p:cNvPr id="30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19500" y="3517899"/>
              <a:ext cx="368300" cy="368300"/>
            </a:xfrm>
            <a:prstGeom prst="rect">
              <a:avLst/>
            </a:prstGeom>
          </p:spPr>
        </p:pic>
        <p:pic>
          <p:nvPicPr>
            <p:cNvPr id="31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0712" y="3559295"/>
              <a:ext cx="241300" cy="241300"/>
            </a:xfrm>
            <a:prstGeom prst="rect">
              <a:avLst/>
            </a:prstGeom>
          </p:spPr>
        </p:pic>
        <p:pic>
          <p:nvPicPr>
            <p:cNvPr id="32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3300" y="3086099"/>
              <a:ext cx="368300" cy="368300"/>
            </a:xfrm>
            <a:prstGeom prst="rect">
              <a:avLst/>
            </a:prstGeom>
          </p:spPr>
        </p:pic>
        <p:pic>
          <p:nvPicPr>
            <p:cNvPr id="33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08830" y="3129517"/>
              <a:ext cx="241300" cy="241300"/>
            </a:xfrm>
            <a:prstGeom prst="rect">
              <a:avLst/>
            </a:prstGeom>
          </p:spPr>
        </p:pic>
        <p:pic>
          <p:nvPicPr>
            <p:cNvPr id="34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36700" y="3086099"/>
              <a:ext cx="2819400" cy="2286000"/>
            </a:xfrm>
            <a:prstGeom prst="rect">
              <a:avLst/>
            </a:prstGeom>
          </p:spPr>
        </p:pic>
        <p:sp>
          <p:nvSpPr>
            <p:cNvPr id="35" name="object 31"/>
            <p:cNvSpPr/>
            <p:nvPr/>
          </p:nvSpPr>
          <p:spPr>
            <a:xfrm>
              <a:off x="1612900" y="3135867"/>
              <a:ext cx="2667000" cy="2144395"/>
            </a:xfrm>
            <a:custGeom>
              <a:avLst/>
              <a:gdLst/>
              <a:ahLst/>
              <a:cxnLst/>
              <a:rect l="l" t="t" r="r" b="b"/>
              <a:pathLst>
                <a:path w="2667000" h="2144395">
                  <a:moveTo>
                    <a:pt x="0" y="0"/>
                  </a:moveTo>
                  <a:lnTo>
                    <a:pt x="2667000" y="2144157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2"/>
          <p:cNvSpPr txBox="1"/>
          <p:nvPr/>
        </p:nvSpPr>
        <p:spPr>
          <a:xfrm>
            <a:off x="5263959" y="4791256"/>
            <a:ext cx="1146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/>
                <a:cs typeface="Calibri"/>
              </a:rPr>
              <a:t>Tumor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3"/>
          <p:cNvSpPr txBox="1"/>
          <p:nvPr/>
        </p:nvSpPr>
        <p:spPr>
          <a:xfrm>
            <a:off x="3543300" y="3162888"/>
            <a:ext cx="4165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libri"/>
                <a:cs typeface="Calibri"/>
              </a:rPr>
              <a:t>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4"/>
          <p:cNvSpPr txBox="1"/>
          <p:nvPr/>
        </p:nvSpPr>
        <p:spPr>
          <a:xfrm>
            <a:off x="7831072" y="1873955"/>
            <a:ext cx="3872865" cy="20828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Clump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Thickness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Size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Shape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Calibri"/>
                <a:cs typeface="Calibri"/>
              </a:rPr>
              <a:t>…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9" name="object 36">
            <a:extLst>
              <a:ext uri="{FF2B5EF4-FFF2-40B4-BE49-F238E27FC236}">
                <a16:creationId xmlns:a16="http://schemas.microsoft.com/office/drawing/2014/main" id="{8CE17DC6-75B0-32FC-FD07-B0E475B26198}"/>
              </a:ext>
            </a:extLst>
          </p:cNvPr>
          <p:cNvSpPr txBox="1"/>
          <p:nvPr/>
        </p:nvSpPr>
        <p:spPr>
          <a:xfrm>
            <a:off x="10398608" y="6356350"/>
            <a:ext cx="1530927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Based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example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Andrew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Ng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638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4C27-D774-8FCF-3428-5BA9F434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Unsupervised</a:t>
            </a:r>
            <a:r>
              <a:rPr lang="en-US" spc="-17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51777-F57C-7052-1F71-A28DE2854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1260783"/>
          </a:xfrm>
        </p:spPr>
        <p:txBody>
          <a:bodyPr>
            <a:norm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  <a:tab pos="3698240" algn="l"/>
              </a:tabLst>
            </a:pPr>
            <a:r>
              <a:rPr lang="en-US" dirty="0">
                <a:latin typeface="Calibri"/>
                <a:cs typeface="Calibri"/>
              </a:rPr>
              <a:t>Given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i="1" spc="75" dirty="0">
                <a:latin typeface="Georgia"/>
                <a:cs typeface="Georgia"/>
              </a:rPr>
              <a:t>x</a:t>
            </a:r>
            <a:r>
              <a:rPr lang="en-US" spc="112" baseline="-18518" dirty="0">
                <a:latin typeface="Calibri"/>
                <a:cs typeface="Calibri"/>
              </a:rPr>
              <a:t>1</a:t>
            </a:r>
            <a:r>
              <a:rPr lang="en-US" spc="75" dirty="0">
                <a:latin typeface="Calibri"/>
                <a:cs typeface="Calibri"/>
              </a:rPr>
              <a:t>,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i="1" spc="75" dirty="0">
                <a:latin typeface="Georgia"/>
                <a:cs typeface="Georgia"/>
              </a:rPr>
              <a:t>x</a:t>
            </a:r>
            <a:r>
              <a:rPr lang="en-US" spc="112" baseline="-18518" dirty="0">
                <a:latin typeface="Calibri"/>
                <a:cs typeface="Calibri"/>
              </a:rPr>
              <a:t>2</a:t>
            </a:r>
            <a:r>
              <a:rPr lang="en-US" spc="75" dirty="0">
                <a:latin typeface="Calibri"/>
                <a:cs typeface="Calibri"/>
              </a:rPr>
              <a:t>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...,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i="1" spc="80" dirty="0" err="1">
                <a:latin typeface="Georgia"/>
                <a:cs typeface="Georgia"/>
              </a:rPr>
              <a:t>x</a:t>
            </a:r>
            <a:r>
              <a:rPr lang="en-US" spc="120" baseline="-18518" dirty="0" err="1">
                <a:latin typeface="Calibri"/>
                <a:cs typeface="Calibri"/>
              </a:rPr>
              <a:t>n</a:t>
            </a:r>
            <a:r>
              <a:rPr lang="en-US" spc="120" baseline="-18518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(without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labels)</a:t>
            </a:r>
            <a:endParaRPr lang="en-US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lang="en-US" dirty="0">
                <a:latin typeface="Calibri"/>
                <a:cs typeface="Calibri"/>
              </a:rPr>
              <a:t>Output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hidden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structure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behind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i="1" spc="-25" dirty="0">
                <a:latin typeface="Georgia"/>
                <a:cs typeface="Georgia"/>
              </a:rPr>
              <a:t>x</a:t>
            </a:r>
            <a:r>
              <a:rPr lang="en-US" spc="-25" dirty="0">
                <a:latin typeface="Calibri"/>
                <a:cs typeface="Calibri"/>
              </a:rPr>
              <a:t>’s</a:t>
            </a:r>
            <a:endParaRPr lang="en-US" dirty="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lang="en-US" sz="1800" dirty="0">
                <a:latin typeface="Calibri"/>
                <a:cs typeface="Calibri"/>
              </a:rPr>
              <a:t>E.g.,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clustering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A815-0F90-9E59-CFA8-66E7B089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DFFF-A469-2E95-7FE1-443C85BC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B6E5-CE26-166F-72D1-F19ADF79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7" name="object 4"/>
          <p:cNvGrpSpPr/>
          <p:nvPr/>
        </p:nvGrpSpPr>
        <p:grpSpPr>
          <a:xfrm>
            <a:off x="3517069" y="2662871"/>
            <a:ext cx="7954645" cy="2726055"/>
            <a:chOff x="672675" y="3044736"/>
            <a:chExt cx="7954645" cy="2726055"/>
          </a:xfrm>
        </p:grpSpPr>
        <p:sp>
          <p:nvSpPr>
            <p:cNvPr id="8" name="object 5"/>
            <p:cNvSpPr/>
            <p:nvPr/>
          </p:nvSpPr>
          <p:spPr>
            <a:xfrm>
              <a:off x="6726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19"/>
                  </a:lnTo>
                  <a:lnTo>
                    <a:pt x="164376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099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60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4254500"/>
              <a:ext cx="368300" cy="368300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909" y="4294906"/>
              <a:ext cx="241300" cy="241300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1800" y="4368800"/>
              <a:ext cx="368300" cy="368300"/>
            </a:xfrm>
            <a:prstGeom prst="rect">
              <a:avLst/>
            </a:prstGeom>
          </p:spPr>
        </p:pic>
        <p:sp>
          <p:nvSpPr>
            <p:cNvPr id="12" name="object 9"/>
            <p:cNvSpPr/>
            <p:nvPr/>
          </p:nvSpPr>
          <p:spPr>
            <a:xfrm>
              <a:off x="17708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/>
            <p:cNvSpPr/>
            <p:nvPr/>
          </p:nvSpPr>
          <p:spPr>
            <a:xfrm>
              <a:off x="17708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1800" y="4864100"/>
              <a:ext cx="368300" cy="368300"/>
            </a:xfrm>
            <a:prstGeom prst="rect">
              <a:avLst/>
            </a:prstGeom>
          </p:spPr>
        </p:pic>
        <p:sp>
          <p:nvSpPr>
            <p:cNvPr id="15" name="object 12"/>
            <p:cNvSpPr/>
            <p:nvPr/>
          </p:nvSpPr>
          <p:spPr>
            <a:xfrm>
              <a:off x="17708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/>
            <p:cNvSpPr/>
            <p:nvPr/>
          </p:nvSpPr>
          <p:spPr>
            <a:xfrm>
              <a:off x="17708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4600" y="4749800"/>
              <a:ext cx="368300" cy="368300"/>
            </a:xfrm>
            <a:prstGeom prst="rect">
              <a:avLst/>
            </a:prstGeom>
          </p:spPr>
        </p:pic>
        <p:sp>
          <p:nvSpPr>
            <p:cNvPr id="18" name="object 15"/>
            <p:cNvSpPr/>
            <p:nvPr/>
          </p:nvSpPr>
          <p:spPr>
            <a:xfrm>
              <a:off x="13136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/>
            <p:cNvSpPr/>
            <p:nvPr/>
          </p:nvSpPr>
          <p:spPr>
            <a:xfrm>
              <a:off x="13136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5600" y="3657599"/>
              <a:ext cx="368300" cy="368300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8269" y="3700028"/>
              <a:ext cx="241300" cy="241300"/>
            </a:xfrm>
            <a:prstGeom prst="rect">
              <a:avLst/>
            </a:prstGeom>
          </p:spPr>
        </p:pic>
        <p:pic>
          <p:nvPicPr>
            <p:cNvPr id="22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0400" y="3911600"/>
              <a:ext cx="368300" cy="368300"/>
            </a:xfrm>
            <a:prstGeom prst="rect">
              <a:avLst/>
            </a:prstGeom>
          </p:spPr>
        </p:pic>
        <p:pic>
          <p:nvPicPr>
            <p:cNvPr id="23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3069" y="3949984"/>
              <a:ext cx="241300" cy="241300"/>
            </a:xfrm>
            <a:prstGeom prst="rect">
              <a:avLst/>
            </a:prstGeom>
          </p:spPr>
        </p:pic>
        <p:pic>
          <p:nvPicPr>
            <p:cNvPr id="24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3300" y="3695699"/>
              <a:ext cx="368300" cy="368300"/>
            </a:xfrm>
            <a:prstGeom prst="rect">
              <a:avLst/>
            </a:prstGeom>
          </p:spPr>
        </p:pic>
        <p:pic>
          <p:nvPicPr>
            <p:cNvPr id="25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5969" y="3730039"/>
              <a:ext cx="241300" cy="241300"/>
            </a:xfrm>
            <a:prstGeom prst="rect">
              <a:avLst/>
            </a:prstGeom>
          </p:spPr>
        </p:pic>
        <p:pic>
          <p:nvPicPr>
            <p:cNvPr id="26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600" y="3416299"/>
              <a:ext cx="368300" cy="368300"/>
            </a:xfrm>
            <a:prstGeom prst="rect">
              <a:avLst/>
            </a:prstGeom>
          </p:spPr>
        </p:pic>
        <p:sp>
          <p:nvSpPr>
            <p:cNvPr id="27" name="object 24"/>
            <p:cNvSpPr/>
            <p:nvPr/>
          </p:nvSpPr>
          <p:spPr>
            <a:xfrm>
              <a:off x="20774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/>
            <p:cNvSpPr/>
            <p:nvPr/>
          </p:nvSpPr>
          <p:spPr>
            <a:xfrm>
              <a:off x="20774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800" y="4368800"/>
              <a:ext cx="368300" cy="368300"/>
            </a:xfrm>
            <a:prstGeom prst="rect">
              <a:avLst/>
            </a:prstGeom>
          </p:spPr>
        </p:pic>
        <p:pic>
          <p:nvPicPr>
            <p:cNvPr id="30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4469" y="4409206"/>
              <a:ext cx="241300" cy="241300"/>
            </a:xfrm>
            <a:prstGeom prst="rect">
              <a:avLst/>
            </a:prstGeom>
          </p:spPr>
        </p:pic>
        <p:pic>
          <p:nvPicPr>
            <p:cNvPr id="31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7800" y="4711700"/>
              <a:ext cx="368300" cy="368300"/>
            </a:xfrm>
            <a:prstGeom prst="rect">
              <a:avLst/>
            </a:prstGeom>
          </p:spPr>
        </p:pic>
        <p:pic>
          <p:nvPicPr>
            <p:cNvPr id="32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82309" y="4752106"/>
              <a:ext cx="241300" cy="241300"/>
            </a:xfrm>
            <a:prstGeom prst="rect">
              <a:avLst/>
            </a:prstGeom>
          </p:spPr>
        </p:pic>
        <p:pic>
          <p:nvPicPr>
            <p:cNvPr id="33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6100" y="4711700"/>
              <a:ext cx="368300" cy="368300"/>
            </a:xfrm>
            <a:prstGeom prst="rect">
              <a:avLst/>
            </a:prstGeom>
          </p:spPr>
        </p:pic>
        <p:pic>
          <p:nvPicPr>
            <p:cNvPr id="34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8769" y="4752106"/>
              <a:ext cx="241300" cy="241300"/>
            </a:xfrm>
            <a:prstGeom prst="rect">
              <a:avLst/>
            </a:prstGeom>
          </p:spPr>
        </p:pic>
        <p:pic>
          <p:nvPicPr>
            <p:cNvPr id="35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4400" y="4546600"/>
              <a:ext cx="368300" cy="368300"/>
            </a:xfrm>
            <a:prstGeom prst="rect">
              <a:avLst/>
            </a:prstGeom>
          </p:spPr>
        </p:pic>
        <p:pic>
          <p:nvPicPr>
            <p:cNvPr id="36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7069" y="4584984"/>
              <a:ext cx="241300" cy="241300"/>
            </a:xfrm>
            <a:prstGeom prst="rect">
              <a:avLst/>
            </a:prstGeom>
          </p:spPr>
        </p:pic>
        <p:pic>
          <p:nvPicPr>
            <p:cNvPr id="37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8600" y="4622800"/>
              <a:ext cx="368300" cy="368300"/>
            </a:xfrm>
            <a:prstGeom prst="rect">
              <a:avLst/>
            </a:prstGeom>
          </p:spPr>
        </p:pic>
        <p:sp>
          <p:nvSpPr>
            <p:cNvPr id="38" name="object 35"/>
            <p:cNvSpPr/>
            <p:nvPr/>
          </p:nvSpPr>
          <p:spPr>
            <a:xfrm>
              <a:off x="15731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6"/>
            <p:cNvSpPr/>
            <p:nvPr/>
          </p:nvSpPr>
          <p:spPr>
            <a:xfrm>
              <a:off x="15731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65300" y="3301999"/>
              <a:ext cx="368300" cy="368300"/>
            </a:xfrm>
            <a:prstGeom prst="rect">
              <a:avLst/>
            </a:prstGeom>
          </p:spPr>
        </p:pic>
        <p:sp>
          <p:nvSpPr>
            <p:cNvPr id="41" name="object 38"/>
            <p:cNvSpPr/>
            <p:nvPr/>
          </p:nvSpPr>
          <p:spPr>
            <a:xfrm>
              <a:off x="18289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9"/>
            <p:cNvSpPr/>
            <p:nvPr/>
          </p:nvSpPr>
          <p:spPr>
            <a:xfrm>
              <a:off x="18289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0"/>
            <p:cNvSpPr/>
            <p:nvPr/>
          </p:nvSpPr>
          <p:spPr>
            <a:xfrm>
              <a:off x="50287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19"/>
                  </a:lnTo>
                  <a:lnTo>
                    <a:pt x="164376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60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1499" y="42545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2359" y="4301256"/>
              <a:ext cx="228600" cy="228600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6009" y="4294906"/>
              <a:ext cx="241300" cy="241300"/>
            </a:xfrm>
            <a:prstGeom prst="rect">
              <a:avLst/>
            </a:prstGeom>
          </p:spPr>
        </p:pic>
        <p:pic>
          <p:nvPicPr>
            <p:cNvPr id="47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899" y="43688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6919" y="4415556"/>
              <a:ext cx="228600" cy="228600"/>
            </a:xfrm>
            <a:prstGeom prst="rect">
              <a:avLst/>
            </a:prstGeom>
          </p:spPr>
        </p:pic>
        <p:sp>
          <p:nvSpPr>
            <p:cNvPr id="49" name="object 46"/>
            <p:cNvSpPr/>
            <p:nvPr/>
          </p:nvSpPr>
          <p:spPr>
            <a:xfrm>
              <a:off x="61269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7899" y="48641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6919" y="4912878"/>
              <a:ext cx="228600" cy="228600"/>
            </a:xfrm>
            <a:prstGeom prst="rect">
              <a:avLst/>
            </a:prstGeom>
          </p:spPr>
        </p:pic>
        <p:sp>
          <p:nvSpPr>
            <p:cNvPr id="52" name="object 49"/>
            <p:cNvSpPr/>
            <p:nvPr/>
          </p:nvSpPr>
          <p:spPr>
            <a:xfrm>
              <a:off x="61269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0699" y="4749800"/>
              <a:ext cx="368300" cy="368300"/>
            </a:xfrm>
            <a:prstGeom prst="rect">
              <a:avLst/>
            </a:prstGeom>
          </p:spPr>
        </p:pic>
        <p:pic>
          <p:nvPicPr>
            <p:cNvPr id="54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69719" y="4798578"/>
              <a:ext cx="228600" cy="228600"/>
            </a:xfrm>
            <a:prstGeom prst="rect">
              <a:avLst/>
            </a:prstGeom>
          </p:spPr>
        </p:pic>
        <p:sp>
          <p:nvSpPr>
            <p:cNvPr id="55" name="object 52"/>
            <p:cNvSpPr/>
            <p:nvPr/>
          </p:nvSpPr>
          <p:spPr>
            <a:xfrm>
              <a:off x="56697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699" y="3657599"/>
              <a:ext cx="368300" cy="368300"/>
            </a:xfrm>
            <a:prstGeom prst="rect">
              <a:avLst/>
            </a:prstGeom>
          </p:spPr>
        </p:pic>
        <p:pic>
          <p:nvPicPr>
            <p:cNvPr id="57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44369" y="3700028"/>
              <a:ext cx="241300" cy="241300"/>
            </a:xfrm>
            <a:prstGeom prst="rect">
              <a:avLst/>
            </a:prstGeom>
          </p:spPr>
        </p:pic>
        <p:pic>
          <p:nvPicPr>
            <p:cNvPr id="58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6499" y="3911600"/>
              <a:ext cx="368300" cy="368300"/>
            </a:xfrm>
            <a:prstGeom prst="rect">
              <a:avLst/>
            </a:prstGeom>
          </p:spPr>
        </p:pic>
        <p:pic>
          <p:nvPicPr>
            <p:cNvPr id="59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49169" y="3949984"/>
              <a:ext cx="241300" cy="241300"/>
            </a:xfrm>
            <a:prstGeom prst="rect">
              <a:avLst/>
            </a:prstGeom>
          </p:spPr>
        </p:pic>
        <p:pic>
          <p:nvPicPr>
            <p:cNvPr id="60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9399" y="3695699"/>
              <a:ext cx="368300" cy="368300"/>
            </a:xfrm>
            <a:prstGeom prst="rect">
              <a:avLst/>
            </a:prstGeom>
          </p:spPr>
        </p:pic>
        <p:pic>
          <p:nvPicPr>
            <p:cNvPr id="61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92069" y="3730039"/>
              <a:ext cx="241300" cy="241300"/>
            </a:xfrm>
            <a:prstGeom prst="rect">
              <a:avLst/>
            </a:prstGeom>
          </p:spPr>
        </p:pic>
        <p:pic>
          <p:nvPicPr>
            <p:cNvPr id="62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2699" y="3416299"/>
              <a:ext cx="368300" cy="368300"/>
            </a:xfrm>
            <a:prstGeom prst="rect">
              <a:avLst/>
            </a:prstGeom>
          </p:spPr>
        </p:pic>
        <p:sp>
          <p:nvSpPr>
            <p:cNvPr id="63" name="object 60"/>
            <p:cNvSpPr/>
            <p:nvPr/>
          </p:nvSpPr>
          <p:spPr>
            <a:xfrm>
              <a:off x="64335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1"/>
            <p:cNvSpPr/>
            <p:nvPr/>
          </p:nvSpPr>
          <p:spPr>
            <a:xfrm>
              <a:off x="64335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7899" y="4368800"/>
              <a:ext cx="368300" cy="368300"/>
            </a:xfrm>
            <a:prstGeom prst="rect">
              <a:avLst/>
            </a:prstGeom>
          </p:spPr>
        </p:pic>
        <p:pic>
          <p:nvPicPr>
            <p:cNvPr id="66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0569" y="4409206"/>
              <a:ext cx="241300" cy="241300"/>
            </a:xfrm>
            <a:prstGeom prst="rect">
              <a:avLst/>
            </a:prstGeom>
          </p:spPr>
        </p:pic>
        <p:pic>
          <p:nvPicPr>
            <p:cNvPr id="67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3899" y="4711700"/>
              <a:ext cx="368300" cy="368300"/>
            </a:xfrm>
            <a:prstGeom prst="rect">
              <a:avLst/>
            </a:prstGeom>
          </p:spPr>
        </p:pic>
        <p:pic>
          <p:nvPicPr>
            <p:cNvPr id="68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38409" y="4752106"/>
              <a:ext cx="241300" cy="241300"/>
            </a:xfrm>
            <a:prstGeom prst="rect">
              <a:avLst/>
            </a:prstGeom>
          </p:spPr>
        </p:pic>
        <p:pic>
          <p:nvPicPr>
            <p:cNvPr id="69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199" y="4711700"/>
              <a:ext cx="368300" cy="368300"/>
            </a:xfrm>
            <a:prstGeom prst="rect">
              <a:avLst/>
            </a:prstGeom>
          </p:spPr>
        </p:pic>
        <p:pic>
          <p:nvPicPr>
            <p:cNvPr id="70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04869" y="4752106"/>
              <a:ext cx="241300" cy="241300"/>
            </a:xfrm>
            <a:prstGeom prst="rect">
              <a:avLst/>
            </a:prstGeom>
          </p:spPr>
        </p:pic>
        <p:pic>
          <p:nvPicPr>
            <p:cNvPr id="71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0499" y="4546600"/>
              <a:ext cx="368300" cy="368300"/>
            </a:xfrm>
            <a:prstGeom prst="rect">
              <a:avLst/>
            </a:prstGeom>
          </p:spPr>
        </p:pic>
        <p:pic>
          <p:nvPicPr>
            <p:cNvPr id="72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3169" y="4584984"/>
              <a:ext cx="241300" cy="241300"/>
            </a:xfrm>
            <a:prstGeom prst="rect">
              <a:avLst/>
            </a:prstGeom>
          </p:spPr>
        </p:pic>
        <p:pic>
          <p:nvPicPr>
            <p:cNvPr id="73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4699" y="4622800"/>
              <a:ext cx="368300" cy="368300"/>
            </a:xfrm>
            <a:prstGeom prst="rect">
              <a:avLst/>
            </a:prstGeom>
          </p:spPr>
        </p:pic>
        <p:pic>
          <p:nvPicPr>
            <p:cNvPr id="74" name="object 7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9240" y="4667534"/>
              <a:ext cx="228600" cy="228600"/>
            </a:xfrm>
            <a:prstGeom prst="rect">
              <a:avLst/>
            </a:prstGeom>
          </p:spPr>
        </p:pic>
        <p:sp>
          <p:nvSpPr>
            <p:cNvPr id="75" name="object 72"/>
            <p:cNvSpPr/>
            <p:nvPr/>
          </p:nvSpPr>
          <p:spPr>
            <a:xfrm>
              <a:off x="59292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1399" y="3301999"/>
              <a:ext cx="368300" cy="368300"/>
            </a:xfrm>
            <a:prstGeom prst="rect">
              <a:avLst/>
            </a:prstGeom>
          </p:spPr>
        </p:pic>
        <p:sp>
          <p:nvSpPr>
            <p:cNvPr id="77" name="object 74"/>
            <p:cNvSpPr/>
            <p:nvPr/>
          </p:nvSpPr>
          <p:spPr>
            <a:xfrm>
              <a:off x="61850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5"/>
            <p:cNvSpPr/>
            <p:nvPr/>
          </p:nvSpPr>
          <p:spPr>
            <a:xfrm>
              <a:off x="61850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86200" y="3873500"/>
              <a:ext cx="1219200" cy="698500"/>
            </a:xfrm>
            <a:prstGeom prst="rect">
              <a:avLst/>
            </a:prstGeom>
          </p:spPr>
        </p:pic>
        <p:pic>
          <p:nvPicPr>
            <p:cNvPr id="80" name="object 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49699" y="3934978"/>
              <a:ext cx="1079074" cy="534494"/>
            </a:xfrm>
            <a:prstGeom prst="rect">
              <a:avLst/>
            </a:prstGeom>
          </p:spPr>
        </p:pic>
        <p:sp>
          <p:nvSpPr>
            <p:cNvPr id="81" name="object 78"/>
            <p:cNvSpPr/>
            <p:nvPr/>
          </p:nvSpPr>
          <p:spPr>
            <a:xfrm>
              <a:off x="3949699" y="3934978"/>
              <a:ext cx="1079500" cy="534670"/>
            </a:xfrm>
            <a:custGeom>
              <a:avLst/>
              <a:gdLst/>
              <a:ahLst/>
              <a:cxnLst/>
              <a:rect l="l" t="t" r="r" b="b"/>
              <a:pathLst>
                <a:path w="1079500" h="534670">
                  <a:moveTo>
                    <a:pt x="0" y="133624"/>
                  </a:moveTo>
                  <a:lnTo>
                    <a:pt x="811828" y="133624"/>
                  </a:lnTo>
                  <a:lnTo>
                    <a:pt x="811828" y="0"/>
                  </a:lnTo>
                  <a:lnTo>
                    <a:pt x="1079075" y="267248"/>
                  </a:lnTo>
                  <a:lnTo>
                    <a:pt x="811828" y="534495"/>
                  </a:lnTo>
                  <a:lnTo>
                    <a:pt x="811828" y="400870"/>
                  </a:lnTo>
                  <a:lnTo>
                    <a:pt x="0" y="400870"/>
                  </a:lnTo>
                  <a:lnTo>
                    <a:pt x="0" y="133624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8862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F122-60A1-5035-EAE5-2E5191B2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12A2-4CDC-EEC1-B02E-B6302B7D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Unsupervised</a:t>
            </a:r>
            <a:r>
              <a:rPr lang="en-US" spc="-17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E849A-06B9-4103-D4B3-8F11D8B9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DC209-A740-710C-CE3D-81EE95E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CCD82-9E56-3FC2-DF85-BD3207D1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3" name="Content Placeholder 82">
            <a:extLst>
              <a:ext uri="{FF2B5EF4-FFF2-40B4-BE49-F238E27FC236}">
                <a16:creationId xmlns:a16="http://schemas.microsoft.com/office/drawing/2014/main" id="{60C280F2-E0A4-264F-7CD9-4B6360217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9022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Genomics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application: </a:t>
            </a:r>
            <a:r>
              <a:rPr lang="en-US" dirty="0">
                <a:latin typeface="Calibri"/>
                <a:cs typeface="Calibri"/>
              </a:rPr>
              <a:t>Group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individuals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genetic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similarity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97" name="object 3"/>
          <p:cNvSpPr txBox="1"/>
          <p:nvPr/>
        </p:nvSpPr>
        <p:spPr>
          <a:xfrm>
            <a:off x="3586631" y="3138288"/>
            <a:ext cx="335915" cy="67310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Genes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8" name="object 4"/>
          <p:cNvSpPr txBox="1"/>
          <p:nvPr/>
        </p:nvSpPr>
        <p:spPr>
          <a:xfrm>
            <a:off x="7709400" y="5799415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Individuals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9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551" y="5580081"/>
            <a:ext cx="7830212" cy="203103"/>
          </a:xfrm>
          <a:prstGeom prst="rect">
            <a:avLst/>
          </a:prstGeom>
        </p:spPr>
      </p:pic>
      <p:grpSp>
        <p:nvGrpSpPr>
          <p:cNvPr id="100" name="object 6"/>
          <p:cNvGrpSpPr/>
          <p:nvPr/>
        </p:nvGrpSpPr>
        <p:grpSpPr>
          <a:xfrm>
            <a:off x="3922546" y="1430498"/>
            <a:ext cx="7848600" cy="4086860"/>
            <a:chOff x="752626" y="1834238"/>
            <a:chExt cx="7848600" cy="4086860"/>
          </a:xfrm>
        </p:grpSpPr>
        <p:pic>
          <p:nvPicPr>
            <p:cNvPr id="101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377" y="2052378"/>
              <a:ext cx="7830464" cy="3633792"/>
            </a:xfrm>
            <a:prstGeom prst="rect">
              <a:avLst/>
            </a:prstGeom>
          </p:spPr>
        </p:pic>
        <p:pic>
          <p:nvPicPr>
            <p:cNvPr id="102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626" y="5719439"/>
              <a:ext cx="7841630" cy="201352"/>
            </a:xfrm>
            <a:prstGeom prst="rect">
              <a:avLst/>
            </a:prstGeom>
          </p:spPr>
        </p:pic>
        <p:sp>
          <p:nvSpPr>
            <p:cNvPr id="103" name="object 9"/>
            <p:cNvSpPr/>
            <p:nvPr/>
          </p:nvSpPr>
          <p:spPr>
            <a:xfrm>
              <a:off x="766634" y="1841500"/>
              <a:ext cx="723265" cy="196215"/>
            </a:xfrm>
            <a:custGeom>
              <a:avLst/>
              <a:gdLst/>
              <a:ahLst/>
              <a:cxnLst/>
              <a:rect l="l" t="t" r="r" b="b"/>
              <a:pathLst>
                <a:path w="72326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99707" y="97956"/>
                  </a:lnTo>
                  <a:lnTo>
                    <a:pt x="321716" y="90258"/>
                  </a:lnTo>
                  <a:lnTo>
                    <a:pt x="339689" y="69265"/>
                  </a:lnTo>
                  <a:lnTo>
                    <a:pt x="351806" y="38129"/>
                  </a:lnTo>
                  <a:lnTo>
                    <a:pt x="356249" y="0"/>
                  </a:lnTo>
                  <a:lnTo>
                    <a:pt x="360693" y="38129"/>
                  </a:lnTo>
                  <a:lnTo>
                    <a:pt x="372810" y="69265"/>
                  </a:lnTo>
                  <a:lnTo>
                    <a:pt x="390783" y="90258"/>
                  </a:lnTo>
                  <a:lnTo>
                    <a:pt x="412792" y="97956"/>
                  </a:lnTo>
                  <a:lnTo>
                    <a:pt x="666587" y="97956"/>
                  </a:lnTo>
                  <a:lnTo>
                    <a:pt x="688596" y="105654"/>
                  </a:lnTo>
                  <a:lnTo>
                    <a:pt x="706569" y="126647"/>
                  </a:lnTo>
                  <a:lnTo>
                    <a:pt x="718686" y="157783"/>
                  </a:lnTo>
                  <a:lnTo>
                    <a:pt x="72313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"/>
            <p:cNvSpPr/>
            <p:nvPr/>
          </p:nvSpPr>
          <p:spPr>
            <a:xfrm>
              <a:off x="1489766" y="1841502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23102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8" y="90258"/>
                  </a:lnTo>
                  <a:lnTo>
                    <a:pt x="336187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1"/>
            <p:cNvSpPr/>
            <p:nvPr/>
          </p:nvSpPr>
          <p:spPr>
            <a:xfrm>
              <a:off x="2057401" y="1840589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23102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8" y="90258"/>
                  </a:lnTo>
                  <a:lnTo>
                    <a:pt x="336187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2"/>
            <p:cNvSpPr/>
            <p:nvPr/>
          </p:nvSpPr>
          <p:spPr>
            <a:xfrm>
              <a:off x="2625034" y="1840589"/>
              <a:ext cx="652145" cy="196215"/>
            </a:xfrm>
            <a:custGeom>
              <a:avLst/>
              <a:gdLst/>
              <a:ahLst/>
              <a:cxnLst/>
              <a:rect l="l" t="t" r="r" b="b"/>
              <a:pathLst>
                <a:path w="65214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64451" y="97956"/>
                  </a:lnTo>
                  <a:lnTo>
                    <a:pt x="286459" y="90258"/>
                  </a:lnTo>
                  <a:lnTo>
                    <a:pt x="304432" y="69265"/>
                  </a:lnTo>
                  <a:lnTo>
                    <a:pt x="316550" y="38129"/>
                  </a:lnTo>
                  <a:lnTo>
                    <a:pt x="320993" y="0"/>
                  </a:lnTo>
                  <a:lnTo>
                    <a:pt x="325436" y="38129"/>
                  </a:lnTo>
                  <a:lnTo>
                    <a:pt x="337554" y="69265"/>
                  </a:lnTo>
                  <a:lnTo>
                    <a:pt x="355526" y="90258"/>
                  </a:lnTo>
                  <a:lnTo>
                    <a:pt x="377535" y="97956"/>
                  </a:lnTo>
                  <a:lnTo>
                    <a:pt x="595022" y="97956"/>
                  </a:lnTo>
                  <a:lnTo>
                    <a:pt x="617031" y="105654"/>
                  </a:lnTo>
                  <a:lnTo>
                    <a:pt x="635004" y="126647"/>
                  </a:lnTo>
                  <a:lnTo>
                    <a:pt x="647121" y="157783"/>
                  </a:lnTo>
                  <a:lnTo>
                    <a:pt x="65156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3"/>
            <p:cNvSpPr/>
            <p:nvPr/>
          </p:nvSpPr>
          <p:spPr>
            <a:xfrm>
              <a:off x="3276599" y="1840589"/>
              <a:ext cx="1066800" cy="196215"/>
            </a:xfrm>
            <a:custGeom>
              <a:avLst/>
              <a:gdLst/>
              <a:ahLst/>
              <a:cxnLst/>
              <a:rect l="l" t="t" r="r" b="b"/>
              <a:pathLst>
                <a:path w="10668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1" y="126646"/>
                  </a:lnTo>
                  <a:lnTo>
                    <a:pt x="34533" y="105653"/>
                  </a:lnTo>
                  <a:lnTo>
                    <a:pt x="56543" y="97955"/>
                  </a:lnTo>
                  <a:lnTo>
                    <a:pt x="469016" y="97957"/>
                  </a:lnTo>
                  <a:lnTo>
                    <a:pt x="491025" y="90259"/>
                  </a:lnTo>
                  <a:lnTo>
                    <a:pt x="508998" y="69266"/>
                  </a:lnTo>
                  <a:lnTo>
                    <a:pt x="521115" y="38129"/>
                  </a:lnTo>
                  <a:lnTo>
                    <a:pt x="525559" y="0"/>
                  </a:lnTo>
                  <a:lnTo>
                    <a:pt x="530002" y="38129"/>
                  </a:lnTo>
                  <a:lnTo>
                    <a:pt x="542120" y="69266"/>
                  </a:lnTo>
                  <a:lnTo>
                    <a:pt x="560092" y="90259"/>
                  </a:lnTo>
                  <a:lnTo>
                    <a:pt x="582101" y="97957"/>
                  </a:lnTo>
                  <a:lnTo>
                    <a:pt x="1010258" y="97957"/>
                  </a:lnTo>
                  <a:lnTo>
                    <a:pt x="1032267" y="105655"/>
                  </a:lnTo>
                  <a:lnTo>
                    <a:pt x="1050240" y="126648"/>
                  </a:lnTo>
                  <a:lnTo>
                    <a:pt x="1062357" y="157784"/>
                  </a:lnTo>
                  <a:lnTo>
                    <a:pt x="1066801" y="1959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4"/>
            <p:cNvSpPr/>
            <p:nvPr/>
          </p:nvSpPr>
          <p:spPr>
            <a:xfrm>
              <a:off x="4343399" y="1840588"/>
              <a:ext cx="990600" cy="196215"/>
            </a:xfrm>
            <a:custGeom>
              <a:avLst/>
              <a:gdLst/>
              <a:ahLst/>
              <a:cxnLst/>
              <a:rect l="l" t="t" r="r" b="b"/>
              <a:pathLst>
                <a:path w="9906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431476" y="97956"/>
                  </a:lnTo>
                  <a:lnTo>
                    <a:pt x="453485" y="90258"/>
                  </a:lnTo>
                  <a:lnTo>
                    <a:pt x="471458" y="69265"/>
                  </a:lnTo>
                  <a:lnTo>
                    <a:pt x="483575" y="38129"/>
                  </a:lnTo>
                  <a:lnTo>
                    <a:pt x="488018" y="0"/>
                  </a:lnTo>
                  <a:lnTo>
                    <a:pt x="492462" y="38129"/>
                  </a:lnTo>
                  <a:lnTo>
                    <a:pt x="504579" y="69265"/>
                  </a:lnTo>
                  <a:lnTo>
                    <a:pt x="522552" y="90258"/>
                  </a:lnTo>
                  <a:lnTo>
                    <a:pt x="544561" y="97956"/>
                  </a:lnTo>
                  <a:lnTo>
                    <a:pt x="934057" y="97956"/>
                  </a:lnTo>
                  <a:lnTo>
                    <a:pt x="956066" y="105654"/>
                  </a:lnTo>
                  <a:lnTo>
                    <a:pt x="974039" y="126647"/>
                  </a:lnTo>
                  <a:lnTo>
                    <a:pt x="986156" y="157783"/>
                  </a:lnTo>
                  <a:lnTo>
                    <a:pt x="99060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5"/>
            <p:cNvSpPr/>
            <p:nvPr/>
          </p:nvSpPr>
          <p:spPr>
            <a:xfrm>
              <a:off x="5341146" y="1840590"/>
              <a:ext cx="1440815" cy="196215"/>
            </a:xfrm>
            <a:custGeom>
              <a:avLst/>
              <a:gdLst/>
              <a:ahLst/>
              <a:cxnLst/>
              <a:rect l="l" t="t" r="r" b="b"/>
              <a:pathLst>
                <a:path w="144081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653196" y="97956"/>
                  </a:lnTo>
                  <a:lnTo>
                    <a:pt x="675205" y="90258"/>
                  </a:lnTo>
                  <a:lnTo>
                    <a:pt x="693178" y="69265"/>
                  </a:lnTo>
                  <a:lnTo>
                    <a:pt x="705295" y="38129"/>
                  </a:lnTo>
                  <a:lnTo>
                    <a:pt x="709738" y="0"/>
                  </a:lnTo>
                  <a:lnTo>
                    <a:pt x="714182" y="38129"/>
                  </a:lnTo>
                  <a:lnTo>
                    <a:pt x="726299" y="69265"/>
                  </a:lnTo>
                  <a:lnTo>
                    <a:pt x="744272" y="90258"/>
                  </a:lnTo>
                  <a:lnTo>
                    <a:pt x="766281" y="97956"/>
                  </a:lnTo>
                  <a:lnTo>
                    <a:pt x="1384113" y="97956"/>
                  </a:lnTo>
                  <a:lnTo>
                    <a:pt x="1406122" y="105654"/>
                  </a:lnTo>
                  <a:lnTo>
                    <a:pt x="1424095" y="126647"/>
                  </a:lnTo>
                  <a:lnTo>
                    <a:pt x="1436212" y="157783"/>
                  </a:lnTo>
                  <a:lnTo>
                    <a:pt x="1440656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6"/>
            <p:cNvSpPr/>
            <p:nvPr/>
          </p:nvSpPr>
          <p:spPr>
            <a:xfrm>
              <a:off x="6781801" y="1841502"/>
              <a:ext cx="1812925" cy="196215"/>
            </a:xfrm>
            <a:custGeom>
              <a:avLst/>
              <a:gdLst/>
              <a:ahLst/>
              <a:cxnLst/>
              <a:rect l="l" t="t" r="r" b="b"/>
              <a:pathLst>
                <a:path w="181292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6"/>
                  </a:lnTo>
                  <a:lnTo>
                    <a:pt x="34533" y="105653"/>
                  </a:lnTo>
                  <a:lnTo>
                    <a:pt x="56542" y="97955"/>
                  </a:lnTo>
                  <a:lnTo>
                    <a:pt x="836364" y="97957"/>
                  </a:lnTo>
                  <a:lnTo>
                    <a:pt x="858373" y="90259"/>
                  </a:lnTo>
                  <a:lnTo>
                    <a:pt x="876345" y="69266"/>
                  </a:lnTo>
                  <a:lnTo>
                    <a:pt x="888463" y="38129"/>
                  </a:lnTo>
                  <a:lnTo>
                    <a:pt x="892906" y="0"/>
                  </a:lnTo>
                  <a:lnTo>
                    <a:pt x="897349" y="38129"/>
                  </a:lnTo>
                  <a:lnTo>
                    <a:pt x="909467" y="69266"/>
                  </a:lnTo>
                  <a:lnTo>
                    <a:pt x="927440" y="90259"/>
                  </a:lnTo>
                  <a:lnTo>
                    <a:pt x="949448" y="97957"/>
                  </a:lnTo>
                  <a:lnTo>
                    <a:pt x="1755914" y="97957"/>
                  </a:lnTo>
                  <a:lnTo>
                    <a:pt x="1777923" y="105655"/>
                  </a:lnTo>
                  <a:lnTo>
                    <a:pt x="1795896" y="126648"/>
                  </a:lnTo>
                  <a:lnTo>
                    <a:pt x="1808013" y="157785"/>
                  </a:lnTo>
                  <a:lnTo>
                    <a:pt x="1812457" y="1959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2">
            <a:extLst>
              <a:ext uri="{FF2B5EF4-FFF2-40B4-BE49-F238E27FC236}">
                <a16:creationId xmlns:a16="http://schemas.microsoft.com/office/drawing/2014/main" id="{817ECDB1-63B3-2620-A198-F5DBE08D0AAE}"/>
              </a:ext>
            </a:extLst>
          </p:cNvPr>
          <p:cNvSpPr txBox="1"/>
          <p:nvPr/>
        </p:nvSpPr>
        <p:spPr>
          <a:xfrm>
            <a:off x="10803909" y="6348404"/>
            <a:ext cx="1125626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[Source:</a:t>
            </a:r>
            <a:r>
              <a:rPr sz="900" spc="-6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Daphne</a:t>
            </a:r>
            <a:r>
              <a:rPr sz="900" spc="-6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Koller]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1065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2C99-CCD7-FF93-ABCA-F16CB4ED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DD85-93A1-1A05-49C8-33AEF1E4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Unsupervised</a:t>
            </a:r>
            <a:r>
              <a:rPr lang="en-US" spc="-17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4F09-A30E-D8AC-6F56-DAF5547C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8C923-5904-5F86-5F8B-3152F901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7D074-0DB3-4A70-D53B-4FF8AF10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7299" y="927554"/>
            <a:ext cx="1490375" cy="1985374"/>
          </a:xfrm>
          <a:prstGeom prst="rect">
            <a:avLst/>
          </a:prstGeom>
        </p:spPr>
      </p:pic>
      <p:pic>
        <p:nvPicPr>
          <p:cNvPr id="85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1248" y="927554"/>
            <a:ext cx="1490375" cy="1985374"/>
          </a:xfrm>
          <a:prstGeom prst="rect">
            <a:avLst/>
          </a:prstGeom>
        </p:spPr>
      </p:pic>
      <p:sp>
        <p:nvSpPr>
          <p:cNvPr id="86" name="object 4"/>
          <p:cNvSpPr txBox="1"/>
          <p:nvPr/>
        </p:nvSpPr>
        <p:spPr>
          <a:xfrm>
            <a:off x="3976496" y="2976500"/>
            <a:ext cx="2650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clusters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7" name="object 5"/>
          <p:cNvSpPr txBox="1"/>
          <p:nvPr/>
        </p:nvSpPr>
        <p:spPr>
          <a:xfrm>
            <a:off x="8780873" y="3297011"/>
            <a:ext cx="2166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8" name="object 6"/>
          <p:cNvGrpSpPr/>
          <p:nvPr/>
        </p:nvGrpSpPr>
        <p:grpSpPr>
          <a:xfrm>
            <a:off x="8166484" y="3683451"/>
            <a:ext cx="3295015" cy="2186940"/>
            <a:chOff x="5094291" y="3988886"/>
            <a:chExt cx="3295015" cy="2186940"/>
          </a:xfrm>
        </p:grpSpPr>
        <p:pic>
          <p:nvPicPr>
            <p:cNvPr id="89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291" y="3988886"/>
              <a:ext cx="3294661" cy="2186486"/>
            </a:xfrm>
            <a:prstGeom prst="rect">
              <a:avLst/>
            </a:prstGeom>
          </p:spPr>
        </p:pic>
        <p:sp>
          <p:nvSpPr>
            <p:cNvPr id="90" name="object 8"/>
            <p:cNvSpPr/>
            <p:nvPr/>
          </p:nvSpPr>
          <p:spPr>
            <a:xfrm>
              <a:off x="5111677" y="6065151"/>
              <a:ext cx="2545715" cy="87630"/>
            </a:xfrm>
            <a:custGeom>
              <a:avLst/>
              <a:gdLst/>
              <a:ahLst/>
              <a:cxnLst/>
              <a:rect l="l" t="t" r="r" b="b"/>
              <a:pathLst>
                <a:path w="2545715" h="87629">
                  <a:moveTo>
                    <a:pt x="2545612" y="0"/>
                  </a:moveTo>
                  <a:lnTo>
                    <a:pt x="0" y="0"/>
                  </a:lnTo>
                  <a:lnTo>
                    <a:pt x="0" y="87151"/>
                  </a:lnTo>
                  <a:lnTo>
                    <a:pt x="2545612" y="87151"/>
                  </a:lnTo>
                  <a:lnTo>
                    <a:pt x="2545612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"/>
          <p:cNvSpPr txBox="1"/>
          <p:nvPr/>
        </p:nvSpPr>
        <p:spPr>
          <a:xfrm>
            <a:off x="8171170" y="5747016"/>
            <a:ext cx="27959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Calibri"/>
                <a:cs typeface="Calibri"/>
              </a:rPr>
              <a:t>Image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credit: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NASA/JPL-</a:t>
            </a:r>
            <a:r>
              <a:rPr sz="700" dirty="0">
                <a:latin typeface="Calibri"/>
                <a:cs typeface="Calibri"/>
              </a:rPr>
              <a:t>Caltech/E.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Churchwell</a:t>
            </a:r>
            <a:r>
              <a:rPr sz="700" spc="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(Univ.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of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Wisconsin,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Madison)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2" name="object 10"/>
          <p:cNvSpPr txBox="1"/>
          <p:nvPr/>
        </p:nvSpPr>
        <p:spPr>
          <a:xfrm>
            <a:off x="8627141" y="5947410"/>
            <a:ext cx="248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Astronomical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93" name="object 11"/>
          <p:cNvGrpSpPr/>
          <p:nvPr/>
        </p:nvGrpSpPr>
        <p:grpSpPr>
          <a:xfrm>
            <a:off x="3806818" y="2819101"/>
            <a:ext cx="3263900" cy="3390900"/>
            <a:chOff x="482600" y="3467100"/>
            <a:chExt cx="3263900" cy="3390900"/>
          </a:xfrm>
        </p:grpSpPr>
        <p:pic>
          <p:nvPicPr>
            <p:cNvPr id="94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600" y="3467100"/>
              <a:ext cx="3263900" cy="3390900"/>
            </a:xfrm>
            <a:prstGeom prst="rect">
              <a:avLst/>
            </a:prstGeom>
          </p:spPr>
        </p:pic>
        <p:pic>
          <p:nvPicPr>
            <p:cNvPr id="95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0913" y="4156908"/>
              <a:ext cx="368639" cy="678933"/>
            </a:xfrm>
            <a:prstGeom prst="rect">
              <a:avLst/>
            </a:prstGeom>
          </p:spPr>
        </p:pic>
        <p:pic>
          <p:nvPicPr>
            <p:cNvPr id="96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8502" y="3965120"/>
              <a:ext cx="368639" cy="678933"/>
            </a:xfrm>
            <a:prstGeom prst="rect">
              <a:avLst/>
            </a:prstGeom>
          </p:spPr>
        </p:pic>
        <p:pic>
          <p:nvPicPr>
            <p:cNvPr id="97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0" y="4273085"/>
              <a:ext cx="368639" cy="678933"/>
            </a:xfrm>
            <a:prstGeom prst="rect">
              <a:avLst/>
            </a:prstGeom>
          </p:spPr>
        </p:pic>
        <p:pic>
          <p:nvPicPr>
            <p:cNvPr id="98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1587" y="5035129"/>
              <a:ext cx="368639" cy="678933"/>
            </a:xfrm>
            <a:prstGeom prst="rect">
              <a:avLst/>
            </a:prstGeom>
          </p:spPr>
        </p:pic>
        <p:pic>
          <p:nvPicPr>
            <p:cNvPr id="99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5673" y="4876148"/>
              <a:ext cx="368639" cy="678933"/>
            </a:xfrm>
            <a:prstGeom prst="rect">
              <a:avLst/>
            </a:prstGeom>
          </p:spPr>
        </p:pic>
        <p:pic>
          <p:nvPicPr>
            <p:cNvPr id="100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4719" y="4876150"/>
              <a:ext cx="368639" cy="678933"/>
            </a:xfrm>
            <a:prstGeom prst="rect">
              <a:avLst/>
            </a:prstGeom>
          </p:spPr>
        </p:pic>
        <p:pic>
          <p:nvPicPr>
            <p:cNvPr id="101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60030" y="5073291"/>
              <a:ext cx="368639" cy="678933"/>
            </a:xfrm>
            <a:prstGeom prst="rect">
              <a:avLst/>
            </a:prstGeom>
          </p:spPr>
        </p:pic>
        <p:pic>
          <p:nvPicPr>
            <p:cNvPr id="102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6592" y="4968704"/>
              <a:ext cx="368639" cy="678933"/>
            </a:xfrm>
            <a:prstGeom prst="rect">
              <a:avLst/>
            </a:prstGeom>
          </p:spPr>
        </p:pic>
        <p:pic>
          <p:nvPicPr>
            <p:cNvPr id="103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8089" y="5317504"/>
              <a:ext cx="368639" cy="678933"/>
            </a:xfrm>
            <a:prstGeom prst="rect">
              <a:avLst/>
            </a:prstGeom>
          </p:spPr>
        </p:pic>
        <p:pic>
          <p:nvPicPr>
            <p:cNvPr id="104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3141" y="5256319"/>
              <a:ext cx="368639" cy="678933"/>
            </a:xfrm>
            <a:prstGeom prst="rect">
              <a:avLst/>
            </a:prstGeom>
          </p:spPr>
        </p:pic>
        <p:pic>
          <p:nvPicPr>
            <p:cNvPr id="105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5020" y="4015029"/>
              <a:ext cx="368639" cy="678933"/>
            </a:xfrm>
            <a:prstGeom prst="rect">
              <a:avLst/>
            </a:prstGeom>
          </p:spPr>
        </p:pic>
        <p:pic>
          <p:nvPicPr>
            <p:cNvPr id="106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0633" y="4096433"/>
              <a:ext cx="368639" cy="678933"/>
            </a:xfrm>
            <a:prstGeom prst="rect">
              <a:avLst/>
            </a:prstGeom>
          </p:spPr>
        </p:pic>
        <p:pic>
          <p:nvPicPr>
            <p:cNvPr id="107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2277" y="4326389"/>
              <a:ext cx="368639" cy="678933"/>
            </a:xfrm>
            <a:prstGeom prst="rect">
              <a:avLst/>
            </a:prstGeom>
          </p:spPr>
        </p:pic>
        <p:pic>
          <p:nvPicPr>
            <p:cNvPr id="108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637" y="4289769"/>
              <a:ext cx="368639" cy="678933"/>
            </a:xfrm>
            <a:prstGeom prst="rect">
              <a:avLst/>
            </a:prstGeom>
          </p:spPr>
        </p:pic>
        <p:pic>
          <p:nvPicPr>
            <p:cNvPr id="109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2823" y="5215614"/>
              <a:ext cx="368639" cy="678933"/>
            </a:xfrm>
            <a:prstGeom prst="rect">
              <a:avLst/>
            </a:prstGeom>
          </p:spPr>
        </p:pic>
      </p:grpSp>
      <p:grpSp>
        <p:nvGrpSpPr>
          <p:cNvPr id="110" name="object 29"/>
          <p:cNvGrpSpPr/>
          <p:nvPr/>
        </p:nvGrpSpPr>
        <p:grpSpPr>
          <a:xfrm>
            <a:off x="8118160" y="983140"/>
            <a:ext cx="3149600" cy="2407285"/>
            <a:chOff x="5045967" y="957649"/>
            <a:chExt cx="3149600" cy="2407285"/>
          </a:xfrm>
        </p:grpSpPr>
        <p:pic>
          <p:nvPicPr>
            <p:cNvPr id="111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7633" y="1109607"/>
              <a:ext cx="292201" cy="622537"/>
            </a:xfrm>
            <a:prstGeom prst="rect">
              <a:avLst/>
            </a:prstGeom>
          </p:spPr>
        </p:pic>
        <p:pic>
          <p:nvPicPr>
            <p:cNvPr id="112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7306" y="1058488"/>
              <a:ext cx="292201" cy="622537"/>
            </a:xfrm>
            <a:prstGeom prst="rect">
              <a:avLst/>
            </a:prstGeom>
          </p:spPr>
        </p:pic>
        <p:pic>
          <p:nvPicPr>
            <p:cNvPr id="113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72991" y="2197042"/>
              <a:ext cx="292201" cy="622537"/>
            </a:xfrm>
            <a:prstGeom prst="rect">
              <a:avLst/>
            </a:prstGeom>
          </p:spPr>
        </p:pic>
        <p:pic>
          <p:nvPicPr>
            <p:cNvPr id="114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5967" y="1856132"/>
              <a:ext cx="292201" cy="622537"/>
            </a:xfrm>
            <a:prstGeom prst="rect">
              <a:avLst/>
            </a:prstGeom>
          </p:spPr>
        </p:pic>
        <p:pic>
          <p:nvPicPr>
            <p:cNvPr id="115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8382" y="1901476"/>
              <a:ext cx="292201" cy="622537"/>
            </a:xfrm>
            <a:prstGeom prst="rect">
              <a:avLst/>
            </a:prstGeom>
          </p:spPr>
        </p:pic>
        <p:pic>
          <p:nvPicPr>
            <p:cNvPr id="116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16362" y="957649"/>
              <a:ext cx="292201" cy="622537"/>
            </a:xfrm>
            <a:prstGeom prst="rect">
              <a:avLst/>
            </a:prstGeom>
          </p:spPr>
        </p:pic>
        <p:pic>
          <p:nvPicPr>
            <p:cNvPr id="117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7944" y="1726984"/>
              <a:ext cx="292201" cy="622537"/>
            </a:xfrm>
            <a:prstGeom prst="rect">
              <a:avLst/>
            </a:prstGeom>
          </p:spPr>
        </p:pic>
        <p:pic>
          <p:nvPicPr>
            <p:cNvPr id="118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25793" y="1024550"/>
              <a:ext cx="292201" cy="622537"/>
            </a:xfrm>
            <a:prstGeom prst="rect">
              <a:avLst/>
            </a:prstGeom>
          </p:spPr>
        </p:pic>
        <p:pic>
          <p:nvPicPr>
            <p:cNvPr id="119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6248" y="1360314"/>
              <a:ext cx="292201" cy="622537"/>
            </a:xfrm>
            <a:prstGeom prst="rect">
              <a:avLst/>
            </a:prstGeom>
          </p:spPr>
        </p:pic>
        <p:pic>
          <p:nvPicPr>
            <p:cNvPr id="120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3365" y="1104447"/>
              <a:ext cx="292201" cy="622537"/>
            </a:xfrm>
            <a:prstGeom prst="rect">
              <a:avLst/>
            </a:prstGeom>
          </p:spPr>
        </p:pic>
        <p:pic>
          <p:nvPicPr>
            <p:cNvPr id="121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80353" y="1721889"/>
              <a:ext cx="292201" cy="622537"/>
            </a:xfrm>
            <a:prstGeom prst="rect">
              <a:avLst/>
            </a:prstGeom>
          </p:spPr>
        </p:pic>
        <p:pic>
          <p:nvPicPr>
            <p:cNvPr id="122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5106" y="2579454"/>
              <a:ext cx="292201" cy="622537"/>
            </a:xfrm>
            <a:prstGeom prst="rect">
              <a:avLst/>
            </a:prstGeom>
          </p:spPr>
        </p:pic>
        <p:pic>
          <p:nvPicPr>
            <p:cNvPr id="123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82801" y="2339330"/>
              <a:ext cx="292201" cy="622537"/>
            </a:xfrm>
            <a:prstGeom prst="rect">
              <a:avLst/>
            </a:prstGeom>
          </p:spPr>
        </p:pic>
        <p:sp>
          <p:nvSpPr>
            <p:cNvPr id="124" name="object 43"/>
            <p:cNvSpPr/>
            <p:nvPr/>
          </p:nvSpPr>
          <p:spPr>
            <a:xfrm>
              <a:off x="5287924" y="1732101"/>
              <a:ext cx="317500" cy="351155"/>
            </a:xfrm>
            <a:custGeom>
              <a:avLst/>
              <a:gdLst/>
              <a:ahLst/>
              <a:cxnLst/>
              <a:rect l="l" t="t" r="r" b="b"/>
              <a:pathLst>
                <a:path w="317500" h="351155">
                  <a:moveTo>
                    <a:pt x="317474" y="234708"/>
                  </a:moveTo>
                  <a:lnTo>
                    <a:pt x="312585" y="228320"/>
                  </a:lnTo>
                  <a:lnTo>
                    <a:pt x="298678" y="226453"/>
                  </a:lnTo>
                  <a:lnTo>
                    <a:pt x="292290" y="231330"/>
                  </a:lnTo>
                  <a:lnTo>
                    <a:pt x="285889" y="279158"/>
                  </a:lnTo>
                  <a:lnTo>
                    <a:pt x="195275" y="61734"/>
                  </a:lnTo>
                  <a:lnTo>
                    <a:pt x="233743" y="90855"/>
                  </a:lnTo>
                  <a:lnTo>
                    <a:pt x="241719" y="89750"/>
                  </a:lnTo>
                  <a:lnTo>
                    <a:pt x="250177" y="78562"/>
                  </a:lnTo>
                  <a:lnTo>
                    <a:pt x="249072" y="70599"/>
                  </a:lnTo>
                  <a:lnTo>
                    <a:pt x="155829" y="50"/>
                  </a:lnTo>
                  <a:lnTo>
                    <a:pt x="59093" y="65811"/>
                  </a:lnTo>
                  <a:lnTo>
                    <a:pt x="57594" y="73710"/>
                  </a:lnTo>
                  <a:lnTo>
                    <a:pt x="65481" y="85305"/>
                  </a:lnTo>
                  <a:lnTo>
                    <a:pt x="73380" y="86804"/>
                  </a:lnTo>
                  <a:lnTo>
                    <a:pt x="113271" y="59664"/>
                  </a:lnTo>
                  <a:lnTo>
                    <a:pt x="29311" y="235597"/>
                  </a:lnTo>
                  <a:lnTo>
                    <a:pt x="25323" y="187502"/>
                  </a:lnTo>
                  <a:lnTo>
                    <a:pt x="19177" y="182308"/>
                  </a:lnTo>
                  <a:lnTo>
                    <a:pt x="5207" y="183476"/>
                  </a:lnTo>
                  <a:lnTo>
                    <a:pt x="0" y="189611"/>
                  </a:lnTo>
                  <a:lnTo>
                    <a:pt x="9677" y="306209"/>
                  </a:lnTo>
                  <a:lnTo>
                    <a:pt x="106413" y="240398"/>
                  </a:lnTo>
                  <a:lnTo>
                    <a:pt x="107924" y="232498"/>
                  </a:lnTo>
                  <a:lnTo>
                    <a:pt x="100025" y="220903"/>
                  </a:lnTo>
                  <a:lnTo>
                    <a:pt x="92125" y="219392"/>
                  </a:lnTo>
                  <a:lnTo>
                    <a:pt x="52235" y="246545"/>
                  </a:lnTo>
                  <a:lnTo>
                    <a:pt x="136194" y="70612"/>
                  </a:lnTo>
                  <a:lnTo>
                    <a:pt x="140195" y="118694"/>
                  </a:lnTo>
                  <a:lnTo>
                    <a:pt x="146329" y="123888"/>
                  </a:lnTo>
                  <a:lnTo>
                    <a:pt x="152666" y="123367"/>
                  </a:lnTo>
                  <a:lnTo>
                    <a:pt x="159029" y="124218"/>
                  </a:lnTo>
                  <a:lnTo>
                    <a:pt x="165417" y="119329"/>
                  </a:lnTo>
                  <a:lnTo>
                    <a:pt x="171831" y="71501"/>
                  </a:lnTo>
                  <a:lnTo>
                    <a:pt x="262432" y="288937"/>
                  </a:lnTo>
                  <a:lnTo>
                    <a:pt x="223964" y="259816"/>
                  </a:lnTo>
                  <a:lnTo>
                    <a:pt x="216001" y="260908"/>
                  </a:lnTo>
                  <a:lnTo>
                    <a:pt x="207530" y="272097"/>
                  </a:lnTo>
                  <a:lnTo>
                    <a:pt x="208635" y="280060"/>
                  </a:lnTo>
                  <a:lnTo>
                    <a:pt x="301929" y="350672"/>
                  </a:lnTo>
                  <a:lnTo>
                    <a:pt x="317474" y="234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60537" y="2349487"/>
              <a:ext cx="212501" cy="158860"/>
            </a:xfrm>
            <a:prstGeom prst="rect">
              <a:avLst/>
            </a:prstGeom>
          </p:spPr>
        </p:pic>
        <p:pic>
          <p:nvPicPr>
            <p:cNvPr id="126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49965" y="2741995"/>
              <a:ext cx="292201" cy="622537"/>
            </a:xfrm>
            <a:prstGeom prst="rect">
              <a:avLst/>
            </a:prstGeom>
          </p:spPr>
        </p:pic>
        <p:sp>
          <p:nvSpPr>
            <p:cNvPr id="127" name="object 46"/>
            <p:cNvSpPr/>
            <p:nvPr/>
          </p:nvSpPr>
          <p:spPr>
            <a:xfrm>
              <a:off x="5942101" y="1680984"/>
              <a:ext cx="663575" cy="1405890"/>
            </a:xfrm>
            <a:custGeom>
              <a:avLst/>
              <a:gdLst/>
              <a:ahLst/>
              <a:cxnLst/>
              <a:rect l="l" t="t" r="r" b="b"/>
              <a:pathLst>
                <a:path w="663575" h="1405889">
                  <a:moveTo>
                    <a:pt x="575868" y="357327"/>
                  </a:moveTo>
                  <a:lnTo>
                    <a:pt x="574370" y="240334"/>
                  </a:lnTo>
                  <a:lnTo>
                    <a:pt x="568617" y="234721"/>
                  </a:lnTo>
                  <a:lnTo>
                    <a:pt x="554596" y="234899"/>
                  </a:lnTo>
                  <a:lnTo>
                    <a:pt x="548982" y="240652"/>
                  </a:lnTo>
                  <a:lnTo>
                    <a:pt x="549592" y="288912"/>
                  </a:lnTo>
                  <a:lnTo>
                    <a:pt x="409321" y="55333"/>
                  </a:lnTo>
                  <a:lnTo>
                    <a:pt x="451624" y="78549"/>
                  </a:lnTo>
                  <a:lnTo>
                    <a:pt x="459346" y="76301"/>
                  </a:lnTo>
                  <a:lnTo>
                    <a:pt x="466090" y="64008"/>
                  </a:lnTo>
                  <a:lnTo>
                    <a:pt x="463842" y="56286"/>
                  </a:lnTo>
                  <a:lnTo>
                    <a:pt x="361264" y="0"/>
                  </a:lnTo>
                  <a:lnTo>
                    <a:pt x="362762" y="116992"/>
                  </a:lnTo>
                  <a:lnTo>
                    <a:pt x="368515" y="122605"/>
                  </a:lnTo>
                  <a:lnTo>
                    <a:pt x="382549" y="122428"/>
                  </a:lnTo>
                  <a:lnTo>
                    <a:pt x="388162" y="116662"/>
                  </a:lnTo>
                  <a:lnTo>
                    <a:pt x="387540" y="68414"/>
                  </a:lnTo>
                  <a:lnTo>
                    <a:pt x="527812" y="301980"/>
                  </a:lnTo>
                  <a:lnTo>
                    <a:pt x="485508" y="278765"/>
                  </a:lnTo>
                  <a:lnTo>
                    <a:pt x="477799" y="281025"/>
                  </a:lnTo>
                  <a:lnTo>
                    <a:pt x="471043" y="293319"/>
                  </a:lnTo>
                  <a:lnTo>
                    <a:pt x="473290" y="301040"/>
                  </a:lnTo>
                  <a:lnTo>
                    <a:pt x="575868" y="357327"/>
                  </a:lnTo>
                  <a:close/>
                </a:path>
                <a:path w="663575" h="1405889">
                  <a:moveTo>
                    <a:pt x="663054" y="1209725"/>
                  </a:moveTo>
                  <a:lnTo>
                    <a:pt x="659257" y="1092847"/>
                  </a:lnTo>
                  <a:lnTo>
                    <a:pt x="653389" y="1087348"/>
                  </a:lnTo>
                  <a:lnTo>
                    <a:pt x="639368" y="1087805"/>
                  </a:lnTo>
                  <a:lnTo>
                    <a:pt x="633869" y="1093673"/>
                  </a:lnTo>
                  <a:lnTo>
                    <a:pt x="635431" y="1141895"/>
                  </a:lnTo>
                  <a:lnTo>
                    <a:pt x="472173" y="881672"/>
                  </a:lnTo>
                  <a:lnTo>
                    <a:pt x="514921" y="904062"/>
                  </a:lnTo>
                  <a:lnTo>
                    <a:pt x="522592" y="901661"/>
                  </a:lnTo>
                  <a:lnTo>
                    <a:pt x="529107" y="889241"/>
                  </a:lnTo>
                  <a:lnTo>
                    <a:pt x="526707" y="881557"/>
                  </a:lnTo>
                  <a:lnTo>
                    <a:pt x="423049" y="827278"/>
                  </a:lnTo>
                  <a:lnTo>
                    <a:pt x="426821" y="944219"/>
                  </a:lnTo>
                  <a:lnTo>
                    <a:pt x="432689" y="949718"/>
                  </a:lnTo>
                  <a:lnTo>
                    <a:pt x="446709" y="949274"/>
                  </a:lnTo>
                  <a:lnTo>
                    <a:pt x="452208" y="943406"/>
                  </a:lnTo>
                  <a:lnTo>
                    <a:pt x="450659" y="895172"/>
                  </a:lnTo>
                  <a:lnTo>
                    <a:pt x="613918" y="1155395"/>
                  </a:lnTo>
                  <a:lnTo>
                    <a:pt x="571169" y="1133017"/>
                  </a:lnTo>
                  <a:lnTo>
                    <a:pt x="563486" y="1135418"/>
                  </a:lnTo>
                  <a:lnTo>
                    <a:pt x="556983" y="1147838"/>
                  </a:lnTo>
                  <a:lnTo>
                    <a:pt x="559384" y="1155509"/>
                  </a:lnTo>
                  <a:lnTo>
                    <a:pt x="662711" y="1209636"/>
                  </a:lnTo>
                  <a:lnTo>
                    <a:pt x="550862" y="1176540"/>
                  </a:lnTo>
                  <a:lnTo>
                    <a:pt x="543788" y="1180376"/>
                  </a:lnTo>
                  <a:lnTo>
                    <a:pt x="539813" y="1193825"/>
                  </a:lnTo>
                  <a:lnTo>
                    <a:pt x="543648" y="1200899"/>
                  </a:lnTo>
                  <a:lnTo>
                    <a:pt x="589927" y="1214589"/>
                  </a:lnTo>
                  <a:lnTo>
                    <a:pt x="116014" y="1330782"/>
                  </a:lnTo>
                  <a:lnTo>
                    <a:pt x="110909" y="1327175"/>
                  </a:lnTo>
                  <a:lnTo>
                    <a:pt x="77101" y="1333093"/>
                  </a:lnTo>
                  <a:lnTo>
                    <a:pt x="101777" y="1309230"/>
                  </a:lnTo>
                  <a:lnTo>
                    <a:pt x="101879" y="1302981"/>
                  </a:lnTo>
                  <a:lnTo>
                    <a:pt x="230060" y="1194816"/>
                  </a:lnTo>
                  <a:lnTo>
                    <a:pt x="213880" y="1240282"/>
                  </a:lnTo>
                  <a:lnTo>
                    <a:pt x="217335" y="1247546"/>
                  </a:lnTo>
                  <a:lnTo>
                    <a:pt x="230543" y="1252245"/>
                  </a:lnTo>
                  <a:lnTo>
                    <a:pt x="237807" y="1248791"/>
                  </a:lnTo>
                  <a:lnTo>
                    <a:pt x="277025" y="1138567"/>
                  </a:lnTo>
                  <a:lnTo>
                    <a:pt x="161772" y="1158684"/>
                  </a:lnTo>
                  <a:lnTo>
                    <a:pt x="157149" y="1165263"/>
                  </a:lnTo>
                  <a:lnTo>
                    <a:pt x="159562" y="1179080"/>
                  </a:lnTo>
                  <a:lnTo>
                    <a:pt x="166141" y="1183703"/>
                  </a:lnTo>
                  <a:lnTo>
                    <a:pt x="213677" y="1175410"/>
                  </a:lnTo>
                  <a:lnTo>
                    <a:pt x="46990" y="1316062"/>
                  </a:lnTo>
                  <a:lnTo>
                    <a:pt x="63169" y="1270596"/>
                  </a:lnTo>
                  <a:lnTo>
                    <a:pt x="59715" y="1263345"/>
                  </a:lnTo>
                  <a:lnTo>
                    <a:pt x="46494" y="1258633"/>
                  </a:lnTo>
                  <a:lnTo>
                    <a:pt x="39230" y="1262087"/>
                  </a:lnTo>
                  <a:lnTo>
                    <a:pt x="25" y="1372273"/>
                  </a:lnTo>
                  <a:lnTo>
                    <a:pt x="105473" y="1403502"/>
                  </a:lnTo>
                  <a:lnTo>
                    <a:pt x="112204" y="1405496"/>
                  </a:lnTo>
                  <a:lnTo>
                    <a:pt x="119265" y="1401648"/>
                  </a:lnTo>
                  <a:lnTo>
                    <a:pt x="123240" y="1388198"/>
                  </a:lnTo>
                  <a:lnTo>
                    <a:pt x="119405" y="1381137"/>
                  </a:lnTo>
                  <a:lnTo>
                    <a:pt x="73126" y="1367447"/>
                  </a:lnTo>
                  <a:lnTo>
                    <a:pt x="595972" y="1239253"/>
                  </a:lnTo>
                  <a:lnTo>
                    <a:pt x="561289" y="1272794"/>
                  </a:lnTo>
                  <a:lnTo>
                    <a:pt x="561149" y="1280833"/>
                  </a:lnTo>
                  <a:lnTo>
                    <a:pt x="570903" y="1290916"/>
                  </a:lnTo>
                  <a:lnTo>
                    <a:pt x="578942" y="1291056"/>
                  </a:lnTo>
                  <a:lnTo>
                    <a:pt x="662990" y="1209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97272" y="2650552"/>
              <a:ext cx="185566" cy="240217"/>
            </a:xfrm>
            <a:prstGeom prst="rect">
              <a:avLst/>
            </a:prstGeom>
          </p:spPr>
        </p:pic>
        <p:sp>
          <p:nvSpPr>
            <p:cNvPr id="129" name="object 48"/>
            <p:cNvSpPr/>
            <p:nvPr/>
          </p:nvSpPr>
          <p:spPr>
            <a:xfrm>
              <a:off x="6365134" y="2470127"/>
              <a:ext cx="718185" cy="219075"/>
            </a:xfrm>
            <a:custGeom>
              <a:avLst/>
              <a:gdLst/>
              <a:ahLst/>
              <a:cxnLst/>
              <a:rect l="l" t="t" r="r" b="b"/>
              <a:pathLst>
                <a:path w="718184" h="219075">
                  <a:moveTo>
                    <a:pt x="110600" y="0"/>
                  </a:moveTo>
                  <a:lnTo>
                    <a:pt x="0" y="38172"/>
                  </a:lnTo>
                  <a:lnTo>
                    <a:pt x="87668" y="115657"/>
                  </a:lnTo>
                  <a:lnTo>
                    <a:pt x="95694" y="115162"/>
                  </a:lnTo>
                  <a:lnTo>
                    <a:pt x="104984" y="104651"/>
                  </a:lnTo>
                  <a:lnTo>
                    <a:pt x="104489" y="96625"/>
                  </a:lnTo>
                  <a:lnTo>
                    <a:pt x="68333" y="64668"/>
                  </a:lnTo>
                  <a:lnTo>
                    <a:pt x="644452" y="178902"/>
                  </a:lnTo>
                  <a:lnTo>
                    <a:pt x="598838" y="194645"/>
                  </a:lnTo>
                  <a:lnTo>
                    <a:pt x="595317" y="201875"/>
                  </a:lnTo>
                  <a:lnTo>
                    <a:pt x="599894" y="215135"/>
                  </a:lnTo>
                  <a:lnTo>
                    <a:pt x="607124" y="218655"/>
                  </a:lnTo>
                  <a:lnTo>
                    <a:pt x="613754" y="216367"/>
                  </a:lnTo>
                  <a:lnTo>
                    <a:pt x="717725" y="180483"/>
                  </a:lnTo>
                  <a:lnTo>
                    <a:pt x="630057" y="102998"/>
                  </a:lnTo>
                  <a:lnTo>
                    <a:pt x="622030" y="103493"/>
                  </a:lnTo>
                  <a:lnTo>
                    <a:pt x="612740" y="114004"/>
                  </a:lnTo>
                  <a:lnTo>
                    <a:pt x="613236" y="122030"/>
                  </a:lnTo>
                  <a:lnTo>
                    <a:pt x="649391" y="153987"/>
                  </a:lnTo>
                  <a:lnTo>
                    <a:pt x="73273" y="39753"/>
                  </a:lnTo>
                  <a:lnTo>
                    <a:pt x="118887" y="24010"/>
                  </a:lnTo>
                  <a:lnTo>
                    <a:pt x="122407" y="16780"/>
                  </a:lnTo>
                  <a:lnTo>
                    <a:pt x="117830" y="3520"/>
                  </a:lnTo>
                  <a:lnTo>
                    <a:pt x="11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49458" y="1266195"/>
              <a:ext cx="166954" cy="106286"/>
            </a:xfrm>
            <a:prstGeom prst="rect">
              <a:avLst/>
            </a:prstGeom>
          </p:spPr>
        </p:pic>
        <p:sp>
          <p:nvSpPr>
            <p:cNvPr id="131" name="object 50"/>
            <p:cNvSpPr/>
            <p:nvPr/>
          </p:nvSpPr>
          <p:spPr>
            <a:xfrm>
              <a:off x="5297564" y="1226705"/>
              <a:ext cx="2784475" cy="870585"/>
            </a:xfrm>
            <a:custGeom>
              <a:avLst/>
              <a:gdLst/>
              <a:ahLst/>
              <a:cxnLst/>
              <a:rect l="l" t="t" r="r" b="b"/>
              <a:pathLst>
                <a:path w="2784475" h="870585">
                  <a:moveTo>
                    <a:pt x="292328" y="811555"/>
                  </a:moveTo>
                  <a:lnTo>
                    <a:pt x="194284" y="754367"/>
                  </a:lnTo>
                  <a:lnTo>
                    <a:pt x="190830" y="753999"/>
                  </a:lnTo>
                  <a:lnTo>
                    <a:pt x="187693" y="754824"/>
                  </a:lnTo>
                  <a:lnTo>
                    <a:pt x="184543" y="755650"/>
                  </a:lnTo>
                  <a:lnTo>
                    <a:pt x="181711" y="757682"/>
                  </a:lnTo>
                  <a:lnTo>
                    <a:pt x="176415" y="766762"/>
                  </a:lnTo>
                  <a:lnTo>
                    <a:pt x="178460" y="774534"/>
                  </a:lnTo>
                  <a:lnTo>
                    <a:pt x="220141" y="798855"/>
                  </a:lnTo>
                  <a:lnTo>
                    <a:pt x="72186" y="798855"/>
                  </a:lnTo>
                  <a:lnTo>
                    <a:pt x="113868" y="774534"/>
                  </a:lnTo>
                  <a:lnTo>
                    <a:pt x="115912" y="766762"/>
                  </a:lnTo>
                  <a:lnTo>
                    <a:pt x="108851" y="754646"/>
                  </a:lnTo>
                  <a:lnTo>
                    <a:pt x="101066" y="752602"/>
                  </a:lnTo>
                  <a:lnTo>
                    <a:pt x="0" y="811555"/>
                  </a:lnTo>
                  <a:lnTo>
                    <a:pt x="101066" y="870508"/>
                  </a:lnTo>
                  <a:lnTo>
                    <a:pt x="108851" y="868464"/>
                  </a:lnTo>
                  <a:lnTo>
                    <a:pt x="115912" y="856348"/>
                  </a:lnTo>
                  <a:lnTo>
                    <a:pt x="113868" y="848563"/>
                  </a:lnTo>
                  <a:lnTo>
                    <a:pt x="72186" y="824255"/>
                  </a:lnTo>
                  <a:lnTo>
                    <a:pt x="220141" y="824255"/>
                  </a:lnTo>
                  <a:lnTo>
                    <a:pt x="178460" y="848563"/>
                  </a:lnTo>
                  <a:lnTo>
                    <a:pt x="176415" y="856348"/>
                  </a:lnTo>
                  <a:lnTo>
                    <a:pt x="183489" y="868464"/>
                  </a:lnTo>
                  <a:lnTo>
                    <a:pt x="191262" y="870508"/>
                  </a:lnTo>
                  <a:lnTo>
                    <a:pt x="292328" y="811555"/>
                  </a:lnTo>
                  <a:close/>
                </a:path>
                <a:path w="2784475" h="870585">
                  <a:moveTo>
                    <a:pt x="2028278" y="109131"/>
                  </a:moveTo>
                  <a:lnTo>
                    <a:pt x="1937829" y="34912"/>
                  </a:lnTo>
                  <a:lnTo>
                    <a:pt x="1929828" y="35712"/>
                  </a:lnTo>
                  <a:lnTo>
                    <a:pt x="1920925" y="46558"/>
                  </a:lnTo>
                  <a:lnTo>
                    <a:pt x="1921713" y="54559"/>
                  </a:lnTo>
                  <a:lnTo>
                    <a:pt x="1959025" y="85166"/>
                  </a:lnTo>
                  <a:lnTo>
                    <a:pt x="1684223" y="41097"/>
                  </a:lnTo>
                  <a:lnTo>
                    <a:pt x="1729219" y="23685"/>
                  </a:lnTo>
                  <a:lnTo>
                    <a:pt x="1732470" y="16332"/>
                  </a:lnTo>
                  <a:lnTo>
                    <a:pt x="1727415" y="3251"/>
                  </a:lnTo>
                  <a:lnTo>
                    <a:pt x="1720062" y="0"/>
                  </a:lnTo>
                  <a:lnTo>
                    <a:pt x="1713522" y="2527"/>
                  </a:lnTo>
                  <a:lnTo>
                    <a:pt x="1610931" y="42214"/>
                  </a:lnTo>
                  <a:lnTo>
                    <a:pt x="1701393" y="116420"/>
                  </a:lnTo>
                  <a:lnTo>
                    <a:pt x="1709394" y="115633"/>
                  </a:lnTo>
                  <a:lnTo>
                    <a:pt x="1718297" y="104787"/>
                  </a:lnTo>
                  <a:lnTo>
                    <a:pt x="1717509" y="96786"/>
                  </a:lnTo>
                  <a:lnTo>
                    <a:pt x="1680197" y="66179"/>
                  </a:lnTo>
                  <a:lnTo>
                    <a:pt x="1954999" y="110236"/>
                  </a:lnTo>
                  <a:lnTo>
                    <a:pt x="1909991" y="127647"/>
                  </a:lnTo>
                  <a:lnTo>
                    <a:pt x="1906739" y="135001"/>
                  </a:lnTo>
                  <a:lnTo>
                    <a:pt x="1911807" y="148082"/>
                  </a:lnTo>
                  <a:lnTo>
                    <a:pt x="1919160" y="151333"/>
                  </a:lnTo>
                  <a:lnTo>
                    <a:pt x="2028278" y="109131"/>
                  </a:lnTo>
                  <a:close/>
                </a:path>
                <a:path w="2784475" h="870585">
                  <a:moveTo>
                    <a:pt x="2386673" y="689571"/>
                  </a:moveTo>
                  <a:lnTo>
                    <a:pt x="2381173" y="683704"/>
                  </a:lnTo>
                  <a:lnTo>
                    <a:pt x="2367153" y="683234"/>
                  </a:lnTo>
                  <a:lnTo>
                    <a:pt x="2361285" y="688733"/>
                  </a:lnTo>
                  <a:lnTo>
                    <a:pt x="2359698" y="736955"/>
                  </a:lnTo>
                  <a:lnTo>
                    <a:pt x="2219769" y="477812"/>
                  </a:lnTo>
                  <a:lnTo>
                    <a:pt x="2260968" y="502945"/>
                  </a:lnTo>
                  <a:lnTo>
                    <a:pt x="2268778" y="501040"/>
                  </a:lnTo>
                  <a:lnTo>
                    <a:pt x="2276081" y="489064"/>
                  </a:lnTo>
                  <a:lnTo>
                    <a:pt x="2274189" y="481253"/>
                  </a:lnTo>
                  <a:lnTo>
                    <a:pt x="2174290" y="420331"/>
                  </a:lnTo>
                  <a:lnTo>
                    <a:pt x="2170442" y="537273"/>
                  </a:lnTo>
                  <a:lnTo>
                    <a:pt x="2175929" y="543140"/>
                  </a:lnTo>
                  <a:lnTo>
                    <a:pt x="2189950" y="543610"/>
                  </a:lnTo>
                  <a:lnTo>
                    <a:pt x="2195830" y="538111"/>
                  </a:lnTo>
                  <a:lnTo>
                    <a:pt x="2197417" y="489889"/>
                  </a:lnTo>
                  <a:lnTo>
                    <a:pt x="2337346" y="749033"/>
                  </a:lnTo>
                  <a:lnTo>
                    <a:pt x="2296147" y="723900"/>
                  </a:lnTo>
                  <a:lnTo>
                    <a:pt x="2288324" y="725792"/>
                  </a:lnTo>
                  <a:lnTo>
                    <a:pt x="2281021" y="737781"/>
                  </a:lnTo>
                  <a:lnTo>
                    <a:pt x="2282914" y="745591"/>
                  </a:lnTo>
                  <a:lnTo>
                    <a:pt x="2382812" y="806513"/>
                  </a:lnTo>
                  <a:lnTo>
                    <a:pt x="2386673" y="689571"/>
                  </a:lnTo>
                  <a:close/>
                </a:path>
                <a:path w="2784475" h="870585">
                  <a:moveTo>
                    <a:pt x="2605849" y="189026"/>
                  </a:moveTo>
                  <a:lnTo>
                    <a:pt x="2524429" y="105016"/>
                  </a:lnTo>
                  <a:lnTo>
                    <a:pt x="2516390" y="104889"/>
                  </a:lnTo>
                  <a:lnTo>
                    <a:pt x="2506307" y="114655"/>
                  </a:lnTo>
                  <a:lnTo>
                    <a:pt x="2506180" y="122694"/>
                  </a:lnTo>
                  <a:lnTo>
                    <a:pt x="2539771" y="157340"/>
                  </a:lnTo>
                  <a:lnTo>
                    <a:pt x="2393302" y="116332"/>
                  </a:lnTo>
                  <a:lnTo>
                    <a:pt x="2440000" y="104152"/>
                  </a:lnTo>
                  <a:lnTo>
                    <a:pt x="2444064" y="97218"/>
                  </a:lnTo>
                  <a:lnTo>
                    <a:pt x="2440521" y="83642"/>
                  </a:lnTo>
                  <a:lnTo>
                    <a:pt x="2433586" y="79578"/>
                  </a:lnTo>
                  <a:lnTo>
                    <a:pt x="2426792" y="81343"/>
                  </a:lnTo>
                  <a:lnTo>
                    <a:pt x="2320366" y="109105"/>
                  </a:lnTo>
                  <a:lnTo>
                    <a:pt x="2401798" y="193116"/>
                  </a:lnTo>
                  <a:lnTo>
                    <a:pt x="2409837" y="193243"/>
                  </a:lnTo>
                  <a:lnTo>
                    <a:pt x="2419908" y="183489"/>
                  </a:lnTo>
                  <a:lnTo>
                    <a:pt x="2420035" y="175450"/>
                  </a:lnTo>
                  <a:lnTo>
                    <a:pt x="2386457" y="140792"/>
                  </a:lnTo>
                  <a:lnTo>
                    <a:pt x="2532913" y="181800"/>
                  </a:lnTo>
                  <a:lnTo>
                    <a:pt x="2486228" y="193979"/>
                  </a:lnTo>
                  <a:lnTo>
                    <a:pt x="2482164" y="200914"/>
                  </a:lnTo>
                  <a:lnTo>
                    <a:pt x="2485694" y="214490"/>
                  </a:lnTo>
                  <a:lnTo>
                    <a:pt x="2492641" y="218554"/>
                  </a:lnTo>
                  <a:lnTo>
                    <a:pt x="2605849" y="189026"/>
                  </a:lnTo>
                  <a:close/>
                </a:path>
                <a:path w="2784475" h="870585">
                  <a:moveTo>
                    <a:pt x="2784462" y="612609"/>
                  </a:moveTo>
                  <a:lnTo>
                    <a:pt x="2751912" y="500227"/>
                  </a:lnTo>
                  <a:lnTo>
                    <a:pt x="2670111" y="583882"/>
                  </a:lnTo>
                  <a:lnTo>
                    <a:pt x="2670200" y="591921"/>
                  </a:lnTo>
                  <a:lnTo>
                    <a:pt x="2680233" y="601726"/>
                  </a:lnTo>
                  <a:lnTo>
                    <a:pt x="2688272" y="601637"/>
                  </a:lnTo>
                  <a:lnTo>
                    <a:pt x="2722003" y="567143"/>
                  </a:lnTo>
                  <a:lnTo>
                    <a:pt x="2680246" y="733412"/>
                  </a:lnTo>
                  <a:lnTo>
                    <a:pt x="2666809" y="687070"/>
                  </a:lnTo>
                  <a:lnTo>
                    <a:pt x="2659773" y="683183"/>
                  </a:lnTo>
                  <a:lnTo>
                    <a:pt x="2646299" y="687095"/>
                  </a:lnTo>
                  <a:lnTo>
                    <a:pt x="2642412" y="694131"/>
                  </a:lnTo>
                  <a:lnTo>
                    <a:pt x="2674975" y="806513"/>
                  </a:lnTo>
                  <a:lnTo>
                    <a:pt x="2756776" y="722858"/>
                  </a:lnTo>
                  <a:lnTo>
                    <a:pt x="2756687" y="714819"/>
                  </a:lnTo>
                  <a:lnTo>
                    <a:pt x="2746654" y="705015"/>
                  </a:lnTo>
                  <a:lnTo>
                    <a:pt x="2738615" y="705104"/>
                  </a:lnTo>
                  <a:lnTo>
                    <a:pt x="2704871" y="739597"/>
                  </a:lnTo>
                  <a:lnTo>
                    <a:pt x="2746641" y="573328"/>
                  </a:lnTo>
                  <a:lnTo>
                    <a:pt x="2760065" y="619683"/>
                  </a:lnTo>
                  <a:lnTo>
                    <a:pt x="2767114" y="623557"/>
                  </a:lnTo>
                  <a:lnTo>
                    <a:pt x="2780588" y="619658"/>
                  </a:lnTo>
                  <a:lnTo>
                    <a:pt x="2784462" y="612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48391" y="1600925"/>
              <a:ext cx="223560" cy="118254"/>
            </a:xfrm>
            <a:prstGeom prst="rect">
              <a:avLst/>
            </a:prstGeom>
          </p:spPr>
        </p:pic>
        <p:sp>
          <p:nvSpPr>
            <p:cNvPr id="133" name="object 52"/>
            <p:cNvSpPr/>
            <p:nvPr/>
          </p:nvSpPr>
          <p:spPr>
            <a:xfrm>
              <a:off x="5589765" y="1268869"/>
              <a:ext cx="2098675" cy="1382395"/>
            </a:xfrm>
            <a:custGeom>
              <a:avLst/>
              <a:gdLst/>
              <a:ahLst/>
              <a:cxnLst/>
              <a:rect l="l" t="t" r="r" b="b"/>
              <a:pathLst>
                <a:path w="2098675" h="1382395">
                  <a:moveTo>
                    <a:pt x="567588" y="100888"/>
                  </a:moveTo>
                  <a:lnTo>
                    <a:pt x="461645" y="51244"/>
                  </a:lnTo>
                  <a:lnTo>
                    <a:pt x="454088" y="53975"/>
                  </a:lnTo>
                  <a:lnTo>
                    <a:pt x="448132" y="66675"/>
                  </a:lnTo>
                  <a:lnTo>
                    <a:pt x="450875" y="74244"/>
                  </a:lnTo>
                  <a:lnTo>
                    <a:pt x="494563" y="94716"/>
                  </a:lnTo>
                  <a:lnTo>
                    <a:pt x="70751" y="132892"/>
                  </a:lnTo>
                  <a:lnTo>
                    <a:pt x="110083" y="104940"/>
                  </a:lnTo>
                  <a:lnTo>
                    <a:pt x="111429" y="97002"/>
                  </a:lnTo>
                  <a:lnTo>
                    <a:pt x="103301" y="85572"/>
                  </a:lnTo>
                  <a:lnTo>
                    <a:pt x="95377" y="84239"/>
                  </a:lnTo>
                  <a:lnTo>
                    <a:pt x="0" y="152019"/>
                  </a:lnTo>
                  <a:lnTo>
                    <a:pt x="102781" y="200177"/>
                  </a:lnTo>
                  <a:lnTo>
                    <a:pt x="106260" y="200240"/>
                  </a:lnTo>
                  <a:lnTo>
                    <a:pt x="109308" y="199136"/>
                  </a:lnTo>
                  <a:lnTo>
                    <a:pt x="112369" y="198031"/>
                  </a:lnTo>
                  <a:lnTo>
                    <a:pt x="114998" y="195757"/>
                  </a:lnTo>
                  <a:lnTo>
                    <a:pt x="119468" y="186232"/>
                  </a:lnTo>
                  <a:lnTo>
                    <a:pt x="116725" y="178663"/>
                  </a:lnTo>
                  <a:lnTo>
                    <a:pt x="73037" y="158191"/>
                  </a:lnTo>
                  <a:lnTo>
                    <a:pt x="496849" y="120015"/>
                  </a:lnTo>
                  <a:lnTo>
                    <a:pt x="457517" y="147967"/>
                  </a:lnTo>
                  <a:lnTo>
                    <a:pt x="456171" y="155892"/>
                  </a:lnTo>
                  <a:lnTo>
                    <a:pt x="464299" y="167335"/>
                  </a:lnTo>
                  <a:lnTo>
                    <a:pt x="472224" y="168668"/>
                  </a:lnTo>
                  <a:lnTo>
                    <a:pt x="567588" y="100888"/>
                  </a:lnTo>
                  <a:close/>
                </a:path>
                <a:path w="2098675" h="1382395">
                  <a:moveTo>
                    <a:pt x="1413141" y="295478"/>
                  </a:moveTo>
                  <a:lnTo>
                    <a:pt x="1410195" y="287997"/>
                  </a:lnTo>
                  <a:lnTo>
                    <a:pt x="1397330" y="282409"/>
                  </a:lnTo>
                  <a:lnTo>
                    <a:pt x="1389849" y="285356"/>
                  </a:lnTo>
                  <a:lnTo>
                    <a:pt x="1370609" y="329603"/>
                  </a:lnTo>
                  <a:lnTo>
                    <a:pt x="1339888" y="70180"/>
                  </a:lnTo>
                  <a:lnTo>
                    <a:pt x="1368933" y="108712"/>
                  </a:lnTo>
                  <a:lnTo>
                    <a:pt x="1376895" y="109829"/>
                  </a:lnTo>
                  <a:lnTo>
                    <a:pt x="1388097" y="101384"/>
                  </a:lnTo>
                  <a:lnTo>
                    <a:pt x="1389214" y="93421"/>
                  </a:lnTo>
                  <a:lnTo>
                    <a:pt x="1318793" y="0"/>
                  </a:lnTo>
                  <a:lnTo>
                    <a:pt x="1272120" y="107289"/>
                  </a:lnTo>
                  <a:lnTo>
                    <a:pt x="1275080" y="114769"/>
                  </a:lnTo>
                  <a:lnTo>
                    <a:pt x="1287932" y="120370"/>
                  </a:lnTo>
                  <a:lnTo>
                    <a:pt x="1295425" y="117424"/>
                  </a:lnTo>
                  <a:lnTo>
                    <a:pt x="1314665" y="73164"/>
                  </a:lnTo>
                  <a:lnTo>
                    <a:pt x="1345387" y="332587"/>
                  </a:lnTo>
                  <a:lnTo>
                    <a:pt x="1316342" y="294055"/>
                  </a:lnTo>
                  <a:lnTo>
                    <a:pt x="1308379" y="292938"/>
                  </a:lnTo>
                  <a:lnTo>
                    <a:pt x="1297178" y="301383"/>
                  </a:lnTo>
                  <a:lnTo>
                    <a:pt x="1296060" y="309346"/>
                  </a:lnTo>
                  <a:lnTo>
                    <a:pt x="1366481" y="402780"/>
                  </a:lnTo>
                  <a:lnTo>
                    <a:pt x="1413141" y="295478"/>
                  </a:lnTo>
                  <a:close/>
                </a:path>
                <a:path w="2098675" h="1382395">
                  <a:moveTo>
                    <a:pt x="2098649" y="880960"/>
                  </a:moveTo>
                  <a:lnTo>
                    <a:pt x="2090610" y="764311"/>
                  </a:lnTo>
                  <a:lnTo>
                    <a:pt x="1989239" y="705929"/>
                  </a:lnTo>
                  <a:lnTo>
                    <a:pt x="1981466" y="708025"/>
                  </a:lnTo>
                  <a:lnTo>
                    <a:pt x="1974469" y="720178"/>
                  </a:lnTo>
                  <a:lnTo>
                    <a:pt x="1976564" y="727951"/>
                  </a:lnTo>
                  <a:lnTo>
                    <a:pt x="2018385" y="752017"/>
                  </a:lnTo>
                  <a:lnTo>
                    <a:pt x="1292428" y="756272"/>
                  </a:lnTo>
                  <a:lnTo>
                    <a:pt x="1333957" y="731710"/>
                  </a:lnTo>
                  <a:lnTo>
                    <a:pt x="1335963" y="723925"/>
                  </a:lnTo>
                  <a:lnTo>
                    <a:pt x="1328826" y="711847"/>
                  </a:lnTo>
                  <a:lnTo>
                    <a:pt x="1321028" y="709841"/>
                  </a:lnTo>
                  <a:lnTo>
                    <a:pt x="1220431" y="769327"/>
                  </a:lnTo>
                  <a:lnTo>
                    <a:pt x="1268552" y="662825"/>
                  </a:lnTo>
                  <a:lnTo>
                    <a:pt x="1265720" y="655294"/>
                  </a:lnTo>
                  <a:lnTo>
                    <a:pt x="1252931" y="649528"/>
                  </a:lnTo>
                  <a:lnTo>
                    <a:pt x="1245412" y="652360"/>
                  </a:lnTo>
                  <a:lnTo>
                    <a:pt x="1225537" y="696341"/>
                  </a:lnTo>
                  <a:lnTo>
                    <a:pt x="1192796" y="381736"/>
                  </a:lnTo>
                  <a:lnTo>
                    <a:pt x="1221295" y="420687"/>
                  </a:lnTo>
                  <a:lnTo>
                    <a:pt x="1229233" y="421919"/>
                  </a:lnTo>
                  <a:lnTo>
                    <a:pt x="1240561" y="413626"/>
                  </a:lnTo>
                  <a:lnTo>
                    <a:pt x="1241793" y="405676"/>
                  </a:lnTo>
                  <a:lnTo>
                    <a:pt x="1172692" y="311264"/>
                  </a:lnTo>
                  <a:lnTo>
                    <a:pt x="1124508" y="417893"/>
                  </a:lnTo>
                  <a:lnTo>
                    <a:pt x="1127353" y="425411"/>
                  </a:lnTo>
                  <a:lnTo>
                    <a:pt x="1140142" y="431190"/>
                  </a:lnTo>
                  <a:lnTo>
                    <a:pt x="1147660" y="428345"/>
                  </a:lnTo>
                  <a:lnTo>
                    <a:pt x="1167523" y="384378"/>
                  </a:lnTo>
                  <a:lnTo>
                    <a:pt x="1200277" y="698969"/>
                  </a:lnTo>
                  <a:lnTo>
                    <a:pt x="1171778" y="660031"/>
                  </a:lnTo>
                  <a:lnTo>
                    <a:pt x="1163828" y="658799"/>
                  </a:lnTo>
                  <a:lnTo>
                    <a:pt x="1152512" y="667080"/>
                  </a:lnTo>
                  <a:lnTo>
                    <a:pt x="1151280" y="675030"/>
                  </a:lnTo>
                  <a:lnTo>
                    <a:pt x="1220317" y="769391"/>
                  </a:lnTo>
                  <a:lnTo>
                    <a:pt x="1207604" y="885647"/>
                  </a:lnTo>
                  <a:lnTo>
                    <a:pt x="1212634" y="891908"/>
                  </a:lnTo>
                  <a:lnTo>
                    <a:pt x="1226578" y="893445"/>
                  </a:lnTo>
                  <a:lnTo>
                    <a:pt x="1232852" y="888415"/>
                  </a:lnTo>
                  <a:lnTo>
                    <a:pt x="1238110" y="840447"/>
                  </a:lnTo>
                  <a:lnTo>
                    <a:pt x="1452092" y="1321015"/>
                  </a:lnTo>
                  <a:lnTo>
                    <a:pt x="1412925" y="1292821"/>
                  </a:lnTo>
                  <a:lnTo>
                    <a:pt x="1404988" y="1294117"/>
                  </a:lnTo>
                  <a:lnTo>
                    <a:pt x="1396796" y="1305509"/>
                  </a:lnTo>
                  <a:lnTo>
                    <a:pt x="1398092" y="1313446"/>
                  </a:lnTo>
                  <a:lnTo>
                    <a:pt x="1493050" y="1381785"/>
                  </a:lnTo>
                  <a:lnTo>
                    <a:pt x="1505800" y="1265478"/>
                  </a:lnTo>
                  <a:lnTo>
                    <a:pt x="1500771" y="1259205"/>
                  </a:lnTo>
                  <a:lnTo>
                    <a:pt x="1486827" y="1257681"/>
                  </a:lnTo>
                  <a:lnTo>
                    <a:pt x="1480553" y="1262710"/>
                  </a:lnTo>
                  <a:lnTo>
                    <a:pt x="1475295" y="1310678"/>
                  </a:lnTo>
                  <a:lnTo>
                    <a:pt x="1261313" y="830110"/>
                  </a:lnTo>
                  <a:lnTo>
                    <a:pt x="1300480" y="858291"/>
                  </a:lnTo>
                  <a:lnTo>
                    <a:pt x="1308417" y="857008"/>
                  </a:lnTo>
                  <a:lnTo>
                    <a:pt x="1316609" y="845616"/>
                  </a:lnTo>
                  <a:lnTo>
                    <a:pt x="1315313" y="837679"/>
                  </a:lnTo>
                  <a:lnTo>
                    <a:pt x="1220749" y="769658"/>
                  </a:lnTo>
                  <a:lnTo>
                    <a:pt x="1318679" y="826008"/>
                  </a:lnTo>
                  <a:lnTo>
                    <a:pt x="1336484" y="813498"/>
                  </a:lnTo>
                  <a:lnTo>
                    <a:pt x="1334389" y="805738"/>
                  </a:lnTo>
                  <a:lnTo>
                    <a:pt x="1292567" y="781672"/>
                  </a:lnTo>
                  <a:lnTo>
                    <a:pt x="2018538" y="777417"/>
                  </a:lnTo>
                  <a:lnTo>
                    <a:pt x="1976996" y="801979"/>
                  </a:lnTo>
                  <a:lnTo>
                    <a:pt x="1975002" y="809764"/>
                  </a:lnTo>
                  <a:lnTo>
                    <a:pt x="1982139" y="821842"/>
                  </a:lnTo>
                  <a:lnTo>
                    <a:pt x="1989924" y="823836"/>
                  </a:lnTo>
                  <a:lnTo>
                    <a:pt x="2089467" y="764997"/>
                  </a:lnTo>
                  <a:lnTo>
                    <a:pt x="1992960" y="828700"/>
                  </a:lnTo>
                  <a:lnTo>
                    <a:pt x="1991347" y="836574"/>
                  </a:lnTo>
                  <a:lnTo>
                    <a:pt x="1999081" y="848283"/>
                  </a:lnTo>
                  <a:lnTo>
                    <a:pt x="2006955" y="849896"/>
                  </a:lnTo>
                  <a:lnTo>
                    <a:pt x="2047227" y="823315"/>
                  </a:lnTo>
                  <a:lnTo>
                    <a:pt x="1805825" y="1311452"/>
                  </a:lnTo>
                  <a:lnTo>
                    <a:pt x="1802498" y="1263319"/>
                  </a:lnTo>
                  <a:lnTo>
                    <a:pt x="1796440" y="1258036"/>
                  </a:lnTo>
                  <a:lnTo>
                    <a:pt x="1782445" y="1259001"/>
                  </a:lnTo>
                  <a:lnTo>
                    <a:pt x="1777161" y="1265059"/>
                  </a:lnTo>
                  <a:lnTo>
                    <a:pt x="1785200" y="1381785"/>
                  </a:lnTo>
                  <a:lnTo>
                    <a:pt x="1882851" y="1317332"/>
                  </a:lnTo>
                  <a:lnTo>
                    <a:pt x="1884464" y="1309446"/>
                  </a:lnTo>
                  <a:lnTo>
                    <a:pt x="1876742" y="1297749"/>
                  </a:lnTo>
                  <a:lnTo>
                    <a:pt x="1868855" y="1296136"/>
                  </a:lnTo>
                  <a:lnTo>
                    <a:pt x="1828584" y="1322717"/>
                  </a:lnTo>
                  <a:lnTo>
                    <a:pt x="2069998" y="834567"/>
                  </a:lnTo>
                  <a:lnTo>
                    <a:pt x="2073313" y="882713"/>
                  </a:lnTo>
                  <a:lnTo>
                    <a:pt x="2079371" y="887996"/>
                  </a:lnTo>
                  <a:lnTo>
                    <a:pt x="2093366" y="887031"/>
                  </a:lnTo>
                  <a:lnTo>
                    <a:pt x="2098649" y="880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0">
            <a:extLst>
              <a:ext uri="{FF2B5EF4-FFF2-40B4-BE49-F238E27FC236}">
                <a16:creationId xmlns:a16="http://schemas.microsoft.com/office/drawing/2014/main" id="{E48E609A-5206-363D-74EB-7421404E616F}"/>
              </a:ext>
            </a:extLst>
          </p:cNvPr>
          <p:cNvSpPr txBox="1"/>
          <p:nvPr/>
        </p:nvSpPr>
        <p:spPr>
          <a:xfrm>
            <a:off x="4275784" y="5953305"/>
            <a:ext cx="248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latin typeface="Calibri"/>
                <a:cs typeface="Calibri"/>
              </a:rPr>
              <a:t>Market Segmentation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FCCE945-F18B-A94C-7B85-6026C7E653AC}"/>
              </a:ext>
            </a:extLst>
          </p:cNvPr>
          <p:cNvSpPr txBox="1"/>
          <p:nvPr/>
        </p:nvSpPr>
        <p:spPr>
          <a:xfrm>
            <a:off x="10690187" y="6333759"/>
            <a:ext cx="12802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lang="en-US" sz="900" dirty="0">
                <a:latin typeface="Calibri"/>
                <a:cs typeface="Calibri"/>
              </a:rPr>
              <a:t>Slide</a:t>
            </a:r>
            <a:r>
              <a:rPr lang="en-US" sz="900" spc="-5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credit:</a:t>
            </a:r>
            <a:r>
              <a:rPr lang="en-US" sz="900" spc="-50" dirty="0">
                <a:latin typeface="Calibri"/>
                <a:cs typeface="Calibri"/>
              </a:rPr>
              <a:t> </a:t>
            </a:r>
            <a:r>
              <a:rPr lang="en-US" sz="900" dirty="0">
                <a:latin typeface="Calibri"/>
                <a:cs typeface="Calibri"/>
              </a:rPr>
              <a:t>Andrew</a:t>
            </a:r>
            <a:r>
              <a:rPr lang="en-US" sz="900" spc="-50" dirty="0">
                <a:latin typeface="Calibri"/>
                <a:cs typeface="Calibri"/>
              </a:rPr>
              <a:t> </a:t>
            </a:r>
            <a:r>
              <a:rPr lang="en-US" sz="900" spc="-35" dirty="0">
                <a:latin typeface="Calibri"/>
                <a:cs typeface="Calibri"/>
              </a:rPr>
              <a:t>Ng</a:t>
            </a:r>
            <a:endParaRPr lang="en-US"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1856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09DF-C530-2403-3164-2E0B5C2A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>
                <a:latin typeface="Calibri"/>
                <a:cs typeface="Calibri"/>
              </a:rPr>
              <a:t>Reinforcement</a:t>
            </a:r>
            <a:r>
              <a:rPr lang="en-US" spc="-1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B429F-0B01-62A9-05AB-62622ED83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3200" dirty="0">
                <a:latin typeface="Calibri"/>
                <a:cs typeface="Calibri"/>
              </a:rPr>
              <a:t>Given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sequence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states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and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actions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with </a:t>
            </a:r>
            <a:r>
              <a:rPr lang="en-US" sz="3200" spc="-10" dirty="0">
                <a:latin typeface="Calibri"/>
                <a:cs typeface="Calibri"/>
              </a:rPr>
              <a:t>(delayed)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rewards,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output</a:t>
            </a:r>
            <a:r>
              <a:rPr lang="en-US" sz="3200" spc="-8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policy</a:t>
            </a:r>
            <a:endParaRPr lang="en-US" sz="3200" dirty="0">
              <a:latin typeface="Calibri"/>
              <a:cs typeface="Calibri"/>
            </a:endParaRPr>
          </a:p>
          <a:p>
            <a:pPr marL="754380" marR="160020" lvl="1" indent="-284480">
              <a:lnSpc>
                <a:spcPts val="3300"/>
              </a:lnSpc>
              <a:spcBef>
                <a:spcPts val="800"/>
              </a:spcBef>
              <a:buFont typeface="Arial MT"/>
              <a:buChar char="–"/>
              <a:tabLst>
                <a:tab pos="755650" algn="l"/>
              </a:tabLst>
            </a:pPr>
            <a:r>
              <a:rPr lang="en-US" sz="2800" dirty="0">
                <a:latin typeface="Calibri"/>
                <a:cs typeface="Calibri"/>
              </a:rPr>
              <a:t>Policy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mapping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states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Wingdings"/>
                <a:cs typeface="Wingdings"/>
              </a:rPr>
              <a:t></a:t>
            </a:r>
            <a:r>
              <a:rPr lang="en-US" sz="2800" spc="-1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Calibri"/>
                <a:cs typeface="Calibri"/>
              </a:rPr>
              <a:t>actions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that </a:t>
            </a:r>
            <a:r>
              <a:rPr lang="en-US" sz="2800" dirty="0">
                <a:latin typeface="Calibri"/>
                <a:cs typeface="Calibri"/>
              </a:rPr>
              <a:t>tells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you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what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do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given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state</a:t>
            </a:r>
            <a:endParaRPr lang="en-US"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3200" spc="-10" dirty="0">
                <a:latin typeface="Calibri"/>
                <a:cs typeface="Calibri"/>
              </a:rPr>
              <a:t>Examples: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Credit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assignment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problem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Game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playing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Robot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maze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Balance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pole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on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your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hand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D6B5-58B6-2FC0-1735-C7E0B6CA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41365-AE05-460F-B936-BC99D8FC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4D33-61A8-CDFE-DB00-1ADF0309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9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044F-A8A5-A8DA-A079-74A8B5E3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FB35-2BAF-2B86-4673-5F61B1B1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Agent-</a:t>
            </a:r>
            <a:r>
              <a:rPr lang="en-US" spc="-10" dirty="0">
                <a:latin typeface="Calibri"/>
                <a:cs typeface="Calibri"/>
              </a:rPr>
              <a:t>Environment</a:t>
            </a:r>
            <a:r>
              <a:rPr lang="en-US" spc="-10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Interface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1307-7D5C-5BB1-A425-EEBE21BF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8A932-9084-922E-7663-D73A1451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E4EEE-56F2-27D0-C78C-1D07D2B2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9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1758" y="636270"/>
            <a:ext cx="4713069" cy="1905000"/>
          </a:xfrm>
          <a:prstGeom prst="rect">
            <a:avLst/>
          </a:prstGeom>
        </p:spPr>
      </p:pic>
      <p:sp>
        <p:nvSpPr>
          <p:cNvPr id="10" name="object 4"/>
          <p:cNvSpPr txBox="1"/>
          <p:nvPr/>
        </p:nvSpPr>
        <p:spPr>
          <a:xfrm>
            <a:off x="4530739" y="2789872"/>
            <a:ext cx="501142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marR="30480" indent="-308610">
              <a:lnSpc>
                <a:spcPct val="124700"/>
              </a:lnSpc>
              <a:spcBef>
                <a:spcPts val="100"/>
              </a:spcBef>
              <a:tabLst>
                <a:tab pos="3087370" algn="l"/>
                <a:tab pos="3553460" algn="l"/>
              </a:tabLst>
            </a:pPr>
            <a:r>
              <a:rPr sz="1900" spc="-30" dirty="0">
                <a:latin typeface="Times New Roman"/>
                <a:cs typeface="Times New Roman"/>
              </a:rPr>
              <a:t>Agent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and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environment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interact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discrete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time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steps </a:t>
            </a:r>
            <a:r>
              <a:rPr sz="1900" spc="-20" dirty="0">
                <a:latin typeface="Times New Roman"/>
                <a:cs typeface="Times New Roman"/>
              </a:rPr>
              <a:t>Agent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observes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state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2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s</a:t>
            </a:r>
            <a:r>
              <a:rPr sz="1650" i="1" baseline="-22727" dirty="0">
                <a:latin typeface="Times New Roman"/>
                <a:cs typeface="Times New Roman"/>
              </a:rPr>
              <a:t>t</a:t>
            </a:r>
            <a:r>
              <a:rPr sz="1650" i="1" spc="569" baseline="-22727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Symbol"/>
                <a:cs typeface="Symbol"/>
              </a:rPr>
              <a:t>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9712067" y="2862089"/>
            <a:ext cx="138938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20" algn="l"/>
              </a:tabLst>
            </a:pP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0,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1,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2,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4842342" y="3604317"/>
            <a:ext cx="36093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54935" algn="l"/>
              </a:tabLst>
            </a:pPr>
            <a:r>
              <a:rPr sz="1900" spc="-25" dirty="0">
                <a:latin typeface="Times New Roman"/>
                <a:cs typeface="Times New Roman"/>
              </a:rPr>
              <a:t>produces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action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step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8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t</a:t>
            </a:r>
            <a:r>
              <a:rPr sz="1650" i="1" spc="315" baseline="-2272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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A</a:t>
            </a:r>
            <a:r>
              <a:rPr sz="1900" spc="-25" dirty="0">
                <a:latin typeface="Times New Roman"/>
                <a:cs typeface="Times New Roman"/>
              </a:rPr>
              <a:t>(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650" i="1" spc="-37" baseline="-22727" dirty="0">
                <a:latin typeface="Times New Roman"/>
                <a:cs typeface="Times New Roman"/>
              </a:rPr>
              <a:t>t</a:t>
            </a:r>
            <a:r>
              <a:rPr sz="1650" i="1" spc="-22" baseline="-2272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4866538" y="3913244"/>
            <a:ext cx="235013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gets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resulting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reward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resulting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next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8"/>
          <p:cNvSpPr txBox="1"/>
          <p:nvPr/>
        </p:nvSpPr>
        <p:spPr>
          <a:xfrm>
            <a:off x="7263935" y="3853064"/>
            <a:ext cx="812165" cy="868044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1900" i="1" spc="-155" dirty="0">
                <a:latin typeface="Times New Roman"/>
                <a:cs typeface="Times New Roman"/>
              </a:rPr>
              <a:t>r</a:t>
            </a:r>
            <a:r>
              <a:rPr sz="1650" i="1" spc="-232" baseline="-22727" dirty="0">
                <a:latin typeface="Times New Roman"/>
                <a:cs typeface="Times New Roman"/>
              </a:rPr>
              <a:t>t</a:t>
            </a:r>
            <a:r>
              <a:rPr sz="1650" i="1" spc="-142" baseline="-22727" dirty="0">
                <a:latin typeface="Times New Roman"/>
                <a:cs typeface="Times New Roman"/>
              </a:rPr>
              <a:t> </a:t>
            </a:r>
            <a:r>
              <a:rPr sz="1650" baseline="-22727" dirty="0">
                <a:latin typeface="Symbol"/>
                <a:cs typeface="Symbol"/>
              </a:rPr>
              <a:t></a:t>
            </a:r>
            <a:r>
              <a:rPr sz="1650" baseline="-22727" dirty="0">
                <a:latin typeface="Times New Roman"/>
                <a:cs typeface="Times New Roman"/>
              </a:rPr>
              <a:t>1</a:t>
            </a:r>
            <a:r>
              <a:rPr sz="1650" spc="442" baseline="-22727" dirty="0">
                <a:latin typeface="Times New Roman"/>
                <a:cs typeface="Times New Roman"/>
              </a:rPr>
              <a:t> </a:t>
            </a:r>
            <a:r>
              <a:rPr sz="1900" spc="100" dirty="0">
                <a:latin typeface="Symbol"/>
                <a:cs typeface="Symbol"/>
              </a:rPr>
              <a:t></a:t>
            </a:r>
            <a:endParaRPr sz="1900">
              <a:latin typeface="Symbol"/>
              <a:cs typeface="Symbol"/>
            </a:endParaRPr>
          </a:p>
          <a:p>
            <a:pPr marL="116839">
              <a:lnSpc>
                <a:spcPct val="100000"/>
              </a:lnSpc>
              <a:spcBef>
                <a:spcPts val="1040"/>
              </a:spcBef>
            </a:pPr>
            <a:r>
              <a:rPr sz="2850" i="1" baseline="13157" dirty="0">
                <a:latin typeface="Times New Roman"/>
                <a:cs typeface="Times New Roman"/>
              </a:rPr>
              <a:t>s</a:t>
            </a:r>
            <a:r>
              <a:rPr sz="1100" i="1" dirty="0">
                <a:latin typeface="Times New Roman"/>
                <a:cs typeface="Times New Roman"/>
              </a:rPr>
              <a:t>t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5" name="object 9"/>
          <p:cNvGrpSpPr/>
          <p:nvPr/>
        </p:nvGrpSpPr>
        <p:grpSpPr>
          <a:xfrm>
            <a:off x="5066303" y="5038407"/>
            <a:ext cx="5026025" cy="536575"/>
            <a:chOff x="2244725" y="5786437"/>
            <a:chExt cx="5026025" cy="536575"/>
          </a:xfrm>
        </p:grpSpPr>
        <p:pic>
          <p:nvPicPr>
            <p:cNvPr id="16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1700" y="6008687"/>
              <a:ext cx="103188" cy="101600"/>
            </a:xfrm>
            <a:prstGeom prst="rect">
              <a:avLst/>
            </a:prstGeom>
          </p:spPr>
        </p:pic>
        <p:pic>
          <p:nvPicPr>
            <p:cNvPr id="17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5537" y="6008687"/>
              <a:ext cx="103188" cy="101600"/>
            </a:xfrm>
            <a:prstGeom prst="rect">
              <a:avLst/>
            </a:prstGeom>
          </p:spPr>
        </p:pic>
        <p:sp>
          <p:nvSpPr>
            <p:cNvPr id="18" name="object 12"/>
            <p:cNvSpPr/>
            <p:nvPr/>
          </p:nvSpPr>
          <p:spPr>
            <a:xfrm>
              <a:off x="2251075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9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9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5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2"/>
                  </a:lnTo>
                  <a:lnTo>
                    <a:pt x="359760" y="507487"/>
                  </a:lnTo>
                  <a:lnTo>
                    <a:pt x="314639" y="519654"/>
                  </a:lnTo>
                  <a:lnTo>
                    <a:pt x="266700" y="523875"/>
                  </a:lnTo>
                  <a:lnTo>
                    <a:pt x="218760" y="519654"/>
                  </a:lnTo>
                  <a:lnTo>
                    <a:pt x="173639" y="507487"/>
                  </a:lnTo>
                  <a:lnTo>
                    <a:pt x="132091" y="488112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5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3"/>
            <p:cNvSpPr/>
            <p:nvPr/>
          </p:nvSpPr>
          <p:spPr>
            <a:xfrm>
              <a:off x="2795587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6750" y="6008687"/>
              <a:ext cx="103188" cy="101600"/>
            </a:xfrm>
            <a:prstGeom prst="rect">
              <a:avLst/>
            </a:prstGeom>
          </p:spPr>
        </p:pic>
        <p:sp>
          <p:nvSpPr>
            <p:cNvPr id="21" name="object 15"/>
            <p:cNvSpPr/>
            <p:nvPr/>
          </p:nvSpPr>
          <p:spPr>
            <a:xfrm>
              <a:off x="3744912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9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9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5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2"/>
                  </a:lnTo>
                  <a:lnTo>
                    <a:pt x="359760" y="507487"/>
                  </a:lnTo>
                  <a:lnTo>
                    <a:pt x="314639" y="519654"/>
                  </a:lnTo>
                  <a:lnTo>
                    <a:pt x="266700" y="523875"/>
                  </a:lnTo>
                  <a:lnTo>
                    <a:pt x="218760" y="519654"/>
                  </a:lnTo>
                  <a:lnTo>
                    <a:pt x="173639" y="507487"/>
                  </a:lnTo>
                  <a:lnTo>
                    <a:pt x="132091" y="488112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5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6"/>
            <p:cNvSpPr/>
            <p:nvPr/>
          </p:nvSpPr>
          <p:spPr>
            <a:xfrm>
              <a:off x="428942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7"/>
            <p:cNvSpPr/>
            <p:nvPr/>
          </p:nvSpPr>
          <p:spPr>
            <a:xfrm>
              <a:off x="5238750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9"/>
                  </a:lnTo>
                  <a:lnTo>
                    <a:pt x="36304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3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89" y="16387"/>
                  </a:lnTo>
                  <a:lnTo>
                    <a:pt x="400114" y="35762"/>
                  </a:lnTo>
                  <a:lnTo>
                    <a:pt x="437226" y="61604"/>
                  </a:lnTo>
                  <a:lnTo>
                    <a:pt x="469275" y="93174"/>
                  </a:lnTo>
                  <a:lnTo>
                    <a:pt x="495508" y="129732"/>
                  </a:lnTo>
                  <a:lnTo>
                    <a:pt x="515177" y="170539"/>
                  </a:lnTo>
                  <a:lnTo>
                    <a:pt x="527528" y="214853"/>
                  </a:lnTo>
                  <a:lnTo>
                    <a:pt x="531813" y="261937"/>
                  </a:lnTo>
                  <a:lnTo>
                    <a:pt x="527528" y="309021"/>
                  </a:lnTo>
                  <a:lnTo>
                    <a:pt x="515177" y="353335"/>
                  </a:lnTo>
                  <a:lnTo>
                    <a:pt x="495508" y="394142"/>
                  </a:lnTo>
                  <a:lnTo>
                    <a:pt x="469275" y="430700"/>
                  </a:lnTo>
                  <a:lnTo>
                    <a:pt x="437226" y="462270"/>
                  </a:lnTo>
                  <a:lnTo>
                    <a:pt x="400114" y="488112"/>
                  </a:lnTo>
                  <a:lnTo>
                    <a:pt x="358689" y="507487"/>
                  </a:lnTo>
                  <a:lnTo>
                    <a:pt x="313703" y="519654"/>
                  </a:lnTo>
                  <a:lnTo>
                    <a:pt x="265906" y="523875"/>
                  </a:lnTo>
                  <a:lnTo>
                    <a:pt x="218109" y="519654"/>
                  </a:lnTo>
                  <a:lnTo>
                    <a:pt x="173123" y="507487"/>
                  </a:lnTo>
                  <a:lnTo>
                    <a:pt x="131698" y="488112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4" y="394142"/>
                  </a:lnTo>
                  <a:lnTo>
                    <a:pt x="16635" y="353335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8"/>
            <p:cNvSpPr/>
            <p:nvPr/>
          </p:nvSpPr>
          <p:spPr>
            <a:xfrm>
              <a:off x="6732588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9"/>
                  </a:lnTo>
                  <a:lnTo>
                    <a:pt x="36304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3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89" y="16387"/>
                  </a:lnTo>
                  <a:lnTo>
                    <a:pt x="400114" y="35762"/>
                  </a:lnTo>
                  <a:lnTo>
                    <a:pt x="437226" y="61604"/>
                  </a:lnTo>
                  <a:lnTo>
                    <a:pt x="469275" y="93174"/>
                  </a:lnTo>
                  <a:lnTo>
                    <a:pt x="495508" y="129732"/>
                  </a:lnTo>
                  <a:lnTo>
                    <a:pt x="515177" y="170539"/>
                  </a:lnTo>
                  <a:lnTo>
                    <a:pt x="527528" y="214853"/>
                  </a:lnTo>
                  <a:lnTo>
                    <a:pt x="531813" y="261937"/>
                  </a:lnTo>
                  <a:lnTo>
                    <a:pt x="527528" y="309021"/>
                  </a:lnTo>
                  <a:lnTo>
                    <a:pt x="515177" y="353335"/>
                  </a:lnTo>
                  <a:lnTo>
                    <a:pt x="495508" y="394142"/>
                  </a:lnTo>
                  <a:lnTo>
                    <a:pt x="469275" y="430700"/>
                  </a:lnTo>
                  <a:lnTo>
                    <a:pt x="437226" y="462270"/>
                  </a:lnTo>
                  <a:lnTo>
                    <a:pt x="400114" y="488112"/>
                  </a:lnTo>
                  <a:lnTo>
                    <a:pt x="358689" y="507487"/>
                  </a:lnTo>
                  <a:lnTo>
                    <a:pt x="313703" y="519654"/>
                  </a:lnTo>
                  <a:lnTo>
                    <a:pt x="265906" y="523875"/>
                  </a:lnTo>
                  <a:lnTo>
                    <a:pt x="218109" y="519654"/>
                  </a:lnTo>
                  <a:lnTo>
                    <a:pt x="173123" y="507487"/>
                  </a:lnTo>
                  <a:lnTo>
                    <a:pt x="131698" y="488112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4" y="394142"/>
                  </a:lnTo>
                  <a:lnTo>
                    <a:pt x="16635" y="353335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9"/>
            <p:cNvSpPr/>
            <p:nvPr/>
          </p:nvSpPr>
          <p:spPr>
            <a:xfrm>
              <a:off x="578167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0"/>
          <p:cNvSpPr txBox="1"/>
          <p:nvPr/>
        </p:nvSpPr>
        <p:spPr>
          <a:xfrm>
            <a:off x="4108367" y="4978130"/>
            <a:ext cx="9721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125" algn="l"/>
                <a:tab pos="958850" algn="l"/>
              </a:tabLst>
            </a:pPr>
            <a:r>
              <a:rPr sz="2100" b="1" dirty="0">
                <a:latin typeface="Arial"/>
                <a:cs typeface="Arial"/>
              </a:rPr>
              <a:t>.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 </a:t>
            </a:r>
            <a:r>
              <a:rPr sz="2100" b="1" spc="-50" dirty="0">
                <a:latin typeface="Arial"/>
                <a:cs typeface="Arial"/>
              </a:rPr>
              <a:t>.</a:t>
            </a:r>
            <a:r>
              <a:rPr sz="2100" b="1" dirty="0">
                <a:latin typeface="Arial"/>
                <a:cs typeface="Arial"/>
              </a:rPr>
              <a:t>	</a:t>
            </a:r>
            <a:r>
              <a:rPr sz="2100" b="1" u="sng" dirty="0">
                <a:uFill>
                  <a:solidFill>
                    <a:srgbClr val="1F497D"/>
                  </a:solidFill>
                </a:uFill>
                <a:latin typeface="Arial"/>
                <a:cs typeface="Arial"/>
              </a:rPr>
              <a:t>	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1"/>
          <p:cNvSpPr txBox="1"/>
          <p:nvPr/>
        </p:nvSpPr>
        <p:spPr>
          <a:xfrm>
            <a:off x="5237079" y="5098780"/>
            <a:ext cx="1295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50" dirty="0">
                <a:latin typeface="Calibri"/>
                <a:cs typeface="Calibri"/>
              </a:rPr>
              <a:t>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8" name="object 22"/>
          <p:cNvSpPr txBox="1"/>
          <p:nvPr/>
        </p:nvSpPr>
        <p:spPr>
          <a:xfrm>
            <a:off x="5327567" y="5235305"/>
            <a:ext cx="939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3"/>
          <p:cNvSpPr txBox="1"/>
          <p:nvPr/>
        </p:nvSpPr>
        <p:spPr>
          <a:xfrm>
            <a:off x="5633954" y="5194030"/>
            <a:ext cx="24637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i="1" spc="-25" dirty="0">
                <a:latin typeface="Calibri"/>
                <a:cs typeface="Calibri"/>
              </a:rPr>
              <a:t>a</a:t>
            </a:r>
            <a:r>
              <a:rPr sz="2400" i="1" spc="-37" baseline="-19097" dirty="0">
                <a:latin typeface="Calibri"/>
                <a:cs typeface="Calibri"/>
              </a:rPr>
              <a:t>t</a:t>
            </a:r>
            <a:endParaRPr sz="2400" baseline="-19097">
              <a:latin typeface="Calibri"/>
              <a:cs typeface="Calibri"/>
            </a:endParaRPr>
          </a:p>
        </p:txBody>
      </p:sp>
      <p:sp>
        <p:nvSpPr>
          <p:cNvPr id="30" name="object 24"/>
          <p:cNvSpPr txBox="1"/>
          <p:nvPr/>
        </p:nvSpPr>
        <p:spPr>
          <a:xfrm>
            <a:off x="6097504" y="4960668"/>
            <a:ext cx="9861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+1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3150" i="1" spc="-30" baseline="-17195" dirty="0">
                <a:latin typeface="Calibri"/>
                <a:cs typeface="Calibri"/>
              </a:rPr>
              <a:t>s</a:t>
            </a:r>
            <a:r>
              <a:rPr sz="2400" i="1" spc="-30" baseline="-41666" dirty="0">
                <a:latin typeface="Calibri"/>
                <a:cs typeface="Calibri"/>
              </a:rPr>
              <a:t>t</a:t>
            </a:r>
            <a:r>
              <a:rPr sz="2400" i="1" spc="-37" baseline="-41666" dirty="0">
                <a:latin typeface="Calibri"/>
                <a:cs typeface="Calibri"/>
              </a:rPr>
              <a:t> </a:t>
            </a:r>
            <a:r>
              <a:rPr sz="2400" spc="-37" baseline="-41666" dirty="0">
                <a:latin typeface="Calibri"/>
                <a:cs typeface="Calibri"/>
              </a:rPr>
              <a:t>+1</a:t>
            </a:r>
            <a:endParaRPr sz="2400" baseline="-41666">
              <a:latin typeface="Calibri"/>
              <a:cs typeface="Calibri"/>
            </a:endParaRPr>
          </a:p>
        </p:txBody>
      </p:sp>
      <p:sp>
        <p:nvSpPr>
          <p:cNvPr id="31" name="object 25"/>
          <p:cNvSpPr txBox="1"/>
          <p:nvPr/>
        </p:nvSpPr>
        <p:spPr>
          <a:xfrm>
            <a:off x="7070642" y="525435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26"/>
          <p:cNvSpPr txBox="1"/>
          <p:nvPr/>
        </p:nvSpPr>
        <p:spPr>
          <a:xfrm>
            <a:off x="7545304" y="4960668"/>
            <a:ext cx="10198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+2</a:t>
            </a:r>
            <a:r>
              <a:rPr sz="1600" spc="85" dirty="0">
                <a:latin typeface="Calibri"/>
                <a:cs typeface="Calibri"/>
              </a:rPr>
              <a:t>  </a:t>
            </a:r>
            <a:r>
              <a:rPr sz="3150" i="1" spc="-15" baseline="-15873" dirty="0">
                <a:latin typeface="Calibri"/>
                <a:cs typeface="Calibri"/>
              </a:rPr>
              <a:t>s</a:t>
            </a:r>
            <a:r>
              <a:rPr sz="2400" i="1" spc="-15" baseline="-41666" dirty="0">
                <a:latin typeface="Calibri"/>
                <a:cs typeface="Calibri"/>
              </a:rPr>
              <a:t>t</a:t>
            </a:r>
            <a:r>
              <a:rPr sz="2400" i="1" spc="-37" baseline="-41666" dirty="0">
                <a:latin typeface="Calibri"/>
                <a:cs typeface="Calibri"/>
              </a:rPr>
              <a:t> </a:t>
            </a:r>
            <a:r>
              <a:rPr sz="2400" spc="-37" baseline="-41666" dirty="0">
                <a:latin typeface="Calibri"/>
                <a:cs typeface="Calibri"/>
              </a:rPr>
              <a:t>+2</a:t>
            </a:r>
            <a:endParaRPr sz="2400" baseline="-41666">
              <a:latin typeface="Calibri"/>
              <a:cs typeface="Calibri"/>
            </a:endParaRPr>
          </a:p>
        </p:txBody>
      </p:sp>
      <p:sp>
        <p:nvSpPr>
          <p:cNvPr id="33" name="object 27"/>
          <p:cNvSpPr txBox="1"/>
          <p:nvPr/>
        </p:nvSpPr>
        <p:spPr>
          <a:xfrm>
            <a:off x="8600992" y="525435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28"/>
          <p:cNvSpPr txBox="1"/>
          <p:nvPr/>
        </p:nvSpPr>
        <p:spPr>
          <a:xfrm>
            <a:off x="9035967" y="4990830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29"/>
          <p:cNvSpPr txBox="1"/>
          <p:nvPr/>
        </p:nvSpPr>
        <p:spPr>
          <a:xfrm>
            <a:off x="9602705" y="5113068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30" baseline="14550" dirty="0">
                <a:latin typeface="Calibri"/>
                <a:cs typeface="Calibri"/>
              </a:rPr>
              <a:t>s</a:t>
            </a:r>
            <a:r>
              <a:rPr sz="1600" i="1" spc="-20" dirty="0">
                <a:latin typeface="Calibri"/>
                <a:cs typeface="Calibri"/>
              </a:rPr>
              <a:t>t</a:t>
            </a:r>
            <a:r>
              <a:rPr sz="1600" i="1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0"/>
          <p:cNvSpPr/>
          <p:nvPr/>
        </p:nvSpPr>
        <p:spPr>
          <a:xfrm>
            <a:off x="10103442" y="5306695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339725" y="0"/>
                </a:moveTo>
                <a:lnTo>
                  <a:pt x="0" y="1"/>
                </a:lnTo>
              </a:path>
            </a:pathLst>
          </a:custGeom>
          <a:ln w="127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1"/>
          <p:cNvSpPr txBox="1"/>
          <p:nvPr/>
        </p:nvSpPr>
        <p:spPr>
          <a:xfrm>
            <a:off x="10467892" y="4989243"/>
            <a:ext cx="398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.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 </a:t>
            </a:r>
            <a:r>
              <a:rPr sz="2100" b="1" spc="-50" dirty="0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8" name="object 32"/>
          <p:cNvSpPr txBox="1"/>
          <p:nvPr/>
        </p:nvSpPr>
        <p:spPr>
          <a:xfrm>
            <a:off x="10058317" y="5265468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3"/>
          <p:cNvSpPr txBox="1"/>
          <p:nvPr/>
        </p:nvSpPr>
        <p:spPr>
          <a:xfrm>
            <a:off x="10555522" y="6356350"/>
            <a:ext cx="13743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Slide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credit:</a:t>
            </a:r>
            <a:r>
              <a:rPr sz="900" spc="2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Sutton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&amp;</a:t>
            </a:r>
            <a:r>
              <a:rPr sz="900" spc="-45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Barto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578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50C4-78CE-4115-6A58-FB1BF1C7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21CD-EB7A-4C1A-DDF3-5F2620E1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>
                <a:latin typeface="Calibri"/>
                <a:cs typeface="Calibri"/>
              </a:rPr>
              <a:t>Reinforcement</a:t>
            </a:r>
            <a:r>
              <a:rPr lang="en-US" spc="-1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DD56-0413-D279-376C-FD36DF35C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399314"/>
            <a:ext cx="7315200" cy="585433"/>
          </a:xfrm>
        </p:spPr>
        <p:txBody>
          <a:bodyPr>
            <a:normAutofit fontScale="85000" lnSpcReduction="10000"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lang="en-US" sz="3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www.youtube.com/watch?v=4cgWya-</a:t>
            </a:r>
            <a:r>
              <a:rPr lang="en-US" sz="3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wjgY</a:t>
            </a:r>
            <a:endParaRPr lang="en-US" sz="32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96E77-7236-2EE6-AF12-4CBA7A95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BF73F-062A-93E7-E66A-60C652BF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3A082-0651-5316-3C6E-F0B09CCF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0741" y="798130"/>
            <a:ext cx="6032649" cy="460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48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0F97-2EDF-292B-C5E8-AB300282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>
                <a:latin typeface="Calibri"/>
                <a:cs typeface="Calibri"/>
              </a:rPr>
              <a:t>Inverse</a:t>
            </a:r>
            <a:r>
              <a:rPr lang="en-US" spc="-204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Reinforcement</a:t>
            </a:r>
            <a:r>
              <a:rPr lang="en-US" spc="-20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F235-B5F9-A327-61C0-B877E98AC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468303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policy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from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user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demonstrations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ED035-2F03-2147-B1BD-4DAA8387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8BB0-31B1-23A0-E5FC-5B736F36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26805-CAF5-C913-8BFD-24F5FA7C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5011B-3546-25DA-FFBA-1580B60C6867}"/>
              </a:ext>
            </a:extLst>
          </p:cNvPr>
          <p:cNvSpPr txBox="1">
            <a:spLocks/>
          </p:cNvSpPr>
          <p:nvPr/>
        </p:nvSpPr>
        <p:spPr>
          <a:xfrm>
            <a:off x="3869268" y="5381897"/>
            <a:ext cx="7315200" cy="734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indent="0" algn="ctr">
              <a:lnSpc>
                <a:spcPct val="100899"/>
              </a:lnSpc>
              <a:spcBef>
                <a:spcPts val="70"/>
              </a:spcBef>
              <a:buNone/>
            </a:pPr>
            <a:r>
              <a:rPr lang="en-US" sz="2400" spc="-10" dirty="0">
                <a:latin typeface="Calibri"/>
                <a:cs typeface="Calibri"/>
              </a:rPr>
              <a:t>Stanford</a:t>
            </a:r>
            <a:r>
              <a:rPr lang="en-US" sz="2400" spc="-1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Autonomous</a:t>
            </a:r>
            <a:r>
              <a:rPr lang="en-US" sz="2400" spc="-1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Helicopter </a:t>
            </a:r>
          </a:p>
          <a:p>
            <a:pPr marL="12700" marR="5080" indent="0" algn="ctr">
              <a:lnSpc>
                <a:spcPct val="100899"/>
              </a:lnSpc>
              <a:spcBef>
                <a:spcPts val="70"/>
              </a:spcBef>
              <a:buNone/>
            </a:pPr>
            <a:r>
              <a:rPr lang="en-US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u="sng" spc="-10" dirty="0">
                <a:solidFill>
                  <a:srgbClr val="90BB23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heli.stanford.edu/</a:t>
            </a:r>
            <a:r>
              <a:rPr lang="en-US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</a:p>
          <a:p>
            <a:pPr marL="12700" marR="5080" indent="0" algn="ctr">
              <a:lnSpc>
                <a:spcPct val="100899"/>
              </a:lnSpc>
              <a:spcBef>
                <a:spcPts val="70"/>
              </a:spcBef>
              <a:buNone/>
            </a:pPr>
            <a:r>
              <a:rPr lang="en-US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lang="en-US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www.youtube.com/watch?v=VCdxqn0fcnE</a:t>
            </a:r>
            <a:endParaRPr lang="en-US" dirty="0">
              <a:latin typeface="Calibri"/>
              <a:cs typeface="Calibri"/>
            </a:endParaRPr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8902AC4D-B5FA-E702-363E-19EB877338C0}"/>
              </a:ext>
            </a:extLst>
          </p:cNvPr>
          <p:cNvGrpSpPr/>
          <p:nvPr/>
        </p:nvGrpSpPr>
        <p:grpSpPr>
          <a:xfrm>
            <a:off x="3943169" y="1572289"/>
            <a:ext cx="7340600" cy="3594100"/>
            <a:chOff x="825500" y="1727200"/>
            <a:chExt cx="7340600" cy="359410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6BE866F7-A3FF-1AAD-BC7F-C7554BE189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500" y="1727200"/>
              <a:ext cx="7340600" cy="3594100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605D46B-330D-CC03-E037-06A7BBA504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600" y="1873250"/>
              <a:ext cx="7010400" cy="3259179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29D3C2B0-8D82-B071-EEC0-9AF3835BD149}"/>
                </a:ext>
              </a:extLst>
            </p:cNvPr>
            <p:cNvSpPr/>
            <p:nvPr/>
          </p:nvSpPr>
          <p:spPr>
            <a:xfrm>
              <a:off x="946150" y="1828800"/>
              <a:ext cx="7099300" cy="3348354"/>
            </a:xfrm>
            <a:custGeom>
              <a:avLst/>
              <a:gdLst/>
              <a:ahLst/>
              <a:cxnLst/>
              <a:rect l="l" t="t" r="r" b="b"/>
              <a:pathLst>
                <a:path w="7099300" h="3348354">
                  <a:moveTo>
                    <a:pt x="0" y="0"/>
                  </a:moveTo>
                  <a:lnTo>
                    <a:pt x="7099300" y="0"/>
                  </a:lnTo>
                  <a:lnTo>
                    <a:pt x="7099300" y="3348079"/>
                  </a:lnTo>
                  <a:lnTo>
                    <a:pt x="0" y="3348079"/>
                  </a:lnTo>
                  <a:lnTo>
                    <a:pt x="0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1928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0CE8-3221-16AC-EE48-D5400B0F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220F04-5C40-BC8F-2712-350EBF7FA9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Framing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Problem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B52556A-0C19-6060-1B5D-34DAB9573E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95AC-3551-011A-BFF3-31BD9F80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E7D22-4B0B-B20F-BB75-67BB8CF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BC36D-ADC6-972C-74B2-F0EEE2BC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56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DC28-15FE-9A4D-6566-24659EB6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Designing</a:t>
            </a:r>
            <a:r>
              <a:rPr lang="en-US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Learning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3E333-E5AF-4784-2EB1-6BB9B909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697698"/>
          </a:xfrm>
        </p:spPr>
        <p:txBody>
          <a:bodyPr/>
          <a:lstStyle/>
          <a:p>
            <a:r>
              <a:rPr lang="en-US" dirty="0"/>
              <a:t>Choose the training experience</a:t>
            </a:r>
          </a:p>
          <a:p>
            <a:r>
              <a:rPr lang="en-US" dirty="0"/>
              <a:t>Choose exactly what is to be learned</a:t>
            </a:r>
          </a:p>
          <a:p>
            <a:r>
              <a:rPr lang="en-US" dirty="0"/>
              <a:t>– i.e. the </a:t>
            </a:r>
            <a:r>
              <a:rPr lang="en-US" b="1" dirty="0">
                <a:solidFill>
                  <a:srgbClr val="FF0000"/>
                </a:solidFill>
              </a:rPr>
              <a:t>target function</a:t>
            </a:r>
          </a:p>
          <a:p>
            <a:r>
              <a:rPr lang="en-US" dirty="0"/>
              <a:t>Choose how to represent the target function</a:t>
            </a:r>
          </a:p>
          <a:p>
            <a:r>
              <a:rPr lang="en-US" dirty="0"/>
              <a:t>Choose a learning algorithm to infer the target function from the experience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CAD9C-15B5-9758-8767-6F412FCA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C3261-C9F6-0E99-AFBC-74D33E79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37F08-73D2-15E8-16C9-F999772E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D53BBA1F-0BB7-93D4-61F7-F34DA182F8CB}"/>
              </a:ext>
            </a:extLst>
          </p:cNvPr>
          <p:cNvGrpSpPr/>
          <p:nvPr/>
        </p:nvGrpSpPr>
        <p:grpSpPr>
          <a:xfrm>
            <a:off x="4618218" y="4088856"/>
            <a:ext cx="2178050" cy="979805"/>
            <a:chOff x="1639887" y="4832350"/>
            <a:chExt cx="2178050" cy="97980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74ACD236-1618-EAB8-B74B-B7954893DD5E}"/>
                </a:ext>
              </a:extLst>
            </p:cNvPr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1082675" y="0"/>
                  </a:moveTo>
                  <a:lnTo>
                    <a:pt x="1016721" y="882"/>
                  </a:lnTo>
                  <a:lnTo>
                    <a:pt x="951813" y="3495"/>
                  </a:lnTo>
                  <a:lnTo>
                    <a:pt x="888063" y="7788"/>
                  </a:lnTo>
                  <a:lnTo>
                    <a:pt x="825584" y="13710"/>
                  </a:lnTo>
                  <a:lnTo>
                    <a:pt x="764490" y="21212"/>
                  </a:lnTo>
                  <a:lnTo>
                    <a:pt x="704895" y="30242"/>
                  </a:lnTo>
                  <a:lnTo>
                    <a:pt x="646910" y="40750"/>
                  </a:lnTo>
                  <a:lnTo>
                    <a:pt x="590650" y="52685"/>
                  </a:lnTo>
                  <a:lnTo>
                    <a:pt x="536228" y="65997"/>
                  </a:lnTo>
                  <a:lnTo>
                    <a:pt x="483757" y="80635"/>
                  </a:lnTo>
                  <a:lnTo>
                    <a:pt x="433350" y="96549"/>
                  </a:lnTo>
                  <a:lnTo>
                    <a:pt x="385121" y="113688"/>
                  </a:lnTo>
                  <a:lnTo>
                    <a:pt x="339183" y="132001"/>
                  </a:lnTo>
                  <a:lnTo>
                    <a:pt x="295648" y="151438"/>
                  </a:lnTo>
                  <a:lnTo>
                    <a:pt x="254631" y="171949"/>
                  </a:lnTo>
                  <a:lnTo>
                    <a:pt x="216245" y="193482"/>
                  </a:lnTo>
                  <a:lnTo>
                    <a:pt x="180602" y="215988"/>
                  </a:lnTo>
                  <a:lnTo>
                    <a:pt x="147817" y="239415"/>
                  </a:lnTo>
                  <a:lnTo>
                    <a:pt x="118001" y="263714"/>
                  </a:lnTo>
                  <a:lnTo>
                    <a:pt x="67734" y="314722"/>
                  </a:lnTo>
                  <a:lnTo>
                    <a:pt x="30708" y="368607"/>
                  </a:lnTo>
                  <a:lnTo>
                    <a:pt x="7828" y="424966"/>
                  </a:lnTo>
                  <a:lnTo>
                    <a:pt x="0" y="483393"/>
                  </a:lnTo>
                  <a:lnTo>
                    <a:pt x="1975" y="512840"/>
                  </a:lnTo>
                  <a:lnTo>
                    <a:pt x="17443" y="570284"/>
                  </a:lnTo>
                  <a:lnTo>
                    <a:pt x="47510" y="625457"/>
                  </a:lnTo>
                  <a:lnTo>
                    <a:pt x="91269" y="677954"/>
                  </a:lnTo>
                  <a:lnTo>
                    <a:pt x="147817" y="727372"/>
                  </a:lnTo>
                  <a:lnTo>
                    <a:pt x="180602" y="750799"/>
                  </a:lnTo>
                  <a:lnTo>
                    <a:pt x="216245" y="773305"/>
                  </a:lnTo>
                  <a:lnTo>
                    <a:pt x="254631" y="794838"/>
                  </a:lnTo>
                  <a:lnTo>
                    <a:pt x="295648" y="815349"/>
                  </a:lnTo>
                  <a:lnTo>
                    <a:pt x="339183" y="834786"/>
                  </a:lnTo>
                  <a:lnTo>
                    <a:pt x="385121" y="853099"/>
                  </a:lnTo>
                  <a:lnTo>
                    <a:pt x="433350" y="870238"/>
                  </a:lnTo>
                  <a:lnTo>
                    <a:pt x="483757" y="886152"/>
                  </a:lnTo>
                  <a:lnTo>
                    <a:pt x="536228" y="900790"/>
                  </a:lnTo>
                  <a:lnTo>
                    <a:pt x="590650" y="914102"/>
                  </a:lnTo>
                  <a:lnTo>
                    <a:pt x="646910" y="926037"/>
                  </a:lnTo>
                  <a:lnTo>
                    <a:pt x="704895" y="936545"/>
                  </a:lnTo>
                  <a:lnTo>
                    <a:pt x="764490" y="945575"/>
                  </a:lnTo>
                  <a:lnTo>
                    <a:pt x="825584" y="953077"/>
                  </a:lnTo>
                  <a:lnTo>
                    <a:pt x="888063" y="958999"/>
                  </a:lnTo>
                  <a:lnTo>
                    <a:pt x="951813" y="963292"/>
                  </a:lnTo>
                  <a:lnTo>
                    <a:pt x="1016721" y="965905"/>
                  </a:lnTo>
                  <a:lnTo>
                    <a:pt x="1082675" y="966788"/>
                  </a:lnTo>
                  <a:lnTo>
                    <a:pt x="1148628" y="965905"/>
                  </a:lnTo>
                  <a:lnTo>
                    <a:pt x="1213537" y="963292"/>
                  </a:lnTo>
                  <a:lnTo>
                    <a:pt x="1277287" y="958999"/>
                  </a:lnTo>
                  <a:lnTo>
                    <a:pt x="1339765" y="953077"/>
                  </a:lnTo>
                  <a:lnTo>
                    <a:pt x="1400859" y="945575"/>
                  </a:lnTo>
                  <a:lnTo>
                    <a:pt x="1460455" y="936545"/>
                  </a:lnTo>
                  <a:lnTo>
                    <a:pt x="1518440" y="926037"/>
                  </a:lnTo>
                  <a:lnTo>
                    <a:pt x="1574700" y="914102"/>
                  </a:lnTo>
                  <a:lnTo>
                    <a:pt x="1629122" y="900790"/>
                  </a:lnTo>
                  <a:lnTo>
                    <a:pt x="1681593" y="886152"/>
                  </a:lnTo>
                  <a:lnTo>
                    <a:pt x="1732000" y="870238"/>
                  </a:lnTo>
                  <a:lnTo>
                    <a:pt x="1780229" y="853099"/>
                  </a:lnTo>
                  <a:lnTo>
                    <a:pt x="1826167" y="834786"/>
                  </a:lnTo>
                  <a:lnTo>
                    <a:pt x="1869702" y="815349"/>
                  </a:lnTo>
                  <a:lnTo>
                    <a:pt x="1910719" y="794838"/>
                  </a:lnTo>
                  <a:lnTo>
                    <a:pt x="1949105" y="773305"/>
                  </a:lnTo>
                  <a:lnTo>
                    <a:pt x="1984748" y="750799"/>
                  </a:lnTo>
                  <a:lnTo>
                    <a:pt x="2017534" y="727372"/>
                  </a:lnTo>
                  <a:lnTo>
                    <a:pt x="2047349" y="703073"/>
                  </a:lnTo>
                  <a:lnTo>
                    <a:pt x="2097616" y="652065"/>
                  </a:lnTo>
                  <a:lnTo>
                    <a:pt x="2134642" y="598180"/>
                  </a:lnTo>
                  <a:lnTo>
                    <a:pt x="2157523" y="541821"/>
                  </a:lnTo>
                  <a:lnTo>
                    <a:pt x="2165351" y="483393"/>
                  </a:lnTo>
                  <a:lnTo>
                    <a:pt x="2163375" y="453946"/>
                  </a:lnTo>
                  <a:lnTo>
                    <a:pt x="2147907" y="396503"/>
                  </a:lnTo>
                  <a:lnTo>
                    <a:pt x="2117841" y="341330"/>
                  </a:lnTo>
                  <a:lnTo>
                    <a:pt x="2074081" y="288833"/>
                  </a:lnTo>
                  <a:lnTo>
                    <a:pt x="2017534" y="239415"/>
                  </a:lnTo>
                  <a:lnTo>
                    <a:pt x="1984748" y="215988"/>
                  </a:lnTo>
                  <a:lnTo>
                    <a:pt x="1949105" y="193482"/>
                  </a:lnTo>
                  <a:lnTo>
                    <a:pt x="1910719" y="171949"/>
                  </a:lnTo>
                  <a:lnTo>
                    <a:pt x="1869702" y="151438"/>
                  </a:lnTo>
                  <a:lnTo>
                    <a:pt x="1826167" y="132001"/>
                  </a:lnTo>
                  <a:lnTo>
                    <a:pt x="1780229" y="113688"/>
                  </a:lnTo>
                  <a:lnTo>
                    <a:pt x="1732000" y="96549"/>
                  </a:lnTo>
                  <a:lnTo>
                    <a:pt x="1681593" y="80635"/>
                  </a:lnTo>
                  <a:lnTo>
                    <a:pt x="1629122" y="65997"/>
                  </a:lnTo>
                  <a:lnTo>
                    <a:pt x="1574700" y="52685"/>
                  </a:lnTo>
                  <a:lnTo>
                    <a:pt x="1518440" y="40750"/>
                  </a:lnTo>
                  <a:lnTo>
                    <a:pt x="1460455" y="30242"/>
                  </a:lnTo>
                  <a:lnTo>
                    <a:pt x="1400859" y="21212"/>
                  </a:lnTo>
                  <a:lnTo>
                    <a:pt x="1339765" y="13710"/>
                  </a:lnTo>
                  <a:lnTo>
                    <a:pt x="1277287" y="7788"/>
                  </a:lnTo>
                  <a:lnTo>
                    <a:pt x="1213537" y="3495"/>
                  </a:lnTo>
                  <a:lnTo>
                    <a:pt x="1148628" y="882"/>
                  </a:lnTo>
                  <a:lnTo>
                    <a:pt x="108267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A0E08538-A5ED-CE00-0677-91C3F8146CB0}"/>
                </a:ext>
              </a:extLst>
            </p:cNvPr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0" y="483394"/>
                  </a:moveTo>
                  <a:lnTo>
                    <a:pt x="7828" y="424966"/>
                  </a:lnTo>
                  <a:lnTo>
                    <a:pt x="30708" y="368607"/>
                  </a:lnTo>
                  <a:lnTo>
                    <a:pt x="67734" y="314722"/>
                  </a:lnTo>
                  <a:lnTo>
                    <a:pt x="118001" y="263714"/>
                  </a:lnTo>
                  <a:lnTo>
                    <a:pt x="147816" y="239415"/>
                  </a:lnTo>
                  <a:lnTo>
                    <a:pt x="180602" y="215988"/>
                  </a:lnTo>
                  <a:lnTo>
                    <a:pt x="216245" y="193482"/>
                  </a:lnTo>
                  <a:lnTo>
                    <a:pt x="254631" y="171949"/>
                  </a:lnTo>
                  <a:lnTo>
                    <a:pt x="295648" y="151438"/>
                  </a:lnTo>
                  <a:lnTo>
                    <a:pt x="339182" y="132001"/>
                  </a:lnTo>
                  <a:lnTo>
                    <a:pt x="385121" y="113688"/>
                  </a:lnTo>
                  <a:lnTo>
                    <a:pt x="433350" y="96549"/>
                  </a:lnTo>
                  <a:lnTo>
                    <a:pt x="483757" y="80635"/>
                  </a:lnTo>
                  <a:lnTo>
                    <a:pt x="536228" y="65997"/>
                  </a:lnTo>
                  <a:lnTo>
                    <a:pt x="590650" y="52685"/>
                  </a:lnTo>
                  <a:lnTo>
                    <a:pt x="646910" y="40750"/>
                  </a:lnTo>
                  <a:lnTo>
                    <a:pt x="704894" y="30242"/>
                  </a:lnTo>
                  <a:lnTo>
                    <a:pt x="764490" y="21212"/>
                  </a:lnTo>
                  <a:lnTo>
                    <a:pt x="825584" y="13710"/>
                  </a:lnTo>
                  <a:lnTo>
                    <a:pt x="888062" y="7788"/>
                  </a:lnTo>
                  <a:lnTo>
                    <a:pt x="951812" y="3495"/>
                  </a:lnTo>
                  <a:lnTo>
                    <a:pt x="1016721" y="882"/>
                  </a:lnTo>
                  <a:lnTo>
                    <a:pt x="1082675" y="0"/>
                  </a:lnTo>
                  <a:lnTo>
                    <a:pt x="1148628" y="882"/>
                  </a:lnTo>
                  <a:lnTo>
                    <a:pt x="1213537" y="3495"/>
                  </a:lnTo>
                  <a:lnTo>
                    <a:pt x="1277287" y="7788"/>
                  </a:lnTo>
                  <a:lnTo>
                    <a:pt x="1339765" y="13710"/>
                  </a:lnTo>
                  <a:lnTo>
                    <a:pt x="1400859" y="21212"/>
                  </a:lnTo>
                  <a:lnTo>
                    <a:pt x="1460455" y="30242"/>
                  </a:lnTo>
                  <a:lnTo>
                    <a:pt x="1518439" y="40750"/>
                  </a:lnTo>
                  <a:lnTo>
                    <a:pt x="1574699" y="52685"/>
                  </a:lnTo>
                  <a:lnTo>
                    <a:pt x="1629121" y="65997"/>
                  </a:lnTo>
                  <a:lnTo>
                    <a:pt x="1681592" y="80635"/>
                  </a:lnTo>
                  <a:lnTo>
                    <a:pt x="1731999" y="96549"/>
                  </a:lnTo>
                  <a:lnTo>
                    <a:pt x="1780228" y="113688"/>
                  </a:lnTo>
                  <a:lnTo>
                    <a:pt x="1826167" y="132001"/>
                  </a:lnTo>
                  <a:lnTo>
                    <a:pt x="1869701" y="151438"/>
                  </a:lnTo>
                  <a:lnTo>
                    <a:pt x="1910718" y="171949"/>
                  </a:lnTo>
                  <a:lnTo>
                    <a:pt x="1949104" y="193482"/>
                  </a:lnTo>
                  <a:lnTo>
                    <a:pt x="1984747" y="215988"/>
                  </a:lnTo>
                  <a:lnTo>
                    <a:pt x="2017533" y="239415"/>
                  </a:lnTo>
                  <a:lnTo>
                    <a:pt x="2047348" y="263714"/>
                  </a:lnTo>
                  <a:lnTo>
                    <a:pt x="2097615" y="314722"/>
                  </a:lnTo>
                  <a:lnTo>
                    <a:pt x="2134641" y="368607"/>
                  </a:lnTo>
                  <a:lnTo>
                    <a:pt x="2157521" y="424966"/>
                  </a:lnTo>
                  <a:lnTo>
                    <a:pt x="2165350" y="483394"/>
                  </a:lnTo>
                  <a:lnTo>
                    <a:pt x="2163374" y="512841"/>
                  </a:lnTo>
                  <a:lnTo>
                    <a:pt x="2147906" y="570284"/>
                  </a:lnTo>
                  <a:lnTo>
                    <a:pt x="2117840" y="625457"/>
                  </a:lnTo>
                  <a:lnTo>
                    <a:pt x="2074080" y="677954"/>
                  </a:lnTo>
                  <a:lnTo>
                    <a:pt x="2017533" y="727372"/>
                  </a:lnTo>
                  <a:lnTo>
                    <a:pt x="1984747" y="750799"/>
                  </a:lnTo>
                  <a:lnTo>
                    <a:pt x="1949104" y="773305"/>
                  </a:lnTo>
                  <a:lnTo>
                    <a:pt x="1910718" y="794838"/>
                  </a:lnTo>
                  <a:lnTo>
                    <a:pt x="1869701" y="815349"/>
                  </a:lnTo>
                  <a:lnTo>
                    <a:pt x="1826167" y="834786"/>
                  </a:lnTo>
                  <a:lnTo>
                    <a:pt x="1780228" y="853099"/>
                  </a:lnTo>
                  <a:lnTo>
                    <a:pt x="1731999" y="870238"/>
                  </a:lnTo>
                  <a:lnTo>
                    <a:pt x="1681592" y="886152"/>
                  </a:lnTo>
                  <a:lnTo>
                    <a:pt x="1629121" y="900790"/>
                  </a:lnTo>
                  <a:lnTo>
                    <a:pt x="1574699" y="914102"/>
                  </a:lnTo>
                  <a:lnTo>
                    <a:pt x="1518439" y="926037"/>
                  </a:lnTo>
                  <a:lnTo>
                    <a:pt x="1460455" y="936545"/>
                  </a:lnTo>
                  <a:lnTo>
                    <a:pt x="1400859" y="945575"/>
                  </a:lnTo>
                  <a:lnTo>
                    <a:pt x="1339765" y="953077"/>
                  </a:lnTo>
                  <a:lnTo>
                    <a:pt x="1277287" y="958999"/>
                  </a:lnTo>
                  <a:lnTo>
                    <a:pt x="1213537" y="963292"/>
                  </a:lnTo>
                  <a:lnTo>
                    <a:pt x="1148628" y="965905"/>
                  </a:lnTo>
                  <a:lnTo>
                    <a:pt x="1082675" y="966788"/>
                  </a:lnTo>
                  <a:lnTo>
                    <a:pt x="1016721" y="965905"/>
                  </a:lnTo>
                  <a:lnTo>
                    <a:pt x="951812" y="963292"/>
                  </a:lnTo>
                  <a:lnTo>
                    <a:pt x="888062" y="958999"/>
                  </a:lnTo>
                  <a:lnTo>
                    <a:pt x="825584" y="953077"/>
                  </a:lnTo>
                  <a:lnTo>
                    <a:pt x="764490" y="945575"/>
                  </a:lnTo>
                  <a:lnTo>
                    <a:pt x="704894" y="936545"/>
                  </a:lnTo>
                  <a:lnTo>
                    <a:pt x="646910" y="926037"/>
                  </a:lnTo>
                  <a:lnTo>
                    <a:pt x="590650" y="914102"/>
                  </a:lnTo>
                  <a:lnTo>
                    <a:pt x="536228" y="900790"/>
                  </a:lnTo>
                  <a:lnTo>
                    <a:pt x="483757" y="886152"/>
                  </a:lnTo>
                  <a:lnTo>
                    <a:pt x="433350" y="870238"/>
                  </a:lnTo>
                  <a:lnTo>
                    <a:pt x="385121" y="853099"/>
                  </a:lnTo>
                  <a:lnTo>
                    <a:pt x="339182" y="834786"/>
                  </a:lnTo>
                  <a:lnTo>
                    <a:pt x="295648" y="815349"/>
                  </a:lnTo>
                  <a:lnTo>
                    <a:pt x="254631" y="794838"/>
                  </a:lnTo>
                  <a:lnTo>
                    <a:pt x="216245" y="773305"/>
                  </a:lnTo>
                  <a:lnTo>
                    <a:pt x="180602" y="750799"/>
                  </a:lnTo>
                  <a:lnTo>
                    <a:pt x="147816" y="727372"/>
                  </a:lnTo>
                  <a:lnTo>
                    <a:pt x="118001" y="703073"/>
                  </a:lnTo>
                  <a:lnTo>
                    <a:pt x="67734" y="652065"/>
                  </a:lnTo>
                  <a:lnTo>
                    <a:pt x="30708" y="598180"/>
                  </a:lnTo>
                  <a:lnTo>
                    <a:pt x="7828" y="541821"/>
                  </a:lnTo>
                  <a:lnTo>
                    <a:pt x="0" y="4833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7">
            <a:extLst>
              <a:ext uri="{FF2B5EF4-FFF2-40B4-BE49-F238E27FC236}">
                <a16:creationId xmlns:a16="http://schemas.microsoft.com/office/drawing/2014/main" id="{F8FF902B-915B-BC86-3A8C-353806155EF2}"/>
              </a:ext>
            </a:extLst>
          </p:cNvPr>
          <p:cNvSpPr txBox="1"/>
          <p:nvPr/>
        </p:nvSpPr>
        <p:spPr>
          <a:xfrm>
            <a:off x="5018977" y="4278879"/>
            <a:ext cx="130619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10" dirty="0">
                <a:latin typeface="Calibri"/>
                <a:cs typeface="Calibri"/>
              </a:rPr>
              <a:t>Environment/ Experience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45BB86B6-7FE9-D24B-7994-D058D02F8977}"/>
              </a:ext>
            </a:extLst>
          </p:cNvPr>
          <p:cNvGrpSpPr/>
          <p:nvPr/>
        </p:nvGrpSpPr>
        <p:grpSpPr>
          <a:xfrm>
            <a:off x="8083731" y="3561806"/>
            <a:ext cx="2171700" cy="609600"/>
            <a:chOff x="5105400" y="4305300"/>
            <a:chExt cx="2171700" cy="6096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C12D4E06-C341-5A57-0A12-921EF715A2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0" y="4305300"/>
              <a:ext cx="2133600" cy="546100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25FAC284-174F-935E-F133-512577379B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305300"/>
              <a:ext cx="1117600" cy="609600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C1273EA7-AF58-B927-D7A4-3B94FA50A4F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3350" y="4349750"/>
              <a:ext cx="1993900" cy="409575"/>
            </a:xfrm>
            <a:prstGeom prst="rect">
              <a:avLst/>
            </a:prstGeom>
          </p:spPr>
        </p:pic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F473D44D-F70B-2C29-C74B-DA44115B3625}"/>
              </a:ext>
            </a:extLst>
          </p:cNvPr>
          <p:cNvSpPr txBox="1"/>
          <p:nvPr/>
        </p:nvSpPr>
        <p:spPr>
          <a:xfrm>
            <a:off x="8191681" y="3606256"/>
            <a:ext cx="1993900" cy="4095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alibri"/>
                <a:cs typeface="Calibri"/>
              </a:rPr>
              <a:t>Learner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FD902416-DA39-F556-DFF0-423B89DC6FA1}"/>
              </a:ext>
            </a:extLst>
          </p:cNvPr>
          <p:cNvGrpSpPr/>
          <p:nvPr/>
        </p:nvGrpSpPr>
        <p:grpSpPr>
          <a:xfrm>
            <a:off x="6782567" y="3779293"/>
            <a:ext cx="3352800" cy="1122680"/>
            <a:chOff x="3804236" y="4522787"/>
            <a:chExt cx="3352800" cy="1122680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88C43A22-8226-8EEA-3F89-7B71F08E975F}"/>
                </a:ext>
              </a:extLst>
            </p:cNvPr>
            <p:cNvSpPr/>
            <p:nvPr/>
          </p:nvSpPr>
          <p:spPr>
            <a:xfrm>
              <a:off x="3804236" y="4522787"/>
              <a:ext cx="1341120" cy="812800"/>
            </a:xfrm>
            <a:custGeom>
              <a:avLst/>
              <a:gdLst/>
              <a:ahLst/>
              <a:cxnLst/>
              <a:rect l="l" t="t" r="r" b="b"/>
              <a:pathLst>
                <a:path w="1341120" h="812800">
                  <a:moveTo>
                    <a:pt x="1340850" y="0"/>
                  </a:moveTo>
                  <a:lnTo>
                    <a:pt x="1245289" y="7350"/>
                  </a:lnTo>
                  <a:lnTo>
                    <a:pt x="1259992" y="31854"/>
                  </a:lnTo>
                  <a:lnTo>
                    <a:pt x="0" y="787849"/>
                  </a:lnTo>
                  <a:lnTo>
                    <a:pt x="14701" y="812351"/>
                  </a:lnTo>
                  <a:lnTo>
                    <a:pt x="1274693" y="56357"/>
                  </a:lnTo>
                  <a:lnTo>
                    <a:pt x="1289395" y="80859"/>
                  </a:lnTo>
                  <a:lnTo>
                    <a:pt x="1340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8F2A58B7-8B81-C9A9-D2D7-2BC90D41FD91}"/>
                </a:ext>
              </a:extLst>
            </p:cNvPr>
            <p:cNvSpPr/>
            <p:nvPr/>
          </p:nvSpPr>
          <p:spPr>
            <a:xfrm>
              <a:off x="5299075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925512" y="0"/>
                  </a:moveTo>
                  <a:lnTo>
                    <a:pt x="853184" y="807"/>
                  </a:lnTo>
                  <a:lnTo>
                    <a:pt x="782378" y="3188"/>
                  </a:lnTo>
                  <a:lnTo>
                    <a:pt x="713300" y="7085"/>
                  </a:lnTo>
                  <a:lnTo>
                    <a:pt x="646157" y="12437"/>
                  </a:lnTo>
                  <a:lnTo>
                    <a:pt x="581153" y="19185"/>
                  </a:lnTo>
                  <a:lnTo>
                    <a:pt x="518495" y="27269"/>
                  </a:lnTo>
                  <a:lnTo>
                    <a:pt x="458388" y="36629"/>
                  </a:lnTo>
                  <a:lnTo>
                    <a:pt x="401038" y="47205"/>
                  </a:lnTo>
                  <a:lnTo>
                    <a:pt x="346651" y="58939"/>
                  </a:lnTo>
                  <a:lnTo>
                    <a:pt x="295432" y="71771"/>
                  </a:lnTo>
                  <a:lnTo>
                    <a:pt x="247588" y="85640"/>
                  </a:lnTo>
                  <a:lnTo>
                    <a:pt x="203324" y="100487"/>
                  </a:lnTo>
                  <a:lnTo>
                    <a:pt x="162846" y="116253"/>
                  </a:lnTo>
                  <a:lnTo>
                    <a:pt x="126359" y="132877"/>
                  </a:lnTo>
                  <a:lnTo>
                    <a:pt x="66183" y="168464"/>
                  </a:lnTo>
                  <a:lnTo>
                    <a:pt x="24443" y="206771"/>
                  </a:lnTo>
                  <a:lnTo>
                    <a:pt x="2784" y="247321"/>
                  </a:lnTo>
                  <a:lnTo>
                    <a:pt x="0" y="268287"/>
                  </a:lnTo>
                  <a:lnTo>
                    <a:pt x="2784" y="289253"/>
                  </a:lnTo>
                  <a:lnTo>
                    <a:pt x="24443" y="329803"/>
                  </a:lnTo>
                  <a:lnTo>
                    <a:pt x="66183" y="368110"/>
                  </a:lnTo>
                  <a:lnTo>
                    <a:pt x="126359" y="403697"/>
                  </a:lnTo>
                  <a:lnTo>
                    <a:pt x="162846" y="420321"/>
                  </a:lnTo>
                  <a:lnTo>
                    <a:pt x="203324" y="436087"/>
                  </a:lnTo>
                  <a:lnTo>
                    <a:pt x="247588" y="450934"/>
                  </a:lnTo>
                  <a:lnTo>
                    <a:pt x="295432" y="464803"/>
                  </a:lnTo>
                  <a:lnTo>
                    <a:pt x="346651" y="477635"/>
                  </a:lnTo>
                  <a:lnTo>
                    <a:pt x="401038" y="489369"/>
                  </a:lnTo>
                  <a:lnTo>
                    <a:pt x="458388" y="499945"/>
                  </a:lnTo>
                  <a:lnTo>
                    <a:pt x="518495" y="509305"/>
                  </a:lnTo>
                  <a:lnTo>
                    <a:pt x="581153" y="517389"/>
                  </a:lnTo>
                  <a:lnTo>
                    <a:pt x="646157" y="524137"/>
                  </a:lnTo>
                  <a:lnTo>
                    <a:pt x="713300" y="529489"/>
                  </a:lnTo>
                  <a:lnTo>
                    <a:pt x="782378" y="533386"/>
                  </a:lnTo>
                  <a:lnTo>
                    <a:pt x="853184" y="535767"/>
                  </a:lnTo>
                  <a:lnTo>
                    <a:pt x="925512" y="536575"/>
                  </a:lnTo>
                  <a:lnTo>
                    <a:pt x="997840" y="535767"/>
                  </a:lnTo>
                  <a:lnTo>
                    <a:pt x="1068646" y="533386"/>
                  </a:lnTo>
                  <a:lnTo>
                    <a:pt x="1137724" y="529489"/>
                  </a:lnTo>
                  <a:lnTo>
                    <a:pt x="1204867" y="524137"/>
                  </a:lnTo>
                  <a:lnTo>
                    <a:pt x="1269871" y="517389"/>
                  </a:lnTo>
                  <a:lnTo>
                    <a:pt x="1332529" y="509305"/>
                  </a:lnTo>
                  <a:lnTo>
                    <a:pt x="1392636" y="499945"/>
                  </a:lnTo>
                  <a:lnTo>
                    <a:pt x="1449986" y="489369"/>
                  </a:lnTo>
                  <a:lnTo>
                    <a:pt x="1504373" y="477635"/>
                  </a:lnTo>
                  <a:lnTo>
                    <a:pt x="1555592" y="464803"/>
                  </a:lnTo>
                  <a:lnTo>
                    <a:pt x="1603436" y="450934"/>
                  </a:lnTo>
                  <a:lnTo>
                    <a:pt x="1647700" y="436087"/>
                  </a:lnTo>
                  <a:lnTo>
                    <a:pt x="1688178" y="420321"/>
                  </a:lnTo>
                  <a:lnTo>
                    <a:pt x="1724665" y="403697"/>
                  </a:lnTo>
                  <a:lnTo>
                    <a:pt x="1784841" y="368110"/>
                  </a:lnTo>
                  <a:lnTo>
                    <a:pt x="1826581" y="329803"/>
                  </a:lnTo>
                  <a:lnTo>
                    <a:pt x="1848240" y="289253"/>
                  </a:lnTo>
                  <a:lnTo>
                    <a:pt x="1851025" y="268287"/>
                  </a:lnTo>
                  <a:lnTo>
                    <a:pt x="1848240" y="247321"/>
                  </a:lnTo>
                  <a:lnTo>
                    <a:pt x="1826581" y="206771"/>
                  </a:lnTo>
                  <a:lnTo>
                    <a:pt x="1784841" y="168464"/>
                  </a:lnTo>
                  <a:lnTo>
                    <a:pt x="1724665" y="132877"/>
                  </a:lnTo>
                  <a:lnTo>
                    <a:pt x="1688178" y="116253"/>
                  </a:lnTo>
                  <a:lnTo>
                    <a:pt x="1647700" y="100487"/>
                  </a:lnTo>
                  <a:lnTo>
                    <a:pt x="1603436" y="85640"/>
                  </a:lnTo>
                  <a:lnTo>
                    <a:pt x="1555592" y="71771"/>
                  </a:lnTo>
                  <a:lnTo>
                    <a:pt x="1504373" y="58939"/>
                  </a:lnTo>
                  <a:lnTo>
                    <a:pt x="1449986" y="47205"/>
                  </a:lnTo>
                  <a:lnTo>
                    <a:pt x="1392636" y="36629"/>
                  </a:lnTo>
                  <a:lnTo>
                    <a:pt x="1332529" y="27269"/>
                  </a:lnTo>
                  <a:lnTo>
                    <a:pt x="1269871" y="19185"/>
                  </a:lnTo>
                  <a:lnTo>
                    <a:pt x="1204867" y="12437"/>
                  </a:lnTo>
                  <a:lnTo>
                    <a:pt x="1137724" y="7085"/>
                  </a:lnTo>
                  <a:lnTo>
                    <a:pt x="1068646" y="3188"/>
                  </a:lnTo>
                  <a:lnTo>
                    <a:pt x="997840" y="807"/>
                  </a:lnTo>
                  <a:lnTo>
                    <a:pt x="9255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7AE05CBC-4BEC-4D1A-82DB-E80330C2CC7E}"/>
                </a:ext>
              </a:extLst>
            </p:cNvPr>
            <p:cNvSpPr/>
            <p:nvPr/>
          </p:nvSpPr>
          <p:spPr>
            <a:xfrm>
              <a:off x="5299075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0" y="268287"/>
                  </a:moveTo>
                  <a:lnTo>
                    <a:pt x="11000" y="226795"/>
                  </a:lnTo>
                  <a:lnTo>
                    <a:pt x="42906" y="187308"/>
                  </a:lnTo>
                  <a:lnTo>
                    <a:pt x="94070" y="150301"/>
                  </a:lnTo>
                  <a:lnTo>
                    <a:pt x="162846" y="116253"/>
                  </a:lnTo>
                  <a:lnTo>
                    <a:pt x="203324" y="100487"/>
                  </a:lnTo>
                  <a:lnTo>
                    <a:pt x="247588" y="85640"/>
                  </a:lnTo>
                  <a:lnTo>
                    <a:pt x="295433" y="71771"/>
                  </a:lnTo>
                  <a:lnTo>
                    <a:pt x="346651" y="58939"/>
                  </a:lnTo>
                  <a:lnTo>
                    <a:pt x="401038" y="47205"/>
                  </a:lnTo>
                  <a:lnTo>
                    <a:pt x="458388" y="36629"/>
                  </a:lnTo>
                  <a:lnTo>
                    <a:pt x="518495" y="27269"/>
                  </a:lnTo>
                  <a:lnTo>
                    <a:pt x="581153" y="19185"/>
                  </a:lnTo>
                  <a:lnTo>
                    <a:pt x="646157" y="12437"/>
                  </a:lnTo>
                  <a:lnTo>
                    <a:pt x="713300" y="7085"/>
                  </a:lnTo>
                  <a:lnTo>
                    <a:pt x="782378" y="3188"/>
                  </a:lnTo>
                  <a:lnTo>
                    <a:pt x="853184" y="807"/>
                  </a:lnTo>
                  <a:lnTo>
                    <a:pt x="925512" y="0"/>
                  </a:lnTo>
                  <a:lnTo>
                    <a:pt x="997840" y="807"/>
                  </a:lnTo>
                  <a:lnTo>
                    <a:pt x="1068646" y="3188"/>
                  </a:lnTo>
                  <a:lnTo>
                    <a:pt x="1137724" y="7085"/>
                  </a:lnTo>
                  <a:lnTo>
                    <a:pt x="1204867" y="12437"/>
                  </a:lnTo>
                  <a:lnTo>
                    <a:pt x="1269871" y="19185"/>
                  </a:lnTo>
                  <a:lnTo>
                    <a:pt x="1332529" y="27269"/>
                  </a:lnTo>
                  <a:lnTo>
                    <a:pt x="1392636" y="36629"/>
                  </a:lnTo>
                  <a:lnTo>
                    <a:pt x="1449986" y="47205"/>
                  </a:lnTo>
                  <a:lnTo>
                    <a:pt x="1504373" y="58939"/>
                  </a:lnTo>
                  <a:lnTo>
                    <a:pt x="1555591" y="71771"/>
                  </a:lnTo>
                  <a:lnTo>
                    <a:pt x="1603436" y="85640"/>
                  </a:lnTo>
                  <a:lnTo>
                    <a:pt x="1647700" y="100487"/>
                  </a:lnTo>
                  <a:lnTo>
                    <a:pt x="1688178" y="116253"/>
                  </a:lnTo>
                  <a:lnTo>
                    <a:pt x="1724665" y="132877"/>
                  </a:lnTo>
                  <a:lnTo>
                    <a:pt x="1784841" y="168464"/>
                  </a:lnTo>
                  <a:lnTo>
                    <a:pt x="1826581" y="206771"/>
                  </a:lnTo>
                  <a:lnTo>
                    <a:pt x="1848240" y="247320"/>
                  </a:lnTo>
                  <a:lnTo>
                    <a:pt x="1851025" y="268287"/>
                  </a:lnTo>
                  <a:lnTo>
                    <a:pt x="1848240" y="289254"/>
                  </a:lnTo>
                  <a:lnTo>
                    <a:pt x="1826581" y="329803"/>
                  </a:lnTo>
                  <a:lnTo>
                    <a:pt x="1784841" y="368110"/>
                  </a:lnTo>
                  <a:lnTo>
                    <a:pt x="1724665" y="403697"/>
                  </a:lnTo>
                  <a:lnTo>
                    <a:pt x="1688178" y="420321"/>
                  </a:lnTo>
                  <a:lnTo>
                    <a:pt x="1647700" y="436087"/>
                  </a:lnTo>
                  <a:lnTo>
                    <a:pt x="1603436" y="450934"/>
                  </a:lnTo>
                  <a:lnTo>
                    <a:pt x="1555591" y="464803"/>
                  </a:lnTo>
                  <a:lnTo>
                    <a:pt x="1504373" y="477635"/>
                  </a:lnTo>
                  <a:lnTo>
                    <a:pt x="1449986" y="489369"/>
                  </a:lnTo>
                  <a:lnTo>
                    <a:pt x="1392636" y="499945"/>
                  </a:lnTo>
                  <a:lnTo>
                    <a:pt x="1332529" y="509305"/>
                  </a:lnTo>
                  <a:lnTo>
                    <a:pt x="1269871" y="517389"/>
                  </a:lnTo>
                  <a:lnTo>
                    <a:pt x="1204867" y="524137"/>
                  </a:lnTo>
                  <a:lnTo>
                    <a:pt x="1137724" y="529489"/>
                  </a:lnTo>
                  <a:lnTo>
                    <a:pt x="1068646" y="533386"/>
                  </a:lnTo>
                  <a:lnTo>
                    <a:pt x="997840" y="535767"/>
                  </a:lnTo>
                  <a:lnTo>
                    <a:pt x="925512" y="536575"/>
                  </a:lnTo>
                  <a:lnTo>
                    <a:pt x="853184" y="535767"/>
                  </a:lnTo>
                  <a:lnTo>
                    <a:pt x="782378" y="533386"/>
                  </a:lnTo>
                  <a:lnTo>
                    <a:pt x="713300" y="529489"/>
                  </a:lnTo>
                  <a:lnTo>
                    <a:pt x="646157" y="524137"/>
                  </a:lnTo>
                  <a:lnTo>
                    <a:pt x="581153" y="517389"/>
                  </a:lnTo>
                  <a:lnTo>
                    <a:pt x="518495" y="509305"/>
                  </a:lnTo>
                  <a:lnTo>
                    <a:pt x="458388" y="499945"/>
                  </a:lnTo>
                  <a:lnTo>
                    <a:pt x="401038" y="489369"/>
                  </a:lnTo>
                  <a:lnTo>
                    <a:pt x="346651" y="477635"/>
                  </a:lnTo>
                  <a:lnTo>
                    <a:pt x="295433" y="464803"/>
                  </a:lnTo>
                  <a:lnTo>
                    <a:pt x="247588" y="450934"/>
                  </a:lnTo>
                  <a:lnTo>
                    <a:pt x="203324" y="436087"/>
                  </a:lnTo>
                  <a:lnTo>
                    <a:pt x="162846" y="420321"/>
                  </a:lnTo>
                  <a:lnTo>
                    <a:pt x="126359" y="403697"/>
                  </a:lnTo>
                  <a:lnTo>
                    <a:pt x="66183" y="368110"/>
                  </a:lnTo>
                  <a:lnTo>
                    <a:pt x="24443" y="329803"/>
                  </a:lnTo>
                  <a:lnTo>
                    <a:pt x="2784" y="289254"/>
                  </a:lnTo>
                  <a:lnTo>
                    <a:pt x="0" y="2682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7">
            <a:extLst>
              <a:ext uri="{FF2B5EF4-FFF2-40B4-BE49-F238E27FC236}">
                <a16:creationId xmlns:a16="http://schemas.microsoft.com/office/drawing/2014/main" id="{43C07402-D2D0-26F1-5BA2-E187861F3F6E}"/>
              </a:ext>
            </a:extLst>
          </p:cNvPr>
          <p:cNvSpPr txBox="1"/>
          <p:nvPr/>
        </p:nvSpPr>
        <p:spPr>
          <a:xfrm>
            <a:off x="8625782" y="4464458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Knowledge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18">
            <a:extLst>
              <a:ext uri="{FF2B5EF4-FFF2-40B4-BE49-F238E27FC236}">
                <a16:creationId xmlns:a16="http://schemas.microsoft.com/office/drawing/2014/main" id="{F9B4E23E-B5B4-42A4-2823-92F4B5402711}"/>
              </a:ext>
            </a:extLst>
          </p:cNvPr>
          <p:cNvGrpSpPr/>
          <p:nvPr/>
        </p:nvGrpSpPr>
        <p:grpSpPr>
          <a:xfrm>
            <a:off x="8083731" y="5174706"/>
            <a:ext cx="2171700" cy="901700"/>
            <a:chOff x="5105400" y="5918200"/>
            <a:chExt cx="2171700" cy="901700"/>
          </a:xfrm>
        </p:grpSpPr>
        <p:pic>
          <p:nvPicPr>
            <p:cNvPr id="22" name="object 19">
              <a:extLst>
                <a:ext uri="{FF2B5EF4-FFF2-40B4-BE49-F238E27FC236}">
                  <a16:creationId xmlns:a16="http://schemas.microsoft.com/office/drawing/2014/main" id="{6BDE8377-52A9-4422-752A-F17A25349A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200" y="5918200"/>
              <a:ext cx="2120900" cy="863600"/>
            </a:xfrm>
            <a:prstGeom prst="rect">
              <a:avLst/>
            </a:prstGeom>
          </p:spPr>
        </p:pic>
        <p:pic>
          <p:nvPicPr>
            <p:cNvPr id="23" name="object 20">
              <a:extLst>
                <a:ext uri="{FF2B5EF4-FFF2-40B4-BE49-F238E27FC236}">
                  <a16:creationId xmlns:a16="http://schemas.microsoft.com/office/drawing/2014/main" id="{BCDA24F8-10D6-CFA2-869A-A1D377EC03C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5400" y="5943600"/>
              <a:ext cx="1600200" cy="876300"/>
            </a:xfrm>
            <a:prstGeom prst="rect">
              <a:avLst/>
            </a:prstGeom>
          </p:spPr>
        </p:pic>
        <p:pic>
          <p:nvPicPr>
            <p:cNvPr id="24" name="object 21">
              <a:extLst>
                <a:ext uri="{FF2B5EF4-FFF2-40B4-BE49-F238E27FC236}">
                  <a16:creationId xmlns:a16="http://schemas.microsoft.com/office/drawing/2014/main" id="{E26FACCD-11AF-74F4-EC5D-49C19E3EA3B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9700" y="5972175"/>
              <a:ext cx="1993900" cy="714375"/>
            </a:xfrm>
            <a:prstGeom prst="rect">
              <a:avLst/>
            </a:prstGeom>
          </p:spPr>
        </p:pic>
      </p:grpSp>
      <p:sp>
        <p:nvSpPr>
          <p:cNvPr id="25" name="object 22">
            <a:extLst>
              <a:ext uri="{FF2B5EF4-FFF2-40B4-BE49-F238E27FC236}">
                <a16:creationId xmlns:a16="http://schemas.microsoft.com/office/drawing/2014/main" id="{E178CB4F-456E-9148-3E95-EDEDE6E23151}"/>
              </a:ext>
            </a:extLst>
          </p:cNvPr>
          <p:cNvSpPr txBox="1"/>
          <p:nvPr/>
        </p:nvSpPr>
        <p:spPr>
          <a:xfrm>
            <a:off x="8198031" y="5228681"/>
            <a:ext cx="1993900" cy="7143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9535" marR="700405">
              <a:lnSpc>
                <a:spcPts val="2100"/>
              </a:lnSpc>
              <a:spcBef>
                <a:spcPts val="670"/>
              </a:spcBef>
            </a:pPr>
            <a:r>
              <a:rPr sz="1800" spc="-10" dirty="0">
                <a:latin typeface="Calibri"/>
                <a:cs typeface="Calibri"/>
              </a:rPr>
              <a:t>Performance Element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17D8F8C3-3B27-FB34-3185-6E770D222373}"/>
              </a:ext>
            </a:extLst>
          </p:cNvPr>
          <p:cNvSpPr/>
          <p:nvPr/>
        </p:nvSpPr>
        <p:spPr>
          <a:xfrm>
            <a:off x="6781600" y="4015246"/>
            <a:ext cx="2460625" cy="1570990"/>
          </a:xfrm>
          <a:custGeom>
            <a:avLst/>
            <a:gdLst/>
            <a:ahLst/>
            <a:cxnLst/>
            <a:rect l="l" t="t" r="r" b="b"/>
            <a:pathLst>
              <a:path w="2460625" h="1570989">
                <a:moveTo>
                  <a:pt x="1416431" y="1570634"/>
                </a:moveTo>
                <a:lnTo>
                  <a:pt x="1371612" y="1485912"/>
                </a:lnTo>
                <a:lnTo>
                  <a:pt x="1354988" y="1509153"/>
                </a:lnTo>
                <a:lnTo>
                  <a:pt x="16624" y="552526"/>
                </a:lnTo>
                <a:lnTo>
                  <a:pt x="0" y="575779"/>
                </a:lnTo>
                <a:lnTo>
                  <a:pt x="1338376" y="1532407"/>
                </a:lnTo>
                <a:lnTo>
                  <a:pt x="1321765" y="1555648"/>
                </a:lnTo>
                <a:lnTo>
                  <a:pt x="1416431" y="1570634"/>
                </a:lnTo>
                <a:close/>
              </a:path>
              <a:path w="2460625" h="1570989">
                <a:moveTo>
                  <a:pt x="2458262" y="1128763"/>
                </a:moveTo>
                <a:lnTo>
                  <a:pt x="2429700" y="1128077"/>
                </a:lnTo>
                <a:lnTo>
                  <a:pt x="2435593" y="880402"/>
                </a:lnTo>
                <a:lnTo>
                  <a:pt x="2407031" y="879729"/>
                </a:lnTo>
                <a:lnTo>
                  <a:pt x="2401138" y="1127404"/>
                </a:lnTo>
                <a:lnTo>
                  <a:pt x="2372563" y="1126718"/>
                </a:lnTo>
                <a:lnTo>
                  <a:pt x="2413381" y="1213434"/>
                </a:lnTo>
                <a:lnTo>
                  <a:pt x="2458262" y="1128763"/>
                </a:lnTo>
                <a:close/>
              </a:path>
              <a:path w="2460625" h="1570989">
                <a:moveTo>
                  <a:pt x="2460574" y="256057"/>
                </a:moveTo>
                <a:lnTo>
                  <a:pt x="2432024" y="257238"/>
                </a:lnTo>
                <a:lnTo>
                  <a:pt x="2421305" y="0"/>
                </a:lnTo>
                <a:lnTo>
                  <a:pt x="2392756" y="1181"/>
                </a:lnTo>
                <a:lnTo>
                  <a:pt x="2403475" y="258432"/>
                </a:lnTo>
                <a:lnTo>
                  <a:pt x="2374912" y="259626"/>
                </a:lnTo>
                <a:lnTo>
                  <a:pt x="2421318" y="343484"/>
                </a:lnTo>
                <a:lnTo>
                  <a:pt x="2460574" y="2560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305B8E24-8D78-D80C-ED43-415D71815C0D}"/>
              </a:ext>
            </a:extLst>
          </p:cNvPr>
          <p:cNvSpPr txBox="1"/>
          <p:nvPr/>
        </p:nvSpPr>
        <p:spPr>
          <a:xfrm>
            <a:off x="6562271" y="3679518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62D767E6-AD70-6230-ECB8-D751B04D0167}"/>
              </a:ext>
            </a:extLst>
          </p:cNvPr>
          <p:cNvSpPr txBox="1"/>
          <p:nvPr/>
        </p:nvSpPr>
        <p:spPr>
          <a:xfrm>
            <a:off x="6539432" y="5132638"/>
            <a:ext cx="113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Testing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4">
            <a:extLst>
              <a:ext uri="{FF2B5EF4-FFF2-40B4-BE49-F238E27FC236}">
                <a16:creationId xmlns:a16="http://schemas.microsoft.com/office/drawing/2014/main" id="{639BC581-4830-462F-AA01-E331F26619E6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Based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slide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Ray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Mooney</a:t>
            </a:r>
            <a:endParaRPr sz="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6796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C240-BEB6-153C-DD3E-7B52FC69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35" dirty="0">
                <a:latin typeface="Calibri"/>
                <a:cs typeface="Calibri"/>
              </a:rPr>
              <a:t>Training</a:t>
            </a:r>
            <a:r>
              <a:rPr lang="en-US" spc="-1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vs.</a:t>
            </a:r>
            <a:r>
              <a:rPr lang="en-US" spc="-135" dirty="0">
                <a:latin typeface="Calibri"/>
                <a:cs typeface="Calibri"/>
              </a:rPr>
              <a:t> </a:t>
            </a:r>
            <a:r>
              <a:rPr lang="en-US" spc="-80" dirty="0">
                <a:latin typeface="Calibri"/>
                <a:cs typeface="Calibri"/>
              </a:rPr>
              <a:t>Test</a:t>
            </a:r>
            <a:r>
              <a:rPr lang="en-US" spc="-1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70C4E-8F31-A7D5-142B-143FD309D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55650" marR="5080" indent="-285750">
              <a:lnSpc>
                <a:spcPct val="101200"/>
              </a:lnSpc>
              <a:spcBef>
                <a:spcPts val="620"/>
              </a:spcBef>
            </a:pPr>
            <a:r>
              <a:rPr lang="en-US" sz="1800" spc="-10" dirty="0">
                <a:latin typeface="Calibri"/>
                <a:cs typeface="Calibri"/>
              </a:rPr>
              <a:t>We generally assume that the training and test examples are independently drawn from the same overall distribution of data</a:t>
            </a:r>
          </a:p>
          <a:p>
            <a:pPr marL="1258570" marR="5080" lvl="1" indent="-285750">
              <a:lnSpc>
                <a:spcPct val="101200"/>
              </a:lnSpc>
              <a:spcBef>
                <a:spcPts val="620"/>
              </a:spcBef>
            </a:pPr>
            <a:r>
              <a:rPr lang="en-US" sz="1600" spc="-10" dirty="0">
                <a:latin typeface="Calibri"/>
                <a:cs typeface="Calibri"/>
              </a:rPr>
              <a:t>We call this “</a:t>
            </a:r>
            <a:r>
              <a:rPr lang="en-US" sz="1600" spc="-10" dirty="0" err="1">
                <a:latin typeface="Calibri"/>
                <a:cs typeface="Calibri"/>
              </a:rPr>
              <a:t>i.i.d</a:t>
            </a:r>
            <a:r>
              <a:rPr lang="en-US" sz="1600" spc="-10" dirty="0">
                <a:latin typeface="Calibri"/>
                <a:cs typeface="Calibri"/>
              </a:rPr>
              <a:t>” which stands for “independent and identically distributed”</a:t>
            </a:r>
          </a:p>
          <a:p>
            <a:pPr marL="755650" marR="5080" indent="-285750">
              <a:lnSpc>
                <a:spcPct val="101200"/>
              </a:lnSpc>
              <a:spcBef>
                <a:spcPts val="620"/>
              </a:spcBef>
            </a:pPr>
            <a:endParaRPr lang="en-US" sz="1800" spc="-10" dirty="0">
              <a:latin typeface="Calibri"/>
              <a:cs typeface="Calibri"/>
            </a:endParaRPr>
          </a:p>
          <a:p>
            <a:pPr marL="755650" marR="5080" indent="-285750">
              <a:lnSpc>
                <a:spcPct val="101200"/>
              </a:lnSpc>
              <a:spcBef>
                <a:spcPts val="620"/>
              </a:spcBef>
            </a:pPr>
            <a:r>
              <a:rPr lang="en-US" sz="1800" spc="-10" dirty="0">
                <a:latin typeface="Calibri"/>
                <a:cs typeface="Calibri"/>
              </a:rPr>
              <a:t>If examples are not independent, requires </a:t>
            </a:r>
            <a:r>
              <a:rPr lang="en-US" sz="1800" spc="-10" dirty="0">
                <a:solidFill>
                  <a:srgbClr val="FF0000"/>
                </a:solidFill>
                <a:latin typeface="Calibri"/>
                <a:cs typeface="Calibri"/>
              </a:rPr>
              <a:t>collective classification</a:t>
            </a:r>
          </a:p>
          <a:p>
            <a:pPr marL="755650" marR="5080" indent="-285750">
              <a:lnSpc>
                <a:spcPct val="101200"/>
              </a:lnSpc>
              <a:spcBef>
                <a:spcPts val="620"/>
              </a:spcBef>
            </a:pPr>
            <a:r>
              <a:rPr lang="en-US" sz="1800" spc="-10" dirty="0">
                <a:latin typeface="Calibri"/>
                <a:cs typeface="Calibri"/>
              </a:rPr>
              <a:t>If test distribution is different, requires </a:t>
            </a:r>
            <a:r>
              <a:rPr lang="en-US" sz="1800" spc="-10" dirty="0">
                <a:solidFill>
                  <a:srgbClr val="FF0000"/>
                </a:solidFill>
                <a:latin typeface="Calibri"/>
                <a:cs typeface="Calibri"/>
              </a:rPr>
              <a:t>transfer learning</a:t>
            </a:r>
            <a:endParaRPr lang="en-US" sz="1800" spc="-1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D7FEB-015C-1887-3D42-AB4037900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384E0-51CF-14BB-BC38-060D5BE5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34AAD-E04D-0CD7-29FE-8C11CCCC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DAFFA4C0-B6BB-D03C-33AB-D7C37D50CEAE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734328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A168-EA3F-9973-B14F-B5F85ECB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Learning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8419-78FF-6100-7F6E-C1EE8F215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4C72F-F748-23F5-96B3-606B325D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5387A-75DF-15BD-BFE8-49BC1591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3B567-5603-B8CA-361E-5C6931F8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FE393-0917-677B-0BB0-000A36B54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738" y="2061824"/>
            <a:ext cx="8108165" cy="26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71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FA90-E612-3758-97DE-51A6F746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68E1C-B094-51D8-1884-7B0EBFDA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9B3B6-6805-A9D9-1141-13ACD4E4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F5A96-6F92-E966-D0E2-F9B17399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84EB-21D7-B4DD-CA83-94FE771A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BDF81-1792-A371-7010-8B7A340A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38853"/>
            <a:ext cx="4941078" cy="4855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8380DA-E63E-70B9-DE33-DBADF6D4330B}"/>
              </a:ext>
            </a:extLst>
          </p:cNvPr>
          <p:cNvSpPr txBox="1"/>
          <p:nvPr/>
        </p:nvSpPr>
        <p:spPr>
          <a:xfrm>
            <a:off x="3569478" y="2650321"/>
            <a:ext cx="2283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simplified spam filtering problem</a:t>
            </a:r>
          </a:p>
        </p:txBody>
      </p:sp>
    </p:spTree>
    <p:extLst>
      <p:ext uri="{BB962C8B-B14F-4D97-AF65-F5344CB8AC3E}">
        <p14:creationId xmlns:p14="http://schemas.microsoft.com/office/powerpoint/2010/main" val="3793669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8632-2B75-71A7-6A1B-EED7F085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A653F-511F-73F5-A8B0-9B156259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73DF0-0ED5-9492-3247-BD4F24188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EB17B-5C2D-8019-2827-A9DB8F71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DFF6-F96E-A564-312D-EAF3744B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F11-62B9-175D-D383-4D98E9D1F3C8}"/>
              </a:ext>
            </a:extLst>
          </p:cNvPr>
          <p:cNvSpPr txBox="1"/>
          <p:nvPr/>
        </p:nvSpPr>
        <p:spPr>
          <a:xfrm>
            <a:off x="3869268" y="2486944"/>
            <a:ext cx="24323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simplified spam filtering problem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No Linear Classifier can cover all</a:t>
            </a:r>
          </a:p>
          <a:p>
            <a:r>
              <a:rPr lang="en-US" sz="2000" dirty="0"/>
              <a:t>instances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D19257-7E08-CCEE-7702-353F74AE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988" y="1152075"/>
            <a:ext cx="4953266" cy="484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774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8A83-48E9-994D-85C7-51239A3C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6A23F-9A1D-D014-6392-AAD1B246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D40C9-E715-73FF-FA90-E0628C3C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1969B-7B2B-5E86-3ABF-B6B8FBA1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225F-4B8C-EAA3-B74B-4E4C2276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797F60-69E2-4A23-4670-F2588C8327D1}"/>
              </a:ext>
            </a:extLst>
          </p:cNvPr>
          <p:cNvSpPr txBox="1">
            <a:spLocks/>
          </p:cNvSpPr>
          <p:nvPr/>
        </p:nvSpPr>
        <p:spPr>
          <a:xfrm>
            <a:off x="3479437" y="771041"/>
            <a:ext cx="799465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Which one is better?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C21C6F-658A-2030-7F1F-FE6B83C8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241" y="1354328"/>
            <a:ext cx="7886572" cy="463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52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C036-723E-1BA5-3D05-551E1EC9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&amp;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8FAAA-B592-D038-0E27-0F9BDEB4F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48DE7-685B-0106-52E1-02A38A5B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04266-F2E4-F4A9-3184-DFF8C8C6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F3AA-FAE0-1374-5A39-E384B0974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5BFE4-DF53-5624-5012-F010EEA52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16" y="678838"/>
            <a:ext cx="8370570" cy="4224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7CBEF3-EFD8-0E60-6500-EF2908EA20A3}"/>
              </a:ext>
            </a:extLst>
          </p:cNvPr>
          <p:cNvSpPr txBox="1"/>
          <p:nvPr/>
        </p:nvSpPr>
        <p:spPr>
          <a:xfrm>
            <a:off x="3956657" y="5107873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Overfitting</a:t>
            </a:r>
          </a:p>
          <a:p>
            <a:r>
              <a:rPr lang="en-US" dirty="0"/>
              <a:t>- Model too complex</a:t>
            </a:r>
          </a:p>
          <a:p>
            <a:r>
              <a:rPr lang="en-US" dirty="0"/>
              <a:t>- Performs excellent on training data, but poorly on test 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05F29-44A4-9256-FAFA-151FA7B80D9F}"/>
              </a:ext>
            </a:extLst>
          </p:cNvPr>
          <p:cNvSpPr txBox="1"/>
          <p:nvPr/>
        </p:nvSpPr>
        <p:spPr>
          <a:xfrm>
            <a:off x="8293707" y="5156021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Underfitting</a:t>
            </a:r>
          </a:p>
          <a:p>
            <a:r>
              <a:rPr lang="en-US" dirty="0"/>
              <a:t>- Model too simple</a:t>
            </a:r>
          </a:p>
          <a:p>
            <a:r>
              <a:rPr lang="en-US" dirty="0"/>
              <a:t>- Performs poorly on both training and test data </a:t>
            </a:r>
          </a:p>
        </p:txBody>
      </p:sp>
    </p:spTree>
    <p:extLst>
      <p:ext uri="{BB962C8B-B14F-4D97-AF65-F5344CB8AC3E}">
        <p14:creationId xmlns:p14="http://schemas.microsoft.com/office/powerpoint/2010/main" val="2575777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AF36-8D0D-9EA0-7748-ADA3239C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</a:t>
            </a:r>
            <a:r>
              <a:rPr lang="en-US" spc="-40" dirty="0"/>
              <a:t> </a:t>
            </a:r>
            <a:r>
              <a:rPr lang="en-US" dirty="0"/>
              <a:t>in</a:t>
            </a:r>
            <a:r>
              <a:rPr lang="en-US" spc="-30" dirty="0"/>
              <a:t> </a:t>
            </a:r>
            <a:r>
              <a:rPr lang="en-US" dirty="0"/>
              <a:t>a</a:t>
            </a:r>
            <a:r>
              <a:rPr lang="en-US" spc="-30" dirty="0"/>
              <a:t> </a:t>
            </a:r>
            <a:r>
              <a:rPr lang="en-US" spc="-10" dirty="0"/>
              <a:t>Nutshell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0973-22E5-6333-1DC5-0195EF762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marR="757555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3200" spc="-50" dirty="0">
                <a:latin typeface="Calibri"/>
                <a:cs typeface="Calibri"/>
              </a:rPr>
              <a:t>Tens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thousands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machine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learning algorithms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dirty="0">
                <a:latin typeface="Calibri"/>
                <a:cs typeface="Calibri"/>
              </a:rPr>
              <a:t>Hundreds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new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every</a:t>
            </a:r>
            <a:r>
              <a:rPr lang="en-US" sz="2800" spc="-8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year</a:t>
            </a:r>
            <a:endParaRPr lang="en-US"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20"/>
              </a:spcBef>
              <a:buFont typeface="Arial MT"/>
              <a:buChar char="–"/>
            </a:pPr>
            <a:endParaRPr lang="en-US"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sz="3200" dirty="0">
                <a:latin typeface="Calibri"/>
                <a:cs typeface="Calibri"/>
              </a:rPr>
              <a:t>Every</a:t>
            </a:r>
            <a:r>
              <a:rPr lang="en-US" sz="3200" spc="-9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ML</a:t>
            </a:r>
            <a:r>
              <a:rPr lang="en-US" sz="3200" spc="-8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algorithm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has</a:t>
            </a:r>
            <a:r>
              <a:rPr lang="en-US" sz="3200" spc="-8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three</a:t>
            </a:r>
            <a:r>
              <a:rPr lang="en-US" sz="3200" spc="-8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components:</a:t>
            </a:r>
            <a:endParaRPr lang="en-US" sz="32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b="1" spc="-10" dirty="0">
                <a:latin typeface="Calibri"/>
                <a:cs typeface="Calibri"/>
              </a:rPr>
              <a:t>Representation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b="1" spc="-10" dirty="0">
                <a:latin typeface="Calibri"/>
                <a:cs typeface="Calibri"/>
              </a:rPr>
              <a:t>Optimization</a:t>
            </a:r>
            <a:endParaRPr lang="en-US" sz="2800" dirty="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lang="en-US" sz="2800" b="1" spc="-10" dirty="0">
                <a:latin typeface="Calibri"/>
                <a:cs typeface="Calibri"/>
              </a:rPr>
              <a:t>Evaluation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68DDA-E870-EE93-A613-A7E19EF2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5E006-A872-3B44-D934-338F09C4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F88B4-502E-1DFC-FEE0-A3F20A98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FE51E77C-B1C9-3E7A-948E-3C91F6449977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Pedro Domingos</a:t>
            </a:r>
          </a:p>
        </p:txBody>
      </p:sp>
    </p:spTree>
    <p:extLst>
      <p:ext uri="{BB962C8B-B14F-4D97-AF65-F5344CB8AC3E}">
        <p14:creationId xmlns:p14="http://schemas.microsoft.com/office/powerpoint/2010/main" val="1678420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685B-B806-D447-CF08-9E5CE303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Various Function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564A1-F1B5-5DA5-F4DB-7050015C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Numerical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functions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Linear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regression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Neural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networks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Support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vector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machines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Symbolic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functions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Decision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trees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Rules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 </a:t>
            </a:r>
            <a:r>
              <a:rPr lang="en-US" spc="-10" dirty="0">
                <a:latin typeface="Calibri"/>
                <a:cs typeface="Calibri"/>
              </a:rPr>
              <a:t>propositional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logic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Rules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30" dirty="0">
                <a:latin typeface="Calibri"/>
                <a:cs typeface="Calibri"/>
              </a:rPr>
              <a:t>first-</a:t>
            </a:r>
            <a:r>
              <a:rPr lang="en-US" dirty="0">
                <a:latin typeface="Calibri"/>
                <a:cs typeface="Calibri"/>
              </a:rPr>
              <a:t>order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predicate</a:t>
            </a:r>
            <a:r>
              <a:rPr lang="en-US" spc="-20" dirty="0">
                <a:latin typeface="Calibri"/>
                <a:cs typeface="Calibri"/>
              </a:rPr>
              <a:t> logic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20" dirty="0">
                <a:latin typeface="Calibri"/>
                <a:cs typeface="Calibri"/>
              </a:rPr>
              <a:t>Instance-</a:t>
            </a:r>
            <a:r>
              <a:rPr lang="en-US" dirty="0">
                <a:latin typeface="Calibri"/>
                <a:cs typeface="Calibri"/>
              </a:rPr>
              <a:t>based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functions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lang="en-US" spc="-25" dirty="0">
                <a:latin typeface="Calibri"/>
                <a:cs typeface="Calibri"/>
              </a:rPr>
              <a:t>Nearest-</a:t>
            </a:r>
            <a:r>
              <a:rPr lang="en-US" spc="-10" dirty="0">
                <a:latin typeface="Calibri"/>
                <a:cs typeface="Calibri"/>
              </a:rPr>
              <a:t>neighbor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pc="-10" dirty="0">
                <a:latin typeface="Calibri"/>
                <a:cs typeface="Calibri"/>
              </a:rPr>
              <a:t>Case-</a:t>
            </a:r>
            <a:r>
              <a:rPr lang="en-US" spc="-20" dirty="0">
                <a:latin typeface="Calibri"/>
                <a:cs typeface="Calibri"/>
              </a:rPr>
              <a:t>based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Probabilistic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Graphical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Models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Naïve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Bayes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Bayesian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networks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 MT"/>
              <a:buChar char="–"/>
              <a:tabLst>
                <a:tab pos="755015" algn="l"/>
              </a:tabLst>
            </a:pPr>
            <a:r>
              <a:rPr lang="en-US" spc="-10" dirty="0">
                <a:latin typeface="Calibri"/>
                <a:cs typeface="Calibri"/>
              </a:rPr>
              <a:t>Hidden-</a:t>
            </a:r>
            <a:r>
              <a:rPr lang="en-US" dirty="0">
                <a:latin typeface="Calibri"/>
                <a:cs typeface="Calibri"/>
              </a:rPr>
              <a:t>Markov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Models</a:t>
            </a:r>
            <a:r>
              <a:rPr lang="en-US" spc="3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(HMMs)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pc="-10" dirty="0">
                <a:latin typeface="Calibri"/>
                <a:cs typeface="Calibri"/>
              </a:rPr>
              <a:t>Probabilistic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Context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Free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Grammars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(PCFGs)</a:t>
            </a:r>
            <a:endParaRPr lang="en-US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dirty="0">
                <a:latin typeface="Calibri"/>
                <a:cs typeface="Calibri"/>
              </a:rPr>
              <a:t>Markov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networks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C1895-4BF5-BE79-99FD-BC7FEC3F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9EB51-15DC-8FC5-BC2F-E4285285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86A58-7878-7ACE-241B-6FB1ECB3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23798932-2126-29DD-82AF-D3C1A96E2C95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10011029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69E2-BEFE-C211-3AAE-FFDDDA51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pc="-20" dirty="0">
                <a:latin typeface="Calibri"/>
                <a:cs typeface="Calibri"/>
              </a:rPr>
              <a:t>Various</a:t>
            </a:r>
            <a:r>
              <a:rPr lang="en-US" sz="3200" spc="-16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Search/</a:t>
            </a:r>
            <a:br>
              <a:rPr lang="en-US" sz="3200" spc="-10" dirty="0">
                <a:latin typeface="Calibri"/>
                <a:cs typeface="Calibri"/>
              </a:rPr>
            </a:br>
            <a:r>
              <a:rPr lang="en-US" sz="3200" spc="-10" dirty="0">
                <a:latin typeface="Calibri"/>
                <a:cs typeface="Calibri"/>
              </a:rPr>
              <a:t>Optimization Algorithms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7A1CC-263B-7D73-FA47-24064CCF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libri"/>
                <a:cs typeface="Calibri"/>
              </a:rPr>
              <a:t>Gradient</a:t>
            </a:r>
            <a:r>
              <a:rPr lang="en-US" sz="2400" spc="-13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descent</a:t>
            </a:r>
            <a:endParaRPr lang="en-US"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spc="-10" dirty="0">
                <a:latin typeface="Calibri"/>
                <a:cs typeface="Calibri"/>
              </a:rPr>
              <a:t>Perceptron</a:t>
            </a:r>
            <a:endParaRPr lang="en-US"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spc="-10" dirty="0">
                <a:latin typeface="Calibri"/>
                <a:cs typeface="Calibri"/>
              </a:rPr>
              <a:t>Backpropagation</a:t>
            </a:r>
            <a:endParaRPr lang="en-US"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libri"/>
                <a:cs typeface="Calibri"/>
              </a:rPr>
              <a:t>Dynamic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Programming</a:t>
            </a:r>
            <a:endParaRPr lang="en-US"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dirty="0">
                <a:latin typeface="Calibri"/>
                <a:cs typeface="Calibri"/>
              </a:rPr>
              <a:t>HMM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Learning</a:t>
            </a:r>
            <a:endParaRPr lang="en-US"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dirty="0">
                <a:latin typeface="Calibri"/>
                <a:cs typeface="Calibri"/>
              </a:rPr>
              <a:t>PCFG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Learning</a:t>
            </a:r>
            <a:endParaRPr lang="en-US"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libri"/>
                <a:cs typeface="Calibri"/>
              </a:rPr>
              <a:t>Divide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Conquer</a:t>
            </a:r>
            <a:endParaRPr lang="en-US"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dirty="0">
                <a:latin typeface="Calibri"/>
                <a:cs typeface="Calibri"/>
              </a:rPr>
              <a:t>Decision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tree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induction</a:t>
            </a:r>
            <a:endParaRPr lang="en-US"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dirty="0">
                <a:latin typeface="Calibri"/>
                <a:cs typeface="Calibri"/>
              </a:rPr>
              <a:t>Rule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learning</a:t>
            </a:r>
            <a:endParaRPr lang="en-US"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spc="-10" dirty="0">
                <a:latin typeface="Calibri"/>
                <a:cs typeface="Calibri"/>
              </a:rPr>
              <a:t>Evolutionary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Computation</a:t>
            </a:r>
            <a:endParaRPr lang="en-US"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dirty="0">
                <a:latin typeface="Calibri"/>
                <a:cs typeface="Calibri"/>
              </a:rPr>
              <a:t>Genetic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Algorithms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(GAs)</a:t>
            </a:r>
            <a:endParaRPr lang="en-US"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dirty="0">
                <a:latin typeface="Calibri"/>
                <a:cs typeface="Calibri"/>
              </a:rPr>
              <a:t>Genetic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Programming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(GP)</a:t>
            </a:r>
            <a:endParaRPr lang="en-US" sz="20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4"/>
              </a:spcBef>
              <a:buFont typeface="Arial MT"/>
              <a:buChar char="–"/>
              <a:tabLst>
                <a:tab pos="755015" algn="l"/>
              </a:tabLst>
            </a:pPr>
            <a:r>
              <a:rPr lang="en-US" sz="2000" spc="-20" dirty="0">
                <a:latin typeface="Calibri"/>
                <a:cs typeface="Calibri"/>
              </a:rPr>
              <a:t>Neuro-</a:t>
            </a:r>
            <a:r>
              <a:rPr lang="en-US" sz="2000" spc="-10" dirty="0">
                <a:latin typeface="Calibri"/>
                <a:cs typeface="Calibri"/>
              </a:rPr>
              <a:t>evolution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10FA-682A-62A0-96DC-55D33626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CFC31-EC17-66C9-6560-49AF48DA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979B-F27D-9B21-05BD-4D52FCDC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3AB1AEDA-CAFE-9642-03BF-45822134BA01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37075195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93F0-BB55-37BF-FCB9-5FCBA51B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/>
              <a:t>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8FC3-4491-3FFF-FCC6-09F53CAE0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Accuracy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Precision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recall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Squared</a:t>
            </a:r>
            <a:r>
              <a:rPr lang="en-US" spc="-10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error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Likelihood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Posterior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probability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Cost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/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Utility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Margin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Entropy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35" dirty="0">
                <a:latin typeface="Calibri"/>
                <a:cs typeface="Calibri"/>
              </a:rPr>
              <a:t>K-</a:t>
            </a:r>
            <a:r>
              <a:rPr lang="en-US" dirty="0">
                <a:latin typeface="Calibri"/>
                <a:cs typeface="Calibri"/>
              </a:rPr>
              <a:t>L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divergence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20" dirty="0">
                <a:latin typeface="Calibri"/>
                <a:cs typeface="Calibri"/>
              </a:rPr>
              <a:t>etc.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037E5-5CF8-30CD-4F08-10101E22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3073-7299-4395-0F3E-B6B2F282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7EE0E-226E-DC89-11B2-87318B41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BEDD7F32-1AFD-729F-3709-BB648D7A6B87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Pedro Domingos</a:t>
            </a:r>
          </a:p>
        </p:txBody>
      </p:sp>
    </p:spTree>
    <p:extLst>
      <p:ext uri="{BB962C8B-B14F-4D97-AF65-F5344CB8AC3E}">
        <p14:creationId xmlns:p14="http://schemas.microsoft.com/office/powerpoint/2010/main" val="3214198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207A-020D-EFCC-A589-A450D19E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512D4-84B6-74B1-7DEE-F93937FF5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864108"/>
            <a:ext cx="6307668" cy="5120640"/>
          </a:xfrm>
        </p:spPr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Understand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domain,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prior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knowledge,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goals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integration,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selection,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cleaning,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pre-</a:t>
            </a:r>
            <a:r>
              <a:rPr lang="en-US" dirty="0">
                <a:latin typeface="Calibri"/>
                <a:cs typeface="Calibri"/>
              </a:rPr>
              <a:t>processing,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etc.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libri"/>
                <a:cs typeface="Calibri"/>
              </a:rPr>
              <a:t>Learn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models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Interpret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results</a:t>
            </a:r>
            <a:endParaRPr lang="en-US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libri"/>
                <a:cs typeface="Calibri"/>
              </a:rPr>
              <a:t>Consolidate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deploy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discovered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knowledge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B70F-9C7F-EEA2-A827-D9BC39BE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98DBC-0F3E-B90A-80AF-BE4A972B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9AF0-BE54-8C21-E6BC-582758D3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490C9022-CB11-1717-A6A9-A2336604BCA9}"/>
              </a:ext>
            </a:extLst>
          </p:cNvPr>
          <p:cNvGrpSpPr/>
          <p:nvPr/>
        </p:nvGrpSpPr>
        <p:grpSpPr>
          <a:xfrm>
            <a:off x="3708400" y="2627328"/>
            <a:ext cx="1168400" cy="1645921"/>
            <a:chOff x="139700" y="1435100"/>
            <a:chExt cx="1168400" cy="2286000"/>
          </a:xfrm>
        </p:grpSpPr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A4353437-7D62-1A53-DE53-9F48D05C83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" y="1435100"/>
              <a:ext cx="1168400" cy="2286000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D43E020F-87DE-E237-C4CB-4DAB86A82F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063" y="1476279"/>
              <a:ext cx="1041536" cy="2155919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095421BD-577E-AD5C-1305-BECE97283E33}"/>
                </a:ext>
              </a:extLst>
            </p:cNvPr>
            <p:cNvSpPr/>
            <p:nvPr/>
          </p:nvSpPr>
          <p:spPr>
            <a:xfrm>
              <a:off x="203200" y="1476279"/>
              <a:ext cx="1041400" cy="2156460"/>
            </a:xfrm>
            <a:custGeom>
              <a:avLst/>
              <a:gdLst/>
              <a:ahLst/>
              <a:cxnLst/>
              <a:rect l="l" t="t" r="r" b="b"/>
              <a:pathLst>
                <a:path w="1041400" h="2156460">
                  <a:moveTo>
                    <a:pt x="0" y="1258983"/>
                  </a:moveTo>
                  <a:lnTo>
                    <a:pt x="1312" y="1213761"/>
                  </a:lnTo>
                  <a:lnTo>
                    <a:pt x="5213" y="1169028"/>
                  </a:lnTo>
                  <a:lnTo>
                    <a:pt x="11647" y="1124846"/>
                  </a:lnTo>
                  <a:lnTo>
                    <a:pt x="20558" y="1081275"/>
                  </a:lnTo>
                  <a:lnTo>
                    <a:pt x="31890" y="1038378"/>
                  </a:lnTo>
                  <a:lnTo>
                    <a:pt x="45587" y="996218"/>
                  </a:lnTo>
                  <a:lnTo>
                    <a:pt x="61595" y="954855"/>
                  </a:lnTo>
                  <a:lnTo>
                    <a:pt x="79857" y="914352"/>
                  </a:lnTo>
                  <a:lnTo>
                    <a:pt x="100317" y="874771"/>
                  </a:lnTo>
                  <a:lnTo>
                    <a:pt x="122920" y="836174"/>
                  </a:lnTo>
                  <a:lnTo>
                    <a:pt x="147610" y="798622"/>
                  </a:lnTo>
                  <a:lnTo>
                    <a:pt x="174331" y="762177"/>
                  </a:lnTo>
                  <a:lnTo>
                    <a:pt x="203029" y="726902"/>
                  </a:lnTo>
                  <a:lnTo>
                    <a:pt x="233646" y="692859"/>
                  </a:lnTo>
                  <a:lnTo>
                    <a:pt x="266127" y="660109"/>
                  </a:lnTo>
                  <a:lnTo>
                    <a:pt x="300417" y="628714"/>
                  </a:lnTo>
                  <a:lnTo>
                    <a:pt x="336461" y="598736"/>
                  </a:lnTo>
                  <a:lnTo>
                    <a:pt x="374201" y="570237"/>
                  </a:lnTo>
                  <a:lnTo>
                    <a:pt x="413583" y="543280"/>
                  </a:lnTo>
                  <a:lnTo>
                    <a:pt x="454550" y="517925"/>
                  </a:lnTo>
                  <a:lnTo>
                    <a:pt x="497048" y="494235"/>
                  </a:lnTo>
                  <a:lnTo>
                    <a:pt x="541021" y="472272"/>
                  </a:lnTo>
                  <a:lnTo>
                    <a:pt x="586412" y="452098"/>
                  </a:lnTo>
                  <a:lnTo>
                    <a:pt x="633166" y="433774"/>
                  </a:lnTo>
                  <a:lnTo>
                    <a:pt x="681227" y="417363"/>
                  </a:lnTo>
                  <a:lnTo>
                    <a:pt x="730541" y="402927"/>
                  </a:lnTo>
                  <a:lnTo>
                    <a:pt x="781050" y="390527"/>
                  </a:lnTo>
                  <a:lnTo>
                    <a:pt x="781051" y="520699"/>
                  </a:lnTo>
                  <a:lnTo>
                    <a:pt x="1041400" y="231868"/>
                  </a:lnTo>
                  <a:lnTo>
                    <a:pt x="781051" y="0"/>
                  </a:lnTo>
                  <a:lnTo>
                    <a:pt x="781051" y="130176"/>
                  </a:lnTo>
                  <a:lnTo>
                    <a:pt x="730542" y="142575"/>
                  </a:lnTo>
                  <a:lnTo>
                    <a:pt x="681228" y="157012"/>
                  </a:lnTo>
                  <a:lnTo>
                    <a:pt x="633167" y="173423"/>
                  </a:lnTo>
                  <a:lnTo>
                    <a:pt x="586413" y="191746"/>
                  </a:lnTo>
                  <a:lnTo>
                    <a:pt x="541022" y="211921"/>
                  </a:lnTo>
                  <a:lnTo>
                    <a:pt x="497049" y="233884"/>
                  </a:lnTo>
                  <a:lnTo>
                    <a:pt x="454551" y="257574"/>
                  </a:lnTo>
                  <a:lnTo>
                    <a:pt x="413584" y="282928"/>
                  </a:lnTo>
                  <a:lnTo>
                    <a:pt x="374202" y="309886"/>
                  </a:lnTo>
                  <a:lnTo>
                    <a:pt x="336461" y="338385"/>
                  </a:lnTo>
                  <a:lnTo>
                    <a:pt x="300418" y="368362"/>
                  </a:lnTo>
                  <a:lnTo>
                    <a:pt x="266128" y="399757"/>
                  </a:lnTo>
                  <a:lnTo>
                    <a:pt x="233647" y="432507"/>
                  </a:lnTo>
                  <a:lnTo>
                    <a:pt x="203029" y="466551"/>
                  </a:lnTo>
                  <a:lnTo>
                    <a:pt x="174332" y="501826"/>
                  </a:lnTo>
                  <a:lnTo>
                    <a:pt x="147611" y="538270"/>
                  </a:lnTo>
                  <a:lnTo>
                    <a:pt x="122921" y="575822"/>
                  </a:lnTo>
                  <a:lnTo>
                    <a:pt x="100318" y="614420"/>
                  </a:lnTo>
                  <a:lnTo>
                    <a:pt x="79858" y="654001"/>
                  </a:lnTo>
                  <a:lnTo>
                    <a:pt x="61596" y="694504"/>
                  </a:lnTo>
                  <a:lnTo>
                    <a:pt x="45588" y="735866"/>
                  </a:lnTo>
                  <a:lnTo>
                    <a:pt x="31891" y="778027"/>
                  </a:lnTo>
                  <a:lnTo>
                    <a:pt x="20559" y="820923"/>
                  </a:lnTo>
                  <a:lnTo>
                    <a:pt x="11648" y="864494"/>
                  </a:lnTo>
                  <a:lnTo>
                    <a:pt x="5214" y="908677"/>
                  </a:lnTo>
                  <a:lnTo>
                    <a:pt x="1313" y="953409"/>
                  </a:lnTo>
                  <a:lnTo>
                    <a:pt x="0" y="998631"/>
                  </a:lnTo>
                  <a:lnTo>
                    <a:pt x="0" y="1258983"/>
                  </a:lnTo>
                  <a:lnTo>
                    <a:pt x="1274" y="1303749"/>
                  </a:lnTo>
                  <a:lnTo>
                    <a:pt x="5058" y="1347947"/>
                  </a:lnTo>
                  <a:lnTo>
                    <a:pt x="11291" y="1391525"/>
                  </a:lnTo>
                  <a:lnTo>
                    <a:pt x="19914" y="1434433"/>
                  </a:lnTo>
                  <a:lnTo>
                    <a:pt x="30867" y="1476618"/>
                  </a:lnTo>
                  <a:lnTo>
                    <a:pt x="44091" y="1518030"/>
                  </a:lnTo>
                  <a:lnTo>
                    <a:pt x="59526" y="1558616"/>
                  </a:lnTo>
                  <a:lnTo>
                    <a:pt x="77112" y="1598326"/>
                  </a:lnTo>
                  <a:lnTo>
                    <a:pt x="96790" y="1637109"/>
                  </a:lnTo>
                  <a:lnTo>
                    <a:pt x="118499" y="1674911"/>
                  </a:lnTo>
                  <a:lnTo>
                    <a:pt x="142181" y="1711684"/>
                  </a:lnTo>
                  <a:lnTo>
                    <a:pt x="167775" y="1747374"/>
                  </a:lnTo>
                  <a:lnTo>
                    <a:pt x="195223" y="1781931"/>
                  </a:lnTo>
                  <a:lnTo>
                    <a:pt x="224463" y="1815303"/>
                  </a:lnTo>
                  <a:lnTo>
                    <a:pt x="255437" y="1847439"/>
                  </a:lnTo>
                  <a:lnTo>
                    <a:pt x="288085" y="1878287"/>
                  </a:lnTo>
                  <a:lnTo>
                    <a:pt x="322348" y="1907797"/>
                  </a:lnTo>
                  <a:lnTo>
                    <a:pt x="358165" y="1935916"/>
                  </a:lnTo>
                  <a:lnTo>
                    <a:pt x="395476" y="1962593"/>
                  </a:lnTo>
                  <a:lnTo>
                    <a:pt x="434224" y="1987778"/>
                  </a:lnTo>
                  <a:lnTo>
                    <a:pt x="474346" y="2011417"/>
                  </a:lnTo>
                  <a:lnTo>
                    <a:pt x="515785" y="2033461"/>
                  </a:lnTo>
                  <a:lnTo>
                    <a:pt x="558480" y="2053858"/>
                  </a:lnTo>
                  <a:lnTo>
                    <a:pt x="602372" y="2072556"/>
                  </a:lnTo>
                  <a:lnTo>
                    <a:pt x="647400" y="2089504"/>
                  </a:lnTo>
                  <a:lnTo>
                    <a:pt x="693506" y="2104650"/>
                  </a:lnTo>
                  <a:lnTo>
                    <a:pt x="740629" y="2117944"/>
                  </a:lnTo>
                  <a:lnTo>
                    <a:pt x="788711" y="2129334"/>
                  </a:lnTo>
                  <a:lnTo>
                    <a:pt x="837691" y="2138767"/>
                  </a:lnTo>
                  <a:lnTo>
                    <a:pt x="887509" y="2146194"/>
                  </a:lnTo>
                  <a:lnTo>
                    <a:pt x="938106" y="2151563"/>
                  </a:lnTo>
                  <a:lnTo>
                    <a:pt x="989423" y="2154822"/>
                  </a:lnTo>
                  <a:lnTo>
                    <a:pt x="1041400" y="2155920"/>
                  </a:lnTo>
                  <a:lnTo>
                    <a:pt x="1041400" y="1895569"/>
                  </a:lnTo>
                  <a:lnTo>
                    <a:pt x="989994" y="1894489"/>
                  </a:lnTo>
                  <a:lnTo>
                    <a:pt x="939172" y="1891280"/>
                  </a:lnTo>
                  <a:lnTo>
                    <a:pt x="888999" y="1885990"/>
                  </a:lnTo>
                  <a:lnTo>
                    <a:pt x="839537" y="1878665"/>
                  </a:lnTo>
                  <a:lnTo>
                    <a:pt x="790850" y="1869353"/>
                  </a:lnTo>
                  <a:lnTo>
                    <a:pt x="743001" y="1858101"/>
                  </a:lnTo>
                  <a:lnTo>
                    <a:pt x="696054" y="1844957"/>
                  </a:lnTo>
                  <a:lnTo>
                    <a:pt x="650072" y="1829967"/>
                  </a:lnTo>
                  <a:lnTo>
                    <a:pt x="605118" y="1813178"/>
                  </a:lnTo>
                  <a:lnTo>
                    <a:pt x="561256" y="1794639"/>
                  </a:lnTo>
                  <a:lnTo>
                    <a:pt x="518550" y="1774396"/>
                  </a:lnTo>
                  <a:lnTo>
                    <a:pt x="477063" y="1752496"/>
                  </a:lnTo>
                  <a:lnTo>
                    <a:pt x="436858" y="1728986"/>
                  </a:lnTo>
                  <a:lnTo>
                    <a:pt x="397999" y="1703914"/>
                  </a:lnTo>
                  <a:lnTo>
                    <a:pt x="360549" y="1677327"/>
                  </a:lnTo>
                  <a:lnTo>
                    <a:pt x="324571" y="1649272"/>
                  </a:lnTo>
                  <a:lnTo>
                    <a:pt x="290130" y="1619797"/>
                  </a:lnTo>
                  <a:lnTo>
                    <a:pt x="257287" y="1588947"/>
                  </a:lnTo>
                  <a:lnTo>
                    <a:pt x="226108" y="1556772"/>
                  </a:lnTo>
                  <a:lnTo>
                    <a:pt x="196655" y="1523318"/>
                  </a:lnTo>
                  <a:lnTo>
                    <a:pt x="168992" y="1488631"/>
                  </a:lnTo>
                  <a:lnTo>
                    <a:pt x="143182" y="1452760"/>
                  </a:lnTo>
                  <a:lnTo>
                    <a:pt x="119288" y="1415751"/>
                  </a:lnTo>
                  <a:lnTo>
                    <a:pt x="97375" y="1377653"/>
                  </a:lnTo>
                  <a:lnTo>
                    <a:pt x="77505" y="1338511"/>
                  </a:lnTo>
                  <a:lnTo>
                    <a:pt x="59741" y="1298373"/>
                  </a:lnTo>
                  <a:lnTo>
                    <a:pt x="44148" y="1257286"/>
                  </a:lnTo>
                  <a:lnTo>
                    <a:pt x="30789" y="1215298"/>
                  </a:lnTo>
                  <a:lnTo>
                    <a:pt x="19727" y="1172456"/>
                  </a:lnTo>
                  <a:lnTo>
                    <a:pt x="11026" y="1128807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24">
            <a:extLst>
              <a:ext uri="{FF2B5EF4-FFF2-40B4-BE49-F238E27FC236}">
                <a16:creationId xmlns:a16="http://schemas.microsoft.com/office/drawing/2014/main" id="{081C82EE-79A3-DF6D-71BD-1473F191FBED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Based on a slide by Pedro Domingos</a:t>
            </a:r>
          </a:p>
        </p:txBody>
      </p:sp>
    </p:spTree>
    <p:extLst>
      <p:ext uri="{BB962C8B-B14F-4D97-AF65-F5344CB8AC3E}">
        <p14:creationId xmlns:p14="http://schemas.microsoft.com/office/powerpoint/2010/main" val="3589247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E6FC-323A-32FD-450D-AC9C61D0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Lessons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Learned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about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0C563-618D-5341-B7C4-FBF86A10B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marR="80010" indent="-342900">
              <a:lnSpc>
                <a:spcPct val="101200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dirty="0"/>
              <a:t>Learning</a:t>
            </a:r>
            <a:r>
              <a:rPr lang="en-US" spc="-55" dirty="0"/>
              <a:t> </a:t>
            </a:r>
            <a:r>
              <a:rPr lang="en-US" dirty="0"/>
              <a:t>can</a:t>
            </a:r>
            <a:r>
              <a:rPr lang="en-US" spc="-45" dirty="0"/>
              <a:t> </a:t>
            </a:r>
            <a:r>
              <a:rPr lang="en-US" dirty="0"/>
              <a:t>be</a:t>
            </a:r>
            <a:r>
              <a:rPr lang="en-US" spc="-50" dirty="0"/>
              <a:t> </a:t>
            </a:r>
            <a:r>
              <a:rPr lang="en-US" dirty="0"/>
              <a:t>viewed</a:t>
            </a:r>
            <a:r>
              <a:rPr lang="en-US" spc="-45" dirty="0"/>
              <a:t> </a:t>
            </a:r>
            <a:r>
              <a:rPr lang="en-US" dirty="0"/>
              <a:t>as</a:t>
            </a:r>
            <a:r>
              <a:rPr lang="en-US" spc="-45" dirty="0"/>
              <a:t> </a:t>
            </a:r>
            <a:r>
              <a:rPr lang="en-US" dirty="0"/>
              <a:t>using</a:t>
            </a:r>
            <a:r>
              <a:rPr lang="en-US" spc="-50" dirty="0"/>
              <a:t> </a:t>
            </a:r>
            <a:r>
              <a:rPr lang="en-US" dirty="0"/>
              <a:t>direct</a:t>
            </a:r>
            <a:r>
              <a:rPr lang="en-US" spc="-50" dirty="0"/>
              <a:t> </a:t>
            </a:r>
            <a:r>
              <a:rPr lang="en-US" dirty="0"/>
              <a:t>or</a:t>
            </a:r>
            <a:r>
              <a:rPr lang="en-US" spc="-45" dirty="0"/>
              <a:t> </a:t>
            </a:r>
            <a:r>
              <a:rPr lang="en-US" spc="-10" dirty="0"/>
              <a:t>indirect </a:t>
            </a:r>
            <a:r>
              <a:rPr lang="en-US" dirty="0"/>
              <a:t>experience</a:t>
            </a:r>
            <a:r>
              <a:rPr lang="en-US" spc="-85" dirty="0"/>
              <a:t> </a:t>
            </a:r>
            <a:r>
              <a:rPr lang="en-US" dirty="0"/>
              <a:t>to</a:t>
            </a:r>
            <a:r>
              <a:rPr lang="en-US" spc="-85" dirty="0"/>
              <a:t> </a:t>
            </a:r>
            <a:r>
              <a:rPr lang="en-US" spc="-10" dirty="0"/>
              <a:t>approximate</a:t>
            </a:r>
            <a:r>
              <a:rPr lang="en-US" spc="-85" dirty="0"/>
              <a:t> </a:t>
            </a:r>
            <a:r>
              <a:rPr lang="en-US" dirty="0"/>
              <a:t>a</a:t>
            </a:r>
            <a:r>
              <a:rPr lang="en-US" spc="-80" dirty="0"/>
              <a:t> </a:t>
            </a:r>
            <a:r>
              <a:rPr lang="en-US" dirty="0"/>
              <a:t>chosen</a:t>
            </a:r>
            <a:r>
              <a:rPr lang="en-US" spc="-75" dirty="0"/>
              <a:t> </a:t>
            </a:r>
            <a:r>
              <a:rPr lang="en-US" dirty="0"/>
              <a:t>target</a:t>
            </a:r>
            <a:r>
              <a:rPr lang="en-US" spc="-80" dirty="0"/>
              <a:t> </a:t>
            </a:r>
            <a:r>
              <a:rPr lang="en-US" spc="-10" dirty="0"/>
              <a:t>function.</a:t>
            </a:r>
          </a:p>
          <a:p>
            <a:pPr>
              <a:lnSpc>
                <a:spcPct val="100000"/>
              </a:lnSpc>
              <a:spcBef>
                <a:spcPts val="1180"/>
              </a:spcBef>
              <a:buFont typeface="Arial MT"/>
              <a:buChar char="•"/>
            </a:pPr>
            <a:endParaRPr lang="en-US" spc="-10" dirty="0"/>
          </a:p>
          <a:p>
            <a:pPr marL="355600" marR="11430" indent="-342900">
              <a:lnSpc>
                <a:spcPct val="101200"/>
              </a:lnSpc>
              <a:buFont typeface="Arial MT"/>
              <a:buChar char="•"/>
              <a:tabLst>
                <a:tab pos="355600" algn="l"/>
              </a:tabLst>
            </a:pPr>
            <a:r>
              <a:rPr lang="en-US" dirty="0"/>
              <a:t>Function</a:t>
            </a:r>
            <a:r>
              <a:rPr lang="en-US" spc="-50" dirty="0"/>
              <a:t> </a:t>
            </a:r>
            <a:r>
              <a:rPr lang="en-US" spc="-10" dirty="0"/>
              <a:t>approximation</a:t>
            </a:r>
            <a:r>
              <a:rPr lang="en-US" spc="-45" dirty="0"/>
              <a:t> </a:t>
            </a:r>
            <a:r>
              <a:rPr lang="en-US" dirty="0"/>
              <a:t>can</a:t>
            </a:r>
            <a:r>
              <a:rPr lang="en-US" spc="-45" dirty="0"/>
              <a:t> </a:t>
            </a:r>
            <a:r>
              <a:rPr lang="en-US" dirty="0"/>
              <a:t>be</a:t>
            </a:r>
            <a:r>
              <a:rPr lang="en-US" spc="-55" dirty="0"/>
              <a:t> </a:t>
            </a:r>
            <a:r>
              <a:rPr lang="en-US" dirty="0"/>
              <a:t>viewed</a:t>
            </a:r>
            <a:r>
              <a:rPr lang="en-US" spc="-50" dirty="0"/>
              <a:t> </a:t>
            </a:r>
            <a:r>
              <a:rPr lang="en-US" dirty="0"/>
              <a:t>as</a:t>
            </a:r>
            <a:r>
              <a:rPr lang="en-US" spc="-45" dirty="0"/>
              <a:t> </a:t>
            </a:r>
            <a:r>
              <a:rPr lang="en-US" dirty="0"/>
              <a:t>a</a:t>
            </a:r>
            <a:r>
              <a:rPr lang="en-US" spc="-50" dirty="0"/>
              <a:t> </a:t>
            </a:r>
            <a:r>
              <a:rPr lang="en-US" spc="-10" dirty="0"/>
              <a:t>search </a:t>
            </a:r>
            <a:r>
              <a:rPr lang="en-US" dirty="0"/>
              <a:t>through</a:t>
            </a:r>
            <a:r>
              <a:rPr lang="en-US" spc="-60" dirty="0"/>
              <a:t> </a:t>
            </a:r>
            <a:r>
              <a:rPr lang="en-US" dirty="0"/>
              <a:t>a</a:t>
            </a:r>
            <a:r>
              <a:rPr lang="en-US" spc="-65" dirty="0"/>
              <a:t> </a:t>
            </a:r>
            <a:r>
              <a:rPr lang="en-US" dirty="0"/>
              <a:t>space</a:t>
            </a:r>
            <a:r>
              <a:rPr lang="en-US" spc="-70" dirty="0"/>
              <a:t> </a:t>
            </a:r>
            <a:r>
              <a:rPr lang="en-US" dirty="0"/>
              <a:t>of</a:t>
            </a:r>
            <a:r>
              <a:rPr lang="en-US" spc="-65" dirty="0"/>
              <a:t> </a:t>
            </a:r>
            <a:r>
              <a:rPr lang="en-US" spc="-10" dirty="0"/>
              <a:t>hypotheses</a:t>
            </a:r>
            <a:r>
              <a:rPr lang="en-US" spc="-60" dirty="0"/>
              <a:t> </a:t>
            </a:r>
            <a:r>
              <a:rPr lang="en-US" spc="-10" dirty="0"/>
              <a:t>(representations</a:t>
            </a:r>
            <a:r>
              <a:rPr lang="en-US" spc="-60" dirty="0"/>
              <a:t> </a:t>
            </a:r>
            <a:r>
              <a:rPr lang="en-US" spc="-25" dirty="0"/>
              <a:t>of </a:t>
            </a:r>
            <a:r>
              <a:rPr lang="en-US" dirty="0"/>
              <a:t>functions)</a:t>
            </a:r>
            <a:r>
              <a:rPr lang="en-US" spc="-40" dirty="0"/>
              <a:t> </a:t>
            </a:r>
            <a:r>
              <a:rPr lang="en-US" dirty="0"/>
              <a:t>for</a:t>
            </a:r>
            <a:r>
              <a:rPr lang="en-US" spc="-45" dirty="0"/>
              <a:t> </a:t>
            </a:r>
            <a:r>
              <a:rPr lang="en-US" dirty="0"/>
              <a:t>one</a:t>
            </a:r>
            <a:r>
              <a:rPr lang="en-US" spc="-45" dirty="0"/>
              <a:t> </a:t>
            </a:r>
            <a:r>
              <a:rPr lang="en-US" dirty="0"/>
              <a:t>that</a:t>
            </a:r>
            <a:r>
              <a:rPr lang="en-US" spc="-45" dirty="0"/>
              <a:t> </a:t>
            </a:r>
            <a:r>
              <a:rPr lang="en-US" dirty="0"/>
              <a:t>best</a:t>
            </a:r>
            <a:r>
              <a:rPr lang="en-US" spc="-40" dirty="0"/>
              <a:t> </a:t>
            </a:r>
            <a:r>
              <a:rPr lang="en-US" dirty="0"/>
              <a:t>fits</a:t>
            </a:r>
            <a:r>
              <a:rPr lang="en-US" spc="-40" dirty="0"/>
              <a:t> </a:t>
            </a:r>
            <a:r>
              <a:rPr lang="en-US" dirty="0"/>
              <a:t>a</a:t>
            </a:r>
            <a:r>
              <a:rPr lang="en-US" spc="-45" dirty="0"/>
              <a:t> </a:t>
            </a:r>
            <a:r>
              <a:rPr lang="en-US" dirty="0"/>
              <a:t>set</a:t>
            </a:r>
            <a:r>
              <a:rPr lang="en-US" spc="-40" dirty="0"/>
              <a:t> </a:t>
            </a:r>
            <a:r>
              <a:rPr lang="en-US" dirty="0"/>
              <a:t>of</a:t>
            </a:r>
            <a:r>
              <a:rPr lang="en-US" spc="-50" dirty="0"/>
              <a:t> </a:t>
            </a:r>
            <a:r>
              <a:rPr lang="en-US" dirty="0"/>
              <a:t>training</a:t>
            </a:r>
            <a:r>
              <a:rPr lang="en-US" spc="-45" dirty="0"/>
              <a:t> </a:t>
            </a:r>
            <a:r>
              <a:rPr lang="en-US" spc="-10" dirty="0"/>
              <a:t>data.</a:t>
            </a:r>
          </a:p>
          <a:p>
            <a:pPr>
              <a:lnSpc>
                <a:spcPct val="100000"/>
              </a:lnSpc>
              <a:spcBef>
                <a:spcPts val="1230"/>
              </a:spcBef>
              <a:buFont typeface="Arial MT"/>
              <a:buChar char="•"/>
            </a:pPr>
            <a:endParaRPr lang="en-US" spc="-10" dirty="0"/>
          </a:p>
          <a:p>
            <a:pPr marL="355600" marR="5080" indent="-342900">
              <a:lnSpc>
                <a:spcPct val="99700"/>
              </a:lnSpc>
              <a:buFont typeface="Arial MT"/>
              <a:buChar char="•"/>
              <a:tabLst>
                <a:tab pos="355600" algn="l"/>
              </a:tabLst>
            </a:pPr>
            <a:r>
              <a:rPr lang="en-US" spc="-10" dirty="0"/>
              <a:t>Different</a:t>
            </a:r>
            <a:r>
              <a:rPr lang="en-US" spc="-85" dirty="0"/>
              <a:t> </a:t>
            </a:r>
            <a:r>
              <a:rPr lang="en-US" dirty="0"/>
              <a:t>learning</a:t>
            </a:r>
            <a:r>
              <a:rPr lang="en-US" spc="-90" dirty="0"/>
              <a:t> </a:t>
            </a:r>
            <a:r>
              <a:rPr lang="en-US" dirty="0"/>
              <a:t>methods</a:t>
            </a:r>
            <a:r>
              <a:rPr lang="en-US" spc="-80" dirty="0"/>
              <a:t> </a:t>
            </a:r>
            <a:r>
              <a:rPr lang="en-US" dirty="0"/>
              <a:t>assume</a:t>
            </a:r>
            <a:r>
              <a:rPr lang="en-US" spc="-90" dirty="0"/>
              <a:t> </a:t>
            </a:r>
            <a:r>
              <a:rPr lang="en-US" spc="-10" dirty="0"/>
              <a:t>different </a:t>
            </a:r>
            <a:r>
              <a:rPr lang="en-US" dirty="0"/>
              <a:t>hypothesis</a:t>
            </a:r>
            <a:r>
              <a:rPr lang="en-US" spc="-105" dirty="0"/>
              <a:t> </a:t>
            </a:r>
            <a:r>
              <a:rPr lang="en-US" dirty="0"/>
              <a:t>spaces</a:t>
            </a:r>
            <a:r>
              <a:rPr lang="en-US" spc="-105" dirty="0"/>
              <a:t> </a:t>
            </a:r>
            <a:r>
              <a:rPr lang="en-US" spc="-10" dirty="0"/>
              <a:t>(representation</a:t>
            </a:r>
            <a:r>
              <a:rPr lang="en-US" spc="-105" dirty="0"/>
              <a:t> </a:t>
            </a:r>
            <a:r>
              <a:rPr lang="en-US" dirty="0"/>
              <a:t>languages)</a:t>
            </a:r>
            <a:r>
              <a:rPr lang="en-US" spc="-105" dirty="0"/>
              <a:t> </a:t>
            </a:r>
            <a:r>
              <a:rPr lang="en-US" spc="-10" dirty="0"/>
              <a:t>and/or </a:t>
            </a:r>
            <a:r>
              <a:rPr lang="en-US" dirty="0"/>
              <a:t>employ</a:t>
            </a:r>
            <a:r>
              <a:rPr lang="en-US" spc="-95" dirty="0"/>
              <a:t> </a:t>
            </a:r>
            <a:r>
              <a:rPr lang="en-US" spc="-10" dirty="0"/>
              <a:t>different</a:t>
            </a:r>
            <a:r>
              <a:rPr lang="en-US" spc="-95" dirty="0"/>
              <a:t> </a:t>
            </a:r>
            <a:r>
              <a:rPr lang="en-US" dirty="0"/>
              <a:t>search</a:t>
            </a:r>
            <a:r>
              <a:rPr lang="en-US" spc="-85" dirty="0"/>
              <a:t> </a:t>
            </a:r>
            <a:r>
              <a:rPr lang="en-US" spc="-10" dirty="0"/>
              <a:t>techniques.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C0E5-BD36-6C10-32B2-4C6574C1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2B479-1B72-0C64-9995-4A641C05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BFD90-98F8-7F3F-BAA3-12F231F5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C5B20E03-5777-DE3F-E4BC-66EEE1BD89BA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1340997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80E5D6-9B7C-4985-346F-6AFCA46A9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Brief History of</a:t>
            </a:r>
            <a:br>
              <a:rPr lang="en-US" dirty="0"/>
            </a:br>
            <a:r>
              <a:rPr lang="en-US" dirty="0"/>
              <a:t>Machine Learning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2858104-A12C-15CB-75AC-407C719D0C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BE542-E766-1E0E-1ED1-D434AA95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3910-1D04-3942-9905-4E057744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6140D-8573-4763-CDA6-DF809492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186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38F7-E495-EFA4-04A4-825BD707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FE76-13DC-7A43-F8E6-C03E25E0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1950s</a:t>
            </a:r>
          </a:p>
          <a:p>
            <a:pPr lvl="1"/>
            <a:r>
              <a:rPr lang="en-US" dirty="0"/>
              <a:t>Samuel’s checker player</a:t>
            </a:r>
          </a:p>
          <a:p>
            <a:pPr lvl="1"/>
            <a:r>
              <a:rPr lang="en-US" dirty="0"/>
              <a:t>Selfridge’s Pandemonium</a:t>
            </a:r>
          </a:p>
          <a:p>
            <a:r>
              <a:rPr lang="en-US" dirty="0"/>
              <a:t>1960s: </a:t>
            </a:r>
          </a:p>
          <a:p>
            <a:pPr lvl="1"/>
            <a:r>
              <a:rPr lang="en-US" dirty="0"/>
              <a:t>Neural networks: Perceptron</a:t>
            </a:r>
          </a:p>
          <a:p>
            <a:pPr lvl="1"/>
            <a:r>
              <a:rPr lang="en-US" dirty="0"/>
              <a:t>Pattern recognition </a:t>
            </a:r>
          </a:p>
          <a:p>
            <a:pPr lvl="1"/>
            <a:r>
              <a:rPr lang="en-US" dirty="0"/>
              <a:t>Learning in the limit theory</a:t>
            </a:r>
          </a:p>
          <a:p>
            <a:pPr lvl="1"/>
            <a:r>
              <a:rPr lang="en-US" dirty="0"/>
              <a:t>Minsky and </a:t>
            </a:r>
            <a:r>
              <a:rPr lang="en-US" dirty="0" err="1"/>
              <a:t>Papert</a:t>
            </a:r>
            <a:r>
              <a:rPr lang="en-US" dirty="0"/>
              <a:t> prove limitations of Perceptron</a:t>
            </a:r>
          </a:p>
          <a:p>
            <a:r>
              <a:rPr lang="en-US" dirty="0"/>
              <a:t>1970s: </a:t>
            </a:r>
          </a:p>
          <a:p>
            <a:pPr lvl="1"/>
            <a:r>
              <a:rPr lang="en-US" dirty="0"/>
              <a:t>Symbolic concept induction</a:t>
            </a:r>
          </a:p>
          <a:p>
            <a:pPr lvl="1"/>
            <a:r>
              <a:rPr lang="en-US" dirty="0"/>
              <a:t>Winston’s arch learner</a:t>
            </a:r>
          </a:p>
          <a:p>
            <a:pPr lvl="1"/>
            <a:r>
              <a:rPr lang="en-US" dirty="0"/>
              <a:t>Expert systems and the knowledge acquisition bottleneck</a:t>
            </a:r>
          </a:p>
          <a:p>
            <a:pPr lvl="1"/>
            <a:r>
              <a:rPr lang="en-US" dirty="0"/>
              <a:t>Quinlan’s ID3</a:t>
            </a:r>
          </a:p>
          <a:p>
            <a:pPr lvl="1"/>
            <a:r>
              <a:rPr lang="en-US" dirty="0"/>
              <a:t>Michalski’s AQ and soybean diagnosis</a:t>
            </a:r>
          </a:p>
          <a:p>
            <a:pPr lvl="1"/>
            <a:r>
              <a:rPr lang="en-US" dirty="0"/>
              <a:t>Scientific discovery with BACON</a:t>
            </a:r>
          </a:p>
          <a:p>
            <a:pPr lvl="1"/>
            <a:r>
              <a:rPr lang="en-US" dirty="0"/>
              <a:t>Mathematical discovery with AM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4D19-D6E9-060E-6111-4D1695CC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EB37-CE0E-E7FE-751F-6A317F5F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80D18-B553-D4C6-B768-8DE433AB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F85D9CB2-86B2-6ED1-B1BC-EB5286AE3550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2753842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E9E5-4B7A-B175-F7A7-3C66B87C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Machine Learning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CADF6-F0C7-2D95-2D45-51A3B1A76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1980s:</a:t>
            </a:r>
          </a:p>
          <a:p>
            <a:pPr lvl="1"/>
            <a:r>
              <a:rPr lang="en-US" dirty="0"/>
              <a:t>Advanced decision tree and rule learning</a:t>
            </a:r>
          </a:p>
          <a:p>
            <a:pPr lvl="1"/>
            <a:r>
              <a:rPr lang="en-US" dirty="0"/>
              <a:t>Explanation-based Learning (EBL)</a:t>
            </a:r>
          </a:p>
          <a:p>
            <a:pPr lvl="1"/>
            <a:r>
              <a:rPr lang="en-US" dirty="0"/>
              <a:t>Learning and planning and problem solving</a:t>
            </a:r>
          </a:p>
          <a:p>
            <a:pPr lvl="1"/>
            <a:r>
              <a:rPr lang="en-US" dirty="0"/>
              <a:t>Utility problem</a:t>
            </a:r>
          </a:p>
          <a:p>
            <a:pPr lvl="1"/>
            <a:r>
              <a:rPr lang="en-US" dirty="0"/>
              <a:t>Analogy</a:t>
            </a:r>
          </a:p>
          <a:p>
            <a:pPr lvl="1"/>
            <a:r>
              <a:rPr lang="en-US" dirty="0"/>
              <a:t>Cognitive architectures</a:t>
            </a:r>
          </a:p>
          <a:p>
            <a:pPr lvl="1"/>
            <a:r>
              <a:rPr lang="en-US" dirty="0"/>
              <a:t>Resurgence of neural networks (connectionism, backpropagation)</a:t>
            </a:r>
          </a:p>
          <a:p>
            <a:pPr lvl="1"/>
            <a:r>
              <a:rPr lang="en-US" dirty="0"/>
              <a:t>Valiant’s PAC Learning Theory</a:t>
            </a:r>
          </a:p>
          <a:p>
            <a:pPr lvl="1"/>
            <a:r>
              <a:rPr lang="en-US" dirty="0"/>
              <a:t>Focus on experimental methodology</a:t>
            </a:r>
          </a:p>
          <a:p>
            <a:r>
              <a:rPr lang="en-US" dirty="0"/>
              <a:t>1990s</a:t>
            </a:r>
          </a:p>
          <a:p>
            <a:pPr lvl="1"/>
            <a:r>
              <a:rPr lang="en-US" dirty="0"/>
              <a:t>Data mining</a:t>
            </a:r>
          </a:p>
          <a:p>
            <a:pPr lvl="1"/>
            <a:r>
              <a:rPr lang="en-US" dirty="0"/>
              <a:t>Adaptive software agents and web applications</a:t>
            </a:r>
          </a:p>
          <a:p>
            <a:pPr lvl="1"/>
            <a:r>
              <a:rPr lang="en-US" dirty="0"/>
              <a:t>Text learning</a:t>
            </a:r>
          </a:p>
          <a:p>
            <a:pPr lvl="1"/>
            <a:r>
              <a:rPr lang="en-US" dirty="0"/>
              <a:t>Reinforcement learning (RL)</a:t>
            </a:r>
          </a:p>
          <a:p>
            <a:pPr lvl="1"/>
            <a:r>
              <a:rPr lang="en-US" dirty="0"/>
              <a:t>Inductive Logic Programming (ILP)</a:t>
            </a:r>
          </a:p>
          <a:p>
            <a:pPr lvl="1"/>
            <a:r>
              <a:rPr lang="en-US" dirty="0"/>
              <a:t>Ensembles: Bagging, Boosting, and Stacking</a:t>
            </a:r>
          </a:p>
          <a:p>
            <a:pPr lvl="1"/>
            <a:r>
              <a:rPr lang="en-US" dirty="0"/>
              <a:t>Bayes Net learning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BDFA2-3E5D-CB6A-51DF-75E974AE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2A784-0C59-6CD5-6535-D6CCA174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A7C60-88BC-72E4-4E9A-51EC0052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002ED501-3123-A28E-EB4C-0E5CCCCDB5D5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2693860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ED6C5-D9F7-4D99-FDDD-7E2B68AC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Machine Learning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EF710-DD64-CF36-6089-C90526937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2000s</a:t>
            </a:r>
          </a:p>
          <a:p>
            <a:pPr lvl="1"/>
            <a:r>
              <a:rPr lang="en-US" dirty="0"/>
              <a:t>Support vector machines &amp; kernel methods</a:t>
            </a:r>
          </a:p>
          <a:p>
            <a:pPr lvl="1"/>
            <a:r>
              <a:rPr lang="en-US" dirty="0"/>
              <a:t>Graphical models</a:t>
            </a:r>
          </a:p>
          <a:p>
            <a:pPr lvl="1"/>
            <a:r>
              <a:rPr lang="en-US" dirty="0"/>
              <a:t>Statistical relational learning</a:t>
            </a:r>
          </a:p>
          <a:p>
            <a:pPr lvl="1"/>
            <a:r>
              <a:rPr lang="en-US" dirty="0"/>
              <a:t>Transfer learning</a:t>
            </a:r>
          </a:p>
          <a:p>
            <a:pPr lvl="1"/>
            <a:r>
              <a:rPr lang="en-US" dirty="0"/>
              <a:t>Sequence labeling</a:t>
            </a:r>
          </a:p>
          <a:p>
            <a:pPr lvl="1"/>
            <a:r>
              <a:rPr lang="en-US" dirty="0"/>
              <a:t>Collective classification and structured outputs</a:t>
            </a:r>
          </a:p>
          <a:p>
            <a:pPr lvl="1"/>
            <a:r>
              <a:rPr lang="en-US" dirty="0"/>
              <a:t>Computer Systems Applications (Compilers, Debugging, Graphics, Security)</a:t>
            </a:r>
          </a:p>
          <a:p>
            <a:pPr lvl="1"/>
            <a:r>
              <a:rPr lang="en-US" dirty="0"/>
              <a:t>E-mail management</a:t>
            </a:r>
          </a:p>
          <a:p>
            <a:pPr lvl="1"/>
            <a:r>
              <a:rPr lang="en-US" dirty="0"/>
              <a:t>Personalized assistants that learn</a:t>
            </a:r>
          </a:p>
          <a:p>
            <a:pPr lvl="1"/>
            <a:r>
              <a:rPr lang="en-US" dirty="0"/>
              <a:t>Learning in robotics and vision</a:t>
            </a:r>
          </a:p>
          <a:p>
            <a:r>
              <a:rPr lang="en-US" dirty="0"/>
              <a:t>2010s</a:t>
            </a:r>
          </a:p>
          <a:p>
            <a:pPr lvl="1"/>
            <a:r>
              <a:rPr lang="en-US" dirty="0"/>
              <a:t>Deep learning systems</a:t>
            </a:r>
          </a:p>
          <a:p>
            <a:pPr lvl="1"/>
            <a:r>
              <a:rPr lang="en-US" dirty="0"/>
              <a:t>Learning for big data</a:t>
            </a:r>
          </a:p>
          <a:p>
            <a:pPr lvl="1"/>
            <a:r>
              <a:rPr lang="en-US" dirty="0"/>
              <a:t>Bayesian methods</a:t>
            </a:r>
          </a:p>
          <a:p>
            <a:pPr lvl="1"/>
            <a:r>
              <a:rPr lang="en-US" dirty="0"/>
              <a:t>Multi-task &amp; lifelong learning</a:t>
            </a:r>
          </a:p>
          <a:p>
            <a:pPr lvl="1"/>
            <a:r>
              <a:rPr lang="en-US" dirty="0"/>
              <a:t>Applications to vision, speech, social networks, learning to read, etc.</a:t>
            </a:r>
          </a:p>
          <a:p>
            <a:pPr lvl="1"/>
            <a:r>
              <a:rPr lang="en-US" dirty="0"/>
              <a:t>???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18867-F3C3-7623-2D8D-27FAF17B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9E955-F9CA-6DB5-1878-9E973C5D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C955-6D22-72B2-4190-E9033BE8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3451B2A5-0F38-8455-CD0B-55470A2C8B1A}"/>
              </a:ext>
            </a:extLst>
          </p:cNvPr>
          <p:cNvSpPr txBox="1"/>
          <p:nvPr/>
        </p:nvSpPr>
        <p:spPr>
          <a:xfrm>
            <a:off x="9599385" y="6317706"/>
            <a:ext cx="22174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latin typeface="Calibri"/>
                <a:cs typeface="Calibri"/>
              </a:rPr>
              <a:t>Slide credit: Ray Mooney</a:t>
            </a:r>
          </a:p>
        </p:txBody>
      </p:sp>
    </p:spTree>
    <p:extLst>
      <p:ext uri="{BB962C8B-B14F-4D97-AF65-F5344CB8AC3E}">
        <p14:creationId xmlns:p14="http://schemas.microsoft.com/office/powerpoint/2010/main" val="3957076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52DDE4-6DBE-8A14-B8C0-4287EDD55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Thank you!!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55DC059-EFD7-D449-0E50-2D34A58F66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30802-30C9-4268-7A4A-A5E7373D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F56-AE6A-4CD8-9178-E259F9969A7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633B-6F56-0876-0EE9-67E49C01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CSE145: Introduction to Artificial Intelligence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10A3A-C87D-58D1-40AD-204C760B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0254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1394</TotalTime>
  <Words>2261</Words>
  <Application>Microsoft Office PowerPoint</Application>
  <PresentationFormat>Widescreen</PresentationFormat>
  <Paragraphs>526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MS PGothic</vt:lpstr>
      <vt:lpstr>Arial</vt:lpstr>
      <vt:lpstr>Arial MT</vt:lpstr>
      <vt:lpstr>Calibri</vt:lpstr>
      <vt:lpstr>Corbel</vt:lpstr>
      <vt:lpstr>Garamond</vt:lpstr>
      <vt:lpstr>Georgia</vt:lpstr>
      <vt:lpstr>Symbol</vt:lpstr>
      <vt:lpstr>Times New Roman</vt:lpstr>
      <vt:lpstr>Wingdings</vt:lpstr>
      <vt:lpstr>Wingdings 2</vt:lpstr>
      <vt:lpstr>Frame</vt:lpstr>
      <vt:lpstr>CSE145: Introduction to Artificial Intelligence</vt:lpstr>
      <vt:lpstr>What is Machine Learning?</vt:lpstr>
      <vt:lpstr>Traditional Computing vs Machine Learning</vt:lpstr>
      <vt:lpstr>When Do We Use Machine Learning?</vt:lpstr>
      <vt:lpstr>A classic example of a task that requires machine learning: It is very hard to say what makes a 2</vt:lpstr>
      <vt:lpstr>Some more examples of tasks that are best solved by using a learning algorithm</vt:lpstr>
      <vt:lpstr>Sample Applications</vt:lpstr>
      <vt:lpstr>Samuel’s Checkers-Player</vt:lpstr>
      <vt:lpstr>Defining the Learning Task</vt:lpstr>
      <vt:lpstr>State of the Art Applications of Machine Learning</vt:lpstr>
      <vt:lpstr>Autonomous Cars</vt:lpstr>
      <vt:lpstr>Autonomous Car Technology</vt:lpstr>
      <vt:lpstr>Deep Learning in the Headlines</vt:lpstr>
      <vt:lpstr>Deep Belief Net on Face Images</vt:lpstr>
      <vt:lpstr>Scene Labeling via Deep Learning</vt:lpstr>
      <vt:lpstr>Types of Learning</vt:lpstr>
      <vt:lpstr>Types of Learning</vt:lpstr>
      <vt:lpstr>Supervised Learning: Regression</vt:lpstr>
      <vt:lpstr>Supervised Learning: Classification</vt:lpstr>
      <vt:lpstr>Supervised Learning: Classification</vt:lpstr>
      <vt:lpstr>Supervised Learning: Classification</vt:lpstr>
      <vt:lpstr>Supervised Learning</vt:lpstr>
      <vt:lpstr>Unsupervised Learning</vt:lpstr>
      <vt:lpstr>Unsupervised Learning</vt:lpstr>
      <vt:lpstr>Unsupervised Learning</vt:lpstr>
      <vt:lpstr>Reinforcement Learning</vt:lpstr>
      <vt:lpstr>The Agent-Environment Interface</vt:lpstr>
      <vt:lpstr>Reinforcement Learning</vt:lpstr>
      <vt:lpstr>Inverse Reinforcement Learning</vt:lpstr>
      <vt:lpstr>Framing a Learning Problem</vt:lpstr>
      <vt:lpstr>Designing a Learning System</vt:lpstr>
      <vt:lpstr>Training vs. Test Distribution</vt:lpstr>
      <vt:lpstr>The Learning Process</vt:lpstr>
      <vt:lpstr>Linear Classifier</vt:lpstr>
      <vt:lpstr>Non-linear Classifier</vt:lpstr>
      <vt:lpstr>Generalization</vt:lpstr>
      <vt:lpstr>Overfitting &amp; Underfitting</vt:lpstr>
      <vt:lpstr>ML in a Nutshell</vt:lpstr>
      <vt:lpstr>Various Function Representations</vt:lpstr>
      <vt:lpstr>Various Search/ Optimization Algorithms</vt:lpstr>
      <vt:lpstr>Evaluation</vt:lpstr>
      <vt:lpstr>ML in Practice</vt:lpstr>
      <vt:lpstr>Lessons Learned about Learning</vt:lpstr>
      <vt:lpstr>A Brief History of Machine Learning</vt:lpstr>
      <vt:lpstr>History of Machine Learning</vt:lpstr>
      <vt:lpstr>History of Machine Learning (cont.)</vt:lpstr>
      <vt:lpstr>History of Machine Learning (cont.)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Shah Khaled</cp:lastModifiedBy>
  <cp:revision>47</cp:revision>
  <dcterms:created xsi:type="dcterms:W3CDTF">2025-12-06T08:20:36Z</dcterms:created>
  <dcterms:modified xsi:type="dcterms:W3CDTF">2026-03-16T01:37:50Z</dcterms:modified>
</cp:coreProperties>
</file>